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8" r:id="rId7"/>
    <p:sldId id="262" r:id="rId8"/>
    <p:sldId id="263" r:id="rId9"/>
    <p:sldId id="264" r:id="rId10"/>
    <p:sldId id="265" r:id="rId11"/>
    <p:sldId id="266" r:id="rId12"/>
    <p:sldId id="267" r:id="rId13"/>
    <p:sldId id="278" r:id="rId14"/>
    <p:sldId id="261" r:id="rId15"/>
    <p:sldId id="279" r:id="rId16"/>
    <p:sldId id="283" r:id="rId17"/>
    <p:sldId id="284" r:id="rId18"/>
    <p:sldId id="285" r:id="rId19"/>
    <p:sldId id="286" r:id="rId20"/>
    <p:sldId id="280" r:id="rId21"/>
    <p:sldId id="281" r:id="rId22"/>
    <p:sldId id="282" r:id="rId23"/>
    <p:sldId id="275" r:id="rId24"/>
    <p:sldId id="276" r:id="rId25"/>
    <p:sldId id="277" r:id="rId2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62887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Présentation du projet en quatre temps : les données, l'analyse exploratoire (EDA), les objectifs métier avec leurs KPI, puis les acteurs consommateurs des indicateurs et leurs limites. Remplacer les crochets par les noms, l'encadrant et la date.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Trois départements techniques et une administration. 1 461 employés techniques (dont 4 sans département renseigné) et 1 279 administratifs. La problématique : les données existent mais sont éclatées dans sept fichiers de formats différents, sans indicateurs communs.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L'ordre compte : l'EDA sert à découvrir les problèmes de qualité, qui deviennent ensuite des règles de nettoyage à appliquer avant tout calcul de KPI. Les six objectifs métier déterminent les KPI, puis les acteurs qui les consomment et leurs limites.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à souligner : les pointages administratifs ne couvrent que le premier trimestre. Toute comparaison technique / administration doit donc se faire sur janvier–mars. La colonne ID_TRAINING contient une liste d'identifiants de cours par employé : il faut l'éclater en lignes pour la relier au catalogue. Taux fournis par extrainfos.txt : vacataire 35 par heure, heure sup permanent 25, heure sup admin 22.</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Orphelin : un ID_Employee présent dans Administration_attendance n'existe pas dans administration_data (d1f3417f…). Ses pointages ne peuvent être rattachés à aucun employé ; on les relie à une fiche fictive « Inconnu » (clé −1) pour ne pas perdre de lignes. 2. SALARY / HOURS : un permanent a un salaire mensuel, un vacataire un nombre d'heures payées 35. Ce n'est pas un manque de saisie. 3. Congés : la même catégorie est écrite de deux façons (sick / Sick…), d'où 8 types au lieu de 4 ; normalisé en cellule [1]. 4. Recrutement : free_application côté technique, Free Application côté admin. 5. Horaires : l'admin écrit 08:15, le technique 8:15:00. 6. Durées négatives : 27 journées admin où la pause dépasse la présence, et 497 journées de moins d'une heure ; 49 pointages techniques ont aussi une heure illisible. 7. Un CDI est à durée indéterminée : il ne devrait pas avoir de date de fin. 8. Des contrats sont terminés avant 2023 alors que 662 de ces employés pointent en 2023 : date fausse ou non mise à jour. 9. Vacataire (payé à l'heure) et CDI (permanent) sont contradictoires. Pour 6 à 9, on ne corrige pas à l'aveugle : on marque la ligne et on remonte l'anomalie au métier.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Présenter cette limite de façon assumée montre l'esprit critique de l'équipe. Autre incohérence : les employés ont pris 15 jours de congé en moyenne, mais ont pointé tous les jours. Ce qui reste valable : l'écart effectif / capacité, la différence Administration / Technique, et l'inventaire des problèmes de qualité, qui guide les corrections à faire à la source.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Taux d'occupation = effectif / capacité du référentiel departments.ods. C'est le constat le plus solide de l'EDA car il ne dépend pas des distributions aléatoires. L'échelle va de 0 à 200 % ; la barre Administration dépasse l'échelle (640 %). L'Informatique compte 505 employés, dont un sans aucun pointage (d'où 504 dans les tableaux d'assiduité).</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Ancienneté : 741 employés ont au moins un an (50,7 %), 720 moins d'un an (49,3 %). Le rapport initial indiquait 51 % dans les deux cas, c'est corrigé ici. La répartition en tiers presque parfaits des contrats est aussi un indice du caractère synthétique des données (voir la diapositive Limite majeure).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Écart H/F = (médiane hommes − médiane femmes) / médiane hommes. Les salaires ne concernent que les permanents : les vacataires sont payés à l'heure (35 par heure). Le coût total dépend de deux hypothèses à faire valider : que les heures des vacataires et les heures sup admin (101 h par agent en moyenne) soient mensuelles. Si les heures sup admin couvrent toute la période, le total baisse nettement. Les salaires fixes seuls représentent 5,84 M par mois. On parle d'unités monétaires car aucune source ne précise la devise (contexte CIVP : probablement le dinar tunisien).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Heures travaillées = (heure de départ − heure d'arrivée) − (reprise − pause). Le seuil de retard de 8h30 est un choix de l'équipe : aucun horaire officiel n'est fourni. Le taux de retard identique partout (environ 49 %) vient du fait que les arrivées sont réparties uniformément entre 8h00 et 9h00. Le vrai signal est la dispersion de l'Administration. Côté admin, 27 journées ont même une durée négative (pause plus longue que la présence) : c'est une anomalie de saisie. La figure fig06 trace désormais une courbe par pôle : une moyenne commune créait une fausse hausse en avril, quand les pointages admin s'arrêtent.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1 441 employés sur 1 461 ont au moins une formation, de 1 à 25 cours chacun. La distribution des cours est plate : aucun cours ne dépasse 0,25 % des inscriptions, et le top mélange cloud, data et production musicale. On ne peut donc pas conclure à un « appétit data ». Les universités les plus présentes sont celles qui ont le plus de cours dans le catalogue (Coursera Project Network en tête), pas un choix des employés.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Taux de consommation = congés pris / (congés pris + solde). Les types de congé ont été normalisés (sick et Sick fusionnés, etc.). Leur répartition est presque uniforme : on ne peut pas faire du congé sans solde un signal de départ. Le fichier ne donne que le dernier congé, sans date ni durée : la part de « maladie » (24 %) est un proxy fragile d'absentéisme, pas une mesure de jours perdus. Les échéances de contrat sont traitées dans l'objectif suivant (OM6).</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Une date de fin de contrat n'est pas un départ ; c'est une échéance à piloter. 350 échéances réelles en 2023 (12,8 % de l'effectif). Mais 663 contrats sont échus avant 2023 alors que les personnes pointent encore, 468 CDI portent une date de fin et 221 vacataires sont déclarés en CDI : tant que ces données ne sont pas corrigées à la source, les échéances restent indicatives. Le taux de rotation n'est pas mesurable : il n'y a aucun historique de sorties effectives. Chiffres 468 et 221 issus des contrôles complémentaires de l'EDA.</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Chaque objectif part d'une question que se pose un décideur RH, puis devient des indicateurs calculables à partir des données. Chaque objectif est relié à des OBI (objectifs BI) et à des KPI ; la matrice de traçabilité suit. Les trois premiers objectifs reprennent l'EDA, l'objectif congés est recentré sur la disponibilité et les contrats ont leur propre objectif (OM6).</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Une seule matrice relie les six objectifs métier à leurs OBI, leurs KPI, leur faisabilité et leur cible. Les cibles chiffrées sont rares et assumées : seules trois sont justifiables aujourd'hui (écart H/F, couverture de formation, zéro anomalie de contrat), les autres sont « à définir et à valider » parce que ni horaire contractuel, ni budget, ni politique de congés ne sont fournis. Le détail KPI par KPI, avec fichiers et colonnes, est en annexe.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Détail des KPI de l'effectif et de la rémunération : fichiers, colonnes, faisabilité et cible. Les hypothèses à valider (période des heures, devise) pèsent sur le coût.</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Détail des KPI d'assiduité. Les heures sont calculées à partir des quatre horaires du pointage ; le seuil de retard de 8h30 est un choix de l'équipe, non un horaire officiel.</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Détail des KPI de formation. Les administratifs n'ont aucune donnée de formation ; sans date, on ne peut pas calculer de taux annuel.</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Détail des KPI de congés et de contrats. Le taux de rotation est le seul KPI non mesurable aujourd'hui : il faudrait un historique des sorties.</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 sont les acteurs consommateurs uniquement : ceux qui lisent les indicateurs et décident. Les producteurs de données (DSI, équipe BI) ne sont pas décrits. La DRH est le sponsor et voit les six objectifs ; la direction générale se concentre sur les effectifs, les coûts et les échéances ; les managers voient leur département seulement.</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Pour chaque acteur : ce qu'il peut décider avec le tableau de bord, et ce qu'il ne peut pas conclure à cause des données. Les limites viennent directement de l'EDA : capacité de l'Administration douteuse, une seule photo RH, hypothèses sur la période des heures et la devise, dates de fin de contrat peu fiables, formations sans date.</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Trois conditions pour lire les indicateurs sans les sur-interpréter : un accès adapté à chaque acteur, une lecture prudente de données synthétiques, et une liste précise de données à obtenir pour lever les limites.</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Les recommandations reposent sur les constats solides (écarts structurels, qualité des données), pas sur les signaux faibles des distributions uniformes. La cinquième est une condition pour que les indicateurs soient justes : sans devise ni période de référence pour les heures, le coût mensuel reste une estimation.</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Avec des départs réels (qui est parti, quand), on pourrait entraîner un modèle de prédiction du risque de départ. Aujourd'hui, les données ne contiennent aucune variable de départ, donc on s'arrête au pilotage descriptif.</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Questions probables : pourquoi 49 % de salaires manquants (statut permanent / vacataire) ; la masse salariale inclut-elle l'administration (oui, dans cette version) ; comment est défini un retard (seuil 8h30 choisi par l'équipe) ; pourquoi aucune absence (données synthétiques) ; une fin de contrat est-elle un départ (non, un renouvellement à piloter).</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0A060"/>
                </a:solidFill>
                <a:latin typeface="IBM Plex Sans" pitchFamily="34" charset="0"/>
                <a:ea typeface="IBM Plex Sans" pitchFamily="34" charset="-122"/>
                <a:cs typeface="IBM Plex Sans" pitchFamily="34" charset="-120"/>
              </a:rPr>
              <a:t>PROJET ACADÉMIQUE · DATA &amp; BUSINESS INTELLIGENCE</a:t>
            </a:r>
            <a:endParaRPr lang="en-US" sz="1200" dirty="0"/>
          </a:p>
        </p:txBody>
      </p:sp>
      <p:sp>
        <p:nvSpPr>
          <p:cNvPr id="3" name="Text 1"/>
          <p:cNvSpPr/>
          <p:nvPr/>
        </p:nvSpPr>
        <p:spPr>
          <a:xfrm>
            <a:off x="812800" y="2570460"/>
            <a:ext cx="10883392" cy="825500"/>
          </a:xfrm>
          <a:prstGeom prst="rect">
            <a:avLst/>
          </a:prstGeom>
          <a:noFill/>
          <a:ln/>
        </p:spPr>
        <p:txBody>
          <a:bodyPr wrap="square" lIns="0" tIns="0" rIns="0" bIns="0" rtlCol="0" anchor="t">
            <a:normAutofit/>
          </a:bodyPr>
          <a:lstStyle/>
          <a:p>
            <a:pPr marL="0" indent="0" algn="l">
              <a:lnSpc>
                <a:spcPts val="6300"/>
              </a:lnSpc>
              <a:buNone/>
            </a:pPr>
            <a:r>
              <a:rPr lang="en-US" sz="6000" b="1" dirty="0">
                <a:solidFill>
                  <a:srgbClr val="F7F6F2"/>
                </a:solidFill>
                <a:latin typeface="Space Grotesk" pitchFamily="34" charset="0"/>
                <a:ea typeface="Space Grotesk" pitchFamily="34" charset="-122"/>
                <a:cs typeface="Space Grotesk" pitchFamily="34" charset="-120"/>
              </a:rPr>
              <a:t>Pilotage RH par la donnée</a:t>
            </a:r>
            <a:endParaRPr lang="en-US" sz="6000" dirty="0"/>
          </a:p>
        </p:txBody>
      </p:sp>
      <p:sp>
        <p:nvSpPr>
          <p:cNvPr id="4" name="Text 2"/>
          <p:cNvSpPr/>
          <p:nvPr/>
        </p:nvSpPr>
        <p:spPr>
          <a:xfrm>
            <a:off x="812800" y="3573760"/>
            <a:ext cx="9156700" cy="685800"/>
          </a:xfrm>
          <a:prstGeom prst="rect">
            <a:avLst/>
          </a:prstGeom>
          <a:noFill/>
          <a:ln/>
        </p:spPr>
        <p:txBody>
          <a:bodyPr wrap="square" lIns="0" tIns="0" rIns="0" bIns="0" rtlCol="0" anchor="t">
            <a:normAutofit/>
          </a:bodyPr>
          <a:lstStyle/>
          <a:p>
            <a:pPr marL="0" indent="0" algn="l">
              <a:lnSpc>
                <a:spcPts val="2600"/>
              </a:lnSpc>
              <a:buNone/>
            </a:pPr>
            <a:r>
              <a:rPr lang="en-US" sz="2000" dirty="0">
                <a:solidFill>
                  <a:srgbClr val="C9D3E3"/>
                </a:solidFill>
                <a:latin typeface="IBM Plex Sans" pitchFamily="34" charset="0"/>
                <a:ea typeface="IBM Plex Sans" pitchFamily="34" charset="-122"/>
                <a:cs typeface="IBM Plex Sans" pitchFamily="34" charset="-120"/>
              </a:rPr>
              <a:t>Analyse exploratoire, objectifs métier et acteurs pour 2 740 collaborateurs</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531A"/>
                </a:solidFill>
                <a:latin typeface="IBM Plex Sans" pitchFamily="34" charset="0"/>
                <a:ea typeface="IBM Plex Sans" pitchFamily="34" charset="-122"/>
                <a:cs typeface="IBM Plex Sans" pitchFamily="34" charset="-120"/>
              </a:rPr>
              <a:t>CONTEXTE</a:t>
            </a:r>
            <a:endParaRPr lang="en-US" sz="1200" dirty="0"/>
          </a:p>
        </p:txBody>
      </p:sp>
      <p:sp>
        <p:nvSpPr>
          <p:cNvPr id="3" name="Text 1"/>
          <p:cNvSpPr/>
          <p:nvPr/>
        </p:nvSpPr>
        <p:spPr>
          <a:xfrm>
            <a:off x="812800" y="11023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4213D"/>
                </a:solidFill>
                <a:latin typeface="Space Grotesk" pitchFamily="34" charset="0"/>
                <a:ea typeface="Space Grotesk" pitchFamily="34" charset="-122"/>
                <a:cs typeface="Space Grotesk" pitchFamily="34" charset="-120"/>
              </a:rPr>
              <a:t>2 740 collaborateurs, aucun outil de pilotage</a:t>
            </a:r>
            <a:endParaRPr lang="en-US" sz="3200" dirty="0"/>
          </a:p>
        </p:txBody>
      </p:sp>
      <p:sp>
        <p:nvSpPr>
          <p:cNvPr id="4" name="Text 2"/>
          <p:cNvSpPr/>
          <p:nvPr/>
        </p:nvSpPr>
        <p:spPr>
          <a:xfrm>
            <a:off x="812800" y="2522041"/>
            <a:ext cx="5232400" cy="1346200"/>
          </a:xfrm>
          <a:prstGeom prst="rect">
            <a:avLst/>
          </a:prstGeom>
          <a:noFill/>
          <a:ln/>
        </p:spPr>
        <p:txBody>
          <a:bodyPr wrap="square" lIns="0" tIns="0" rIns="0" bIns="0" rtlCol="0" anchor="t">
            <a:normAutofit/>
          </a:bodyPr>
          <a:lstStyle/>
          <a:p>
            <a:pPr marL="0" indent="0" algn="l">
              <a:lnSpc>
                <a:spcPts val="2600"/>
              </a:lnSpc>
              <a:buNone/>
            </a:pPr>
            <a:r>
              <a:rPr lang="en-US" sz="2000" dirty="0">
                <a:solidFill>
                  <a:srgbClr val="14213D"/>
                </a:solidFill>
                <a:latin typeface="IBM Plex Sans" pitchFamily="34" charset="0"/>
                <a:ea typeface="IBM Plex Sans" pitchFamily="34" charset="-122"/>
                <a:cs typeface="IBM Plex Sans" pitchFamily="34" charset="-120"/>
              </a:rPr>
              <a:t>Comment transformer sept fichiers RH hétérogènes en indicateurs fiables pour piloter effectifs, coûts, assiduité, formation, congés et départs ?</a:t>
            </a:r>
            <a:endParaRPr lang="en-US" sz="2000" dirty="0"/>
          </a:p>
        </p:txBody>
      </p:sp>
      <p:sp>
        <p:nvSpPr>
          <p:cNvPr id="5" name="Shape 3"/>
          <p:cNvSpPr/>
          <p:nvPr/>
        </p:nvSpPr>
        <p:spPr>
          <a:xfrm>
            <a:off x="6302375" y="1857276"/>
            <a:ext cx="2457450" cy="1245791"/>
          </a:xfrm>
          <a:prstGeom prst="roundRect">
            <a:avLst>
              <a:gd name="adj" fmla="val 7901"/>
            </a:avLst>
          </a:prstGeom>
          <a:solidFill>
            <a:srgbClr val="FDFCFA"/>
          </a:solidFill>
          <a:ln w="6350">
            <a:solidFill>
              <a:srgbClr val="DAD6CC"/>
            </a:solidFill>
            <a:prstDash val="solid"/>
          </a:ln>
        </p:spPr>
        <p:txBody>
          <a:bodyPr/>
          <a:lstStyle/>
          <a:p>
            <a:endParaRPr/>
          </a:p>
        </p:txBody>
      </p:sp>
      <p:sp>
        <p:nvSpPr>
          <p:cNvPr id="6" name="Text 4"/>
          <p:cNvSpPr/>
          <p:nvPr/>
        </p:nvSpPr>
        <p:spPr>
          <a:xfrm>
            <a:off x="6508750" y="2063651"/>
            <a:ext cx="2106041" cy="594320"/>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2F5DA8"/>
                </a:solidFill>
                <a:latin typeface="Space Grotesk" pitchFamily="34" charset="0"/>
                <a:ea typeface="Space Grotesk" pitchFamily="34" charset="-122"/>
                <a:cs typeface="Space Grotesk" pitchFamily="34" charset="-120"/>
              </a:rPr>
              <a:t>505</a:t>
            </a:r>
            <a:endParaRPr lang="en-US" sz="3200" dirty="0"/>
          </a:p>
        </p:txBody>
      </p:sp>
      <p:sp>
        <p:nvSpPr>
          <p:cNvPr id="7" name="Text 5"/>
          <p:cNvSpPr/>
          <p:nvPr/>
        </p:nvSpPr>
        <p:spPr>
          <a:xfrm>
            <a:off x="6508750" y="2683371"/>
            <a:ext cx="210604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IBM Plex Sans" pitchFamily="34" charset="0"/>
                <a:ea typeface="IBM Plex Sans" pitchFamily="34" charset="-122"/>
                <a:cs typeface="IBM Plex Sans" pitchFamily="34" charset="-120"/>
              </a:rPr>
              <a:t>Informatique</a:t>
            </a:r>
            <a:endParaRPr lang="en-US" sz="1200" dirty="0"/>
          </a:p>
        </p:txBody>
      </p:sp>
      <p:sp>
        <p:nvSpPr>
          <p:cNvPr id="8" name="Shape 6"/>
          <p:cNvSpPr/>
          <p:nvPr/>
        </p:nvSpPr>
        <p:spPr>
          <a:xfrm>
            <a:off x="8918575" y="1857276"/>
            <a:ext cx="2457450" cy="1245791"/>
          </a:xfrm>
          <a:prstGeom prst="roundRect">
            <a:avLst>
              <a:gd name="adj" fmla="val 7901"/>
            </a:avLst>
          </a:prstGeom>
          <a:solidFill>
            <a:srgbClr val="FDFCFA"/>
          </a:solidFill>
          <a:ln w="6350">
            <a:solidFill>
              <a:srgbClr val="DAD6CC"/>
            </a:solidFill>
            <a:prstDash val="solid"/>
          </a:ln>
        </p:spPr>
        <p:txBody>
          <a:bodyPr/>
          <a:lstStyle/>
          <a:p>
            <a:endParaRPr/>
          </a:p>
        </p:txBody>
      </p:sp>
      <p:sp>
        <p:nvSpPr>
          <p:cNvPr id="9" name="Text 7"/>
          <p:cNvSpPr/>
          <p:nvPr/>
        </p:nvSpPr>
        <p:spPr>
          <a:xfrm>
            <a:off x="9124950" y="2063651"/>
            <a:ext cx="2106041" cy="594320"/>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2F5DA8"/>
                </a:solidFill>
                <a:latin typeface="Space Grotesk" pitchFamily="34" charset="0"/>
                <a:ea typeface="Space Grotesk" pitchFamily="34" charset="-122"/>
                <a:cs typeface="Space Grotesk" pitchFamily="34" charset="-120"/>
              </a:rPr>
              <a:t>441</a:t>
            </a:r>
            <a:endParaRPr lang="en-US" sz="3200" dirty="0"/>
          </a:p>
        </p:txBody>
      </p:sp>
      <p:sp>
        <p:nvSpPr>
          <p:cNvPr id="10" name="Text 8"/>
          <p:cNvSpPr/>
          <p:nvPr/>
        </p:nvSpPr>
        <p:spPr>
          <a:xfrm>
            <a:off x="9124950" y="2683371"/>
            <a:ext cx="210604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IBM Plex Sans" pitchFamily="34" charset="0"/>
                <a:ea typeface="IBM Plex Sans" pitchFamily="34" charset="-122"/>
                <a:cs typeface="IBM Plex Sans" pitchFamily="34" charset="-120"/>
              </a:rPr>
              <a:t>Télécom</a:t>
            </a:r>
            <a:endParaRPr lang="en-US" sz="1200" dirty="0"/>
          </a:p>
        </p:txBody>
      </p:sp>
      <p:sp>
        <p:nvSpPr>
          <p:cNvPr id="11" name="Shape 9"/>
          <p:cNvSpPr/>
          <p:nvPr/>
        </p:nvSpPr>
        <p:spPr>
          <a:xfrm>
            <a:off x="6302375" y="3261816"/>
            <a:ext cx="2457450" cy="1245791"/>
          </a:xfrm>
          <a:prstGeom prst="roundRect">
            <a:avLst>
              <a:gd name="adj" fmla="val 7901"/>
            </a:avLst>
          </a:prstGeom>
          <a:solidFill>
            <a:srgbClr val="FDFCFA"/>
          </a:solidFill>
          <a:ln w="6350">
            <a:solidFill>
              <a:srgbClr val="DAD6CC"/>
            </a:solidFill>
            <a:prstDash val="solid"/>
          </a:ln>
        </p:spPr>
        <p:txBody>
          <a:bodyPr/>
          <a:lstStyle/>
          <a:p>
            <a:endParaRPr/>
          </a:p>
        </p:txBody>
      </p:sp>
      <p:sp>
        <p:nvSpPr>
          <p:cNvPr id="12" name="Text 10"/>
          <p:cNvSpPr/>
          <p:nvPr/>
        </p:nvSpPr>
        <p:spPr>
          <a:xfrm>
            <a:off x="6508750" y="3468191"/>
            <a:ext cx="2106041" cy="594320"/>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2F5DA8"/>
                </a:solidFill>
                <a:latin typeface="Space Grotesk" pitchFamily="34" charset="0"/>
                <a:ea typeface="Space Grotesk" pitchFamily="34" charset="-122"/>
                <a:cs typeface="Space Grotesk" pitchFamily="34" charset="-120"/>
              </a:rPr>
              <a:t>511</a:t>
            </a:r>
            <a:endParaRPr lang="en-US" sz="3200" dirty="0"/>
          </a:p>
        </p:txBody>
      </p:sp>
      <p:sp>
        <p:nvSpPr>
          <p:cNvPr id="13" name="Text 11"/>
          <p:cNvSpPr/>
          <p:nvPr/>
        </p:nvSpPr>
        <p:spPr>
          <a:xfrm>
            <a:off x="6508750" y="4087912"/>
            <a:ext cx="210604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IBM Plex Sans" pitchFamily="34" charset="0"/>
                <a:ea typeface="IBM Plex Sans" pitchFamily="34" charset="-122"/>
                <a:cs typeface="IBM Plex Sans" pitchFamily="34" charset="-120"/>
              </a:rPr>
              <a:t>Communication</a:t>
            </a:r>
            <a:endParaRPr lang="en-US" sz="1200" dirty="0"/>
          </a:p>
        </p:txBody>
      </p:sp>
      <p:sp>
        <p:nvSpPr>
          <p:cNvPr id="14" name="Shape 12"/>
          <p:cNvSpPr/>
          <p:nvPr/>
        </p:nvSpPr>
        <p:spPr>
          <a:xfrm>
            <a:off x="8918575" y="3261816"/>
            <a:ext cx="2457450" cy="1245791"/>
          </a:xfrm>
          <a:prstGeom prst="roundRect">
            <a:avLst>
              <a:gd name="adj" fmla="val 7901"/>
            </a:avLst>
          </a:prstGeom>
          <a:solidFill>
            <a:srgbClr val="FDFCFA"/>
          </a:solidFill>
          <a:ln w="6350">
            <a:solidFill>
              <a:srgbClr val="DAD6CC"/>
            </a:solidFill>
            <a:prstDash val="solid"/>
          </a:ln>
        </p:spPr>
        <p:txBody>
          <a:bodyPr/>
          <a:lstStyle/>
          <a:p>
            <a:endParaRPr/>
          </a:p>
        </p:txBody>
      </p:sp>
      <p:sp>
        <p:nvSpPr>
          <p:cNvPr id="15" name="Text 13"/>
          <p:cNvSpPr/>
          <p:nvPr/>
        </p:nvSpPr>
        <p:spPr>
          <a:xfrm>
            <a:off x="9124950" y="3468191"/>
            <a:ext cx="2106041" cy="594320"/>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B4531A"/>
                </a:solidFill>
                <a:latin typeface="Space Grotesk" pitchFamily="34" charset="0"/>
                <a:ea typeface="Space Grotesk" pitchFamily="34" charset="-122"/>
                <a:cs typeface="Space Grotesk" pitchFamily="34" charset="-120"/>
              </a:rPr>
              <a:t>1 279</a:t>
            </a:r>
            <a:endParaRPr lang="en-US" sz="3200" dirty="0"/>
          </a:p>
        </p:txBody>
      </p:sp>
      <p:sp>
        <p:nvSpPr>
          <p:cNvPr id="16" name="Text 14"/>
          <p:cNvSpPr/>
          <p:nvPr/>
        </p:nvSpPr>
        <p:spPr>
          <a:xfrm>
            <a:off x="9124950" y="4087912"/>
            <a:ext cx="210604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IBM Plex Sans" pitchFamily="34" charset="0"/>
                <a:ea typeface="IBM Plex Sans" pitchFamily="34" charset="-122"/>
                <a:cs typeface="IBM Plex Sans" pitchFamily="34" charset="-120"/>
              </a:rPr>
              <a:t>Administration</a:t>
            </a:r>
            <a:endParaRPr lang="en-US" sz="1200" dirty="0"/>
          </a:p>
        </p:txBody>
      </p:sp>
      <p:sp>
        <p:nvSpPr>
          <p:cNvPr id="17" name="Text 15"/>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Pilotage RH par la donnée · 02 · </a:t>
            </a:r>
            <a:r>
              <a:rPr lang="en-US" sz="1200" dirty="0">
                <a:solidFill>
                  <a:srgbClr val="2F5DA8"/>
                </a:solidFill>
                <a:latin typeface="IBM Plex Sans" pitchFamily="34" charset="0"/>
                <a:ea typeface="IBM Plex Sans" pitchFamily="34" charset="-122"/>
                <a:cs typeface="IBM Plex Sans" pitchFamily="34" charset="-120"/>
              </a:rPr>
              <a:t>Code : cellule [3], section 2 (tableau « EFFECTIF VS CAPACITÉ »)</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531A"/>
                </a:solidFill>
                <a:latin typeface="IBM Plex Sans" pitchFamily="34" charset="0"/>
                <a:ea typeface="IBM Plex Sans" pitchFamily="34" charset="-122"/>
                <a:cs typeface="IBM Plex Sans" pitchFamily="34" charset="-120"/>
              </a:rPr>
              <a:t>DÉMARCHE</a:t>
            </a:r>
            <a:endParaRPr lang="en-US" sz="1200" dirty="0"/>
          </a:p>
        </p:txBody>
      </p:sp>
      <p:sp>
        <p:nvSpPr>
          <p:cNvPr id="3" name="Text 1"/>
          <p:cNvSpPr/>
          <p:nvPr/>
        </p:nvSpPr>
        <p:spPr>
          <a:xfrm>
            <a:off x="812800" y="11023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4213D"/>
                </a:solidFill>
                <a:latin typeface="Space Grotesk" pitchFamily="34" charset="0"/>
                <a:ea typeface="Space Grotesk" pitchFamily="34" charset="-122"/>
                <a:cs typeface="Space Grotesk" pitchFamily="34" charset="-120"/>
              </a:rPr>
              <a:t>Une démarche en quatre étapes</a:t>
            </a:r>
            <a:endParaRPr lang="en-US" sz="3200" dirty="0"/>
          </a:p>
        </p:txBody>
      </p:sp>
      <p:sp>
        <p:nvSpPr>
          <p:cNvPr id="4" name="Shape 2"/>
          <p:cNvSpPr/>
          <p:nvPr/>
        </p:nvSpPr>
        <p:spPr>
          <a:xfrm>
            <a:off x="815975" y="1857276"/>
            <a:ext cx="2482850" cy="1855391"/>
          </a:xfrm>
          <a:prstGeom prst="roundRect">
            <a:avLst>
              <a:gd name="adj" fmla="val 5305"/>
            </a:avLst>
          </a:prstGeom>
          <a:solidFill>
            <a:srgbClr val="FDFCFA"/>
          </a:solidFill>
          <a:ln w="6350">
            <a:solidFill>
              <a:srgbClr val="DAD6CC"/>
            </a:solidFill>
            <a:prstDash val="solid"/>
          </a:ln>
        </p:spPr>
        <p:txBody>
          <a:bodyPr/>
          <a:lstStyle/>
          <a:p>
            <a:endParaRPr/>
          </a:p>
        </p:txBody>
      </p:sp>
      <p:sp>
        <p:nvSpPr>
          <p:cNvPr id="5" name="Text 3"/>
          <p:cNvSpPr/>
          <p:nvPr/>
        </p:nvSpPr>
        <p:spPr>
          <a:xfrm>
            <a:off x="1022350" y="2063651"/>
            <a:ext cx="2132203"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B4531A"/>
                </a:solidFill>
                <a:latin typeface="Space Grotesk" pitchFamily="34" charset="0"/>
                <a:ea typeface="Space Grotesk" pitchFamily="34" charset="-122"/>
                <a:cs typeface="Space Grotesk" pitchFamily="34" charset="-120"/>
              </a:rPr>
              <a:t>01</a:t>
            </a:r>
            <a:endParaRPr lang="en-US" sz="2000" dirty="0"/>
          </a:p>
        </p:txBody>
      </p:sp>
      <p:sp>
        <p:nvSpPr>
          <p:cNvPr id="6" name="Text 4"/>
          <p:cNvSpPr/>
          <p:nvPr/>
        </p:nvSpPr>
        <p:spPr>
          <a:xfrm>
            <a:off x="1022350" y="2520851"/>
            <a:ext cx="2132203" cy="4826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Space Grotesk" pitchFamily="34" charset="0"/>
                <a:ea typeface="Space Grotesk" pitchFamily="34" charset="-122"/>
                <a:cs typeface="Space Grotesk" pitchFamily="34" charset="-120"/>
              </a:rPr>
              <a:t>Comprendre les données</a:t>
            </a:r>
            <a:endParaRPr lang="en-US" sz="1500" dirty="0"/>
          </a:p>
        </p:txBody>
      </p:sp>
      <p:sp>
        <p:nvSpPr>
          <p:cNvPr id="7" name="Text 5"/>
          <p:cNvSpPr/>
          <p:nvPr/>
        </p:nvSpPr>
        <p:spPr>
          <a:xfrm>
            <a:off x="1022350" y="3079651"/>
            <a:ext cx="2132203"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IBM Plex Sans" pitchFamily="34" charset="0"/>
                <a:ea typeface="IBM Plex Sans" pitchFamily="34" charset="-122"/>
                <a:cs typeface="IBM Plex Sans" pitchFamily="34" charset="-120"/>
              </a:rPr>
              <a:t>Sept fichiers, clés de jointure, contrôle de qualité.</a:t>
            </a:r>
            <a:endParaRPr lang="en-US" sz="1200" dirty="0"/>
          </a:p>
        </p:txBody>
      </p:sp>
      <p:sp>
        <p:nvSpPr>
          <p:cNvPr id="8" name="Shape 6"/>
          <p:cNvSpPr/>
          <p:nvPr/>
        </p:nvSpPr>
        <p:spPr>
          <a:xfrm>
            <a:off x="3508375" y="1857276"/>
            <a:ext cx="2482850" cy="1855391"/>
          </a:xfrm>
          <a:prstGeom prst="roundRect">
            <a:avLst>
              <a:gd name="adj" fmla="val 5305"/>
            </a:avLst>
          </a:prstGeom>
          <a:solidFill>
            <a:srgbClr val="FDFCFA"/>
          </a:solidFill>
          <a:ln w="6350">
            <a:solidFill>
              <a:srgbClr val="DAD6CC"/>
            </a:solidFill>
            <a:prstDash val="solid"/>
          </a:ln>
        </p:spPr>
        <p:txBody>
          <a:bodyPr/>
          <a:lstStyle/>
          <a:p>
            <a:endParaRPr/>
          </a:p>
        </p:txBody>
      </p:sp>
      <p:sp>
        <p:nvSpPr>
          <p:cNvPr id="9" name="Text 7"/>
          <p:cNvSpPr/>
          <p:nvPr/>
        </p:nvSpPr>
        <p:spPr>
          <a:xfrm>
            <a:off x="3714750" y="2063651"/>
            <a:ext cx="2132203"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B4531A"/>
                </a:solidFill>
                <a:latin typeface="Space Grotesk" pitchFamily="34" charset="0"/>
                <a:ea typeface="Space Grotesk" pitchFamily="34" charset="-122"/>
                <a:cs typeface="Space Grotesk" pitchFamily="34" charset="-120"/>
              </a:rPr>
              <a:t>02</a:t>
            </a:r>
            <a:endParaRPr lang="en-US" sz="2000" dirty="0"/>
          </a:p>
        </p:txBody>
      </p:sp>
      <p:sp>
        <p:nvSpPr>
          <p:cNvPr id="10" name="Text 8"/>
          <p:cNvSpPr/>
          <p:nvPr/>
        </p:nvSpPr>
        <p:spPr>
          <a:xfrm>
            <a:off x="3714750" y="2520851"/>
            <a:ext cx="2132203"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Space Grotesk" pitchFamily="34" charset="0"/>
                <a:ea typeface="Space Grotesk" pitchFamily="34" charset="-122"/>
                <a:cs typeface="Space Grotesk" pitchFamily="34" charset="-120"/>
              </a:rPr>
              <a:t>Explorer (EDA)</a:t>
            </a:r>
            <a:endParaRPr lang="en-US" sz="1500" dirty="0"/>
          </a:p>
        </p:txBody>
      </p:sp>
      <p:sp>
        <p:nvSpPr>
          <p:cNvPr id="11" name="Text 9"/>
          <p:cNvSpPr/>
          <p:nvPr/>
        </p:nvSpPr>
        <p:spPr>
          <a:xfrm>
            <a:off x="3714750" y="2851051"/>
            <a:ext cx="2132203"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IBM Plex Sans" pitchFamily="34" charset="0"/>
                <a:ea typeface="IBM Plex Sans" pitchFamily="34" charset="-122"/>
                <a:cs typeface="IBM Plex Sans" pitchFamily="34" charset="-120"/>
              </a:rPr>
              <a:t>Python : pandas, seaborn. Distributions, croisements, anomalies.</a:t>
            </a:r>
            <a:endParaRPr lang="en-US" sz="1200" dirty="0"/>
          </a:p>
        </p:txBody>
      </p:sp>
      <p:sp>
        <p:nvSpPr>
          <p:cNvPr id="12" name="Shape 10"/>
          <p:cNvSpPr/>
          <p:nvPr/>
        </p:nvSpPr>
        <p:spPr>
          <a:xfrm>
            <a:off x="6200775" y="1857276"/>
            <a:ext cx="2482850" cy="1855391"/>
          </a:xfrm>
          <a:prstGeom prst="roundRect">
            <a:avLst>
              <a:gd name="adj" fmla="val 5305"/>
            </a:avLst>
          </a:prstGeom>
          <a:solidFill>
            <a:srgbClr val="FDFCFA"/>
          </a:solidFill>
          <a:ln w="6350">
            <a:solidFill>
              <a:srgbClr val="DAD6CC"/>
            </a:solidFill>
            <a:prstDash val="solid"/>
          </a:ln>
        </p:spPr>
        <p:txBody>
          <a:bodyPr/>
          <a:lstStyle/>
          <a:p>
            <a:endParaRPr/>
          </a:p>
        </p:txBody>
      </p:sp>
      <p:sp>
        <p:nvSpPr>
          <p:cNvPr id="13" name="Text 11"/>
          <p:cNvSpPr/>
          <p:nvPr/>
        </p:nvSpPr>
        <p:spPr>
          <a:xfrm>
            <a:off x="6407150" y="2063651"/>
            <a:ext cx="2132203"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B4531A"/>
                </a:solidFill>
                <a:latin typeface="Space Grotesk" pitchFamily="34" charset="0"/>
                <a:ea typeface="Space Grotesk" pitchFamily="34" charset="-122"/>
                <a:cs typeface="Space Grotesk" pitchFamily="34" charset="-120"/>
              </a:rPr>
              <a:t>03</a:t>
            </a:r>
            <a:endParaRPr lang="en-US" sz="2000" dirty="0"/>
          </a:p>
        </p:txBody>
      </p:sp>
      <p:sp>
        <p:nvSpPr>
          <p:cNvPr id="14" name="Text 12"/>
          <p:cNvSpPr/>
          <p:nvPr/>
        </p:nvSpPr>
        <p:spPr>
          <a:xfrm>
            <a:off x="6407150" y="2520851"/>
            <a:ext cx="2132203"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Space Grotesk" pitchFamily="34" charset="0"/>
                <a:ea typeface="Space Grotesk" pitchFamily="34" charset="-122"/>
                <a:cs typeface="Space Grotesk" pitchFamily="34" charset="-120"/>
              </a:rPr>
              <a:t>Définir les objectifs</a:t>
            </a:r>
            <a:endParaRPr lang="en-US" sz="1500" dirty="0"/>
          </a:p>
        </p:txBody>
      </p:sp>
      <p:sp>
        <p:nvSpPr>
          <p:cNvPr id="15" name="Text 13"/>
          <p:cNvSpPr/>
          <p:nvPr/>
        </p:nvSpPr>
        <p:spPr>
          <a:xfrm>
            <a:off x="6407150" y="2851051"/>
            <a:ext cx="2132203" cy="8229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IBM Plex Sans" pitchFamily="34" charset="0"/>
                <a:ea typeface="IBM Plex Sans" pitchFamily="34" charset="-122"/>
                <a:cs typeface="IBM Plex Sans" pitchFamily="34" charset="-120"/>
              </a:rPr>
              <a:t>Six objectifs métier, chacun relié à des OBI et à des KPI calculables.</a:t>
            </a:r>
            <a:endParaRPr lang="en-US" sz="1200" dirty="0"/>
          </a:p>
        </p:txBody>
      </p:sp>
      <p:sp>
        <p:nvSpPr>
          <p:cNvPr id="16" name="Shape 14"/>
          <p:cNvSpPr/>
          <p:nvPr/>
        </p:nvSpPr>
        <p:spPr>
          <a:xfrm>
            <a:off x="8893175" y="1857276"/>
            <a:ext cx="2482850" cy="1855391"/>
          </a:xfrm>
          <a:prstGeom prst="roundRect">
            <a:avLst>
              <a:gd name="adj" fmla="val 5305"/>
            </a:avLst>
          </a:prstGeom>
          <a:solidFill>
            <a:srgbClr val="FDFCFA"/>
          </a:solidFill>
          <a:ln w="6350">
            <a:solidFill>
              <a:srgbClr val="DAD6CC"/>
            </a:solidFill>
            <a:prstDash val="solid"/>
          </a:ln>
        </p:spPr>
        <p:txBody>
          <a:bodyPr/>
          <a:lstStyle/>
          <a:p>
            <a:endParaRPr/>
          </a:p>
        </p:txBody>
      </p:sp>
      <p:sp>
        <p:nvSpPr>
          <p:cNvPr id="17" name="Text 15"/>
          <p:cNvSpPr/>
          <p:nvPr/>
        </p:nvSpPr>
        <p:spPr>
          <a:xfrm>
            <a:off x="9099550" y="2063651"/>
            <a:ext cx="2132203"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B4531A"/>
                </a:solidFill>
                <a:latin typeface="Space Grotesk" pitchFamily="34" charset="0"/>
                <a:ea typeface="Space Grotesk" pitchFamily="34" charset="-122"/>
                <a:cs typeface="Space Grotesk" pitchFamily="34" charset="-120"/>
              </a:rPr>
              <a:t>04</a:t>
            </a:r>
            <a:endParaRPr lang="en-US" sz="2000" dirty="0"/>
          </a:p>
        </p:txBody>
      </p:sp>
      <p:sp>
        <p:nvSpPr>
          <p:cNvPr id="18" name="Text 16"/>
          <p:cNvSpPr/>
          <p:nvPr/>
        </p:nvSpPr>
        <p:spPr>
          <a:xfrm>
            <a:off x="9099550" y="2520851"/>
            <a:ext cx="2132203"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Space Grotesk" pitchFamily="34" charset="0"/>
                <a:ea typeface="Space Grotesk" pitchFamily="34" charset="-122"/>
                <a:cs typeface="Space Grotesk" pitchFamily="34" charset="-120"/>
              </a:rPr>
              <a:t>Identifier les acteurs</a:t>
            </a:r>
            <a:endParaRPr lang="en-US" sz="1500" dirty="0"/>
          </a:p>
        </p:txBody>
      </p:sp>
      <p:sp>
        <p:nvSpPr>
          <p:cNvPr id="19" name="Text 17"/>
          <p:cNvSpPr/>
          <p:nvPr/>
        </p:nvSpPr>
        <p:spPr>
          <a:xfrm>
            <a:off x="9099550" y="2851051"/>
            <a:ext cx="2132203" cy="8229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IBM Plex Sans" pitchFamily="34" charset="0"/>
                <a:ea typeface="IBM Plex Sans" pitchFamily="34" charset="-122"/>
                <a:cs typeface="IBM Plex Sans" pitchFamily="34" charset="-120"/>
              </a:rPr>
              <a:t>Acteurs consommateurs, décisions possibles et limites.</a:t>
            </a:r>
            <a:endParaRPr lang="en-US" sz="1200" dirty="0"/>
          </a:p>
        </p:txBody>
      </p:sp>
      <p:sp>
        <p:nvSpPr>
          <p:cNvPr id="20" name="Text 18"/>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Pilotage RH par la donnée · 03 · </a:t>
            </a:r>
            <a:r>
              <a:rPr lang="en-US" sz="1200" dirty="0">
                <a:solidFill>
                  <a:srgbClr val="2F5DA8"/>
                </a:solidFill>
                <a:latin typeface="IBM Plex Sans" pitchFamily="34" charset="0"/>
                <a:ea typeface="IBM Plex Sans" pitchFamily="34" charset="-122"/>
                <a:cs typeface="IBM Plex Sans" pitchFamily="34" charset="-120"/>
              </a:rPr>
              <a:t>Code : EDA_HR.ipynb · [n] = le numéro « In [n] » à gauche de chaque cellule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531A"/>
                </a:solidFill>
                <a:latin typeface="IBM Plex Sans" pitchFamily="34" charset="0"/>
                <a:ea typeface="IBM Plex Sans" pitchFamily="34" charset="-122"/>
                <a:cs typeface="IBM Plex Sans" pitchFamily="34" charset="-120"/>
              </a:rPr>
              <a:t>LES DONNÉES</a:t>
            </a:r>
            <a:endParaRPr lang="en-US" sz="1200" dirty="0"/>
          </a:p>
        </p:txBody>
      </p:sp>
      <p:sp>
        <p:nvSpPr>
          <p:cNvPr id="3" name="Text 1"/>
          <p:cNvSpPr/>
          <p:nvPr/>
        </p:nvSpPr>
        <p:spPr>
          <a:xfrm>
            <a:off x="812800" y="11023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4213D"/>
                </a:solidFill>
                <a:latin typeface="Space Grotesk" pitchFamily="34" charset="0"/>
                <a:ea typeface="Space Grotesk" pitchFamily="34" charset="-122"/>
                <a:cs typeface="Space Grotesk" pitchFamily="34" charset="-120"/>
              </a:rPr>
              <a:t>Sept fichiers à relier</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66801"/>
          <a:ext cx="10553700" cy="2514897"/>
        </p:xfrm>
        <a:graphic>
          <a:graphicData uri="http://schemas.openxmlformats.org/drawingml/2006/table">
            <a:tbl>
              <a:tblPr/>
              <a:tblGrid>
                <a:gridCol w="3588258">
                  <a:extLst>
                    <a:ext uri="{9D8B030D-6E8A-4147-A177-3AD203B41FA5}">
                      <a16:colId xmlns:a16="http://schemas.microsoft.com/office/drawing/2014/main" val="20000"/>
                    </a:ext>
                  </a:extLst>
                </a:gridCol>
                <a:gridCol w="3166110">
                  <a:extLst>
                    <a:ext uri="{9D8B030D-6E8A-4147-A177-3AD203B41FA5}">
                      <a16:colId xmlns:a16="http://schemas.microsoft.com/office/drawing/2014/main" val="20001"/>
                    </a:ext>
                  </a:extLst>
                </a:gridCol>
                <a:gridCol w="1899666">
                  <a:extLst>
                    <a:ext uri="{9D8B030D-6E8A-4147-A177-3AD203B41FA5}">
                      <a16:colId xmlns:a16="http://schemas.microsoft.com/office/drawing/2014/main" val="20002"/>
                    </a:ext>
                  </a:extLst>
                </a:gridCol>
                <a:gridCol w="1899666">
                  <a:extLst>
                    <a:ext uri="{9D8B030D-6E8A-4147-A177-3AD203B41FA5}">
                      <a16:colId xmlns:a16="http://schemas.microsoft.com/office/drawing/2014/main" val="20003"/>
                    </a:ext>
                  </a:extLst>
                </a:gridCol>
              </a:tblGrid>
              <a:tr h="359271">
                <a:tc>
                  <a:txBody>
                    <a:bodyPr/>
                    <a:lstStyle/>
                    <a:p>
                      <a:pPr marL="0" indent="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Source</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marL="0" indent="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Contenu</a:t>
                      </a:r>
                      <a:endParaRPr lang="en-US" sz="1300" dirty="0">
                        <a:latin typeface="IBM Plex Sans" charset="0"/>
                        <a:ea typeface="IBM Plex Sans" charset="0"/>
                        <a:cs typeface="IBM Plex Sans" charset="0"/>
                      </a:endParaRPr>
                    </a:p>
                  </a:txBody>
                  <a:tcPr marL="57785" marR="57785" marT="57785" marB="57785">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marL="0" indent="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Volume</a:t>
                      </a:r>
                      <a:endParaRPr lang="en-US" sz="1300" dirty="0">
                        <a:latin typeface="IBM Plex Sans" charset="0"/>
                        <a:ea typeface="IBM Plex Sans" charset="0"/>
                        <a:cs typeface="IBM Plex Sans" charset="0"/>
                      </a:endParaRPr>
                    </a:p>
                  </a:txBody>
                  <a:tcPr marL="57785" marR="57785" marT="57785" marB="57785">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marL="0" indent="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Période</a:t>
                      </a:r>
                      <a:endParaRPr lang="en-US" sz="1300" dirty="0">
                        <a:latin typeface="IBM Plex Sans" charset="0"/>
                        <a:ea typeface="IBM Plex Sans" charset="0"/>
                        <a:cs typeface="IBM Plex Sans" charset="0"/>
                      </a:endParaRPr>
                    </a:p>
                  </a:txBody>
                  <a:tcPr marL="57785" marR="57785" marT="57785" marB="57785">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extLst>
                  <a:ext uri="{0D108BD9-81ED-4DB2-BD59-A6C34878D82A}">
                    <a16:rowId xmlns:a16="http://schemas.microsoft.com/office/drawing/2014/main" val="10000"/>
                  </a:ext>
                </a:extLst>
              </a:tr>
              <a:tr h="359271">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emp_data.xlsx</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Fiches employés techniques</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1 461 × 30</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Photo</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1"/>
                  </a:ext>
                </a:extLst>
              </a:tr>
              <a:tr h="359271">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administration_data.xlsx</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Fiches administratives</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1 279 × 24</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Photo</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2"/>
                  </a:ext>
                </a:extLst>
              </a:tr>
              <a:tr h="359271">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attendance_dataset_2023.csv</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Pointages techniques</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189 799 lignes</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Janv.–juin 2023</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3"/>
                  </a:ext>
                </a:extLst>
              </a:tr>
              <a:tr h="359271">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Administration_attendance.xlsx</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Pointages administratifs</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83 200 lignes</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Janv.–mars 2023</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4"/>
                  </a:ext>
                </a:extLst>
              </a:tr>
              <a:tr h="359271">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Coursera_trainings.csv</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Catalogue de formations</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3 532 cours</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5"/>
                  </a:ext>
                </a:extLst>
              </a:tr>
              <a:tr h="359271">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departments.ods, extrainfos.txt</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Capacités, taux horaires</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4 départements</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5" name="Text 2"/>
          <p:cNvSpPr/>
          <p:nvPr/>
        </p:nvSpPr>
        <p:spPr>
          <a:xfrm>
            <a:off x="812800" y="4686498"/>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IBM Plex Sans" pitchFamily="34" charset="0"/>
                <a:ea typeface="IBM Plex Sans" pitchFamily="34" charset="-122"/>
                <a:cs typeface="IBM Plex Sans" pitchFamily="34" charset="-120"/>
              </a:rPr>
              <a:t>Clés : ID_Employee (fiche ↔ pointage) · DEP_ID ↔ ID_DEP · ID_TRAINING (liste d'ids) → course_id</a:t>
            </a:r>
            <a:endParaRPr lang="en-US" sz="1200" dirty="0"/>
          </a:p>
        </p:txBody>
      </p:sp>
      <p:sp>
        <p:nvSpPr>
          <p:cNvPr id="6" name="Text 3"/>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Pilotage RH par la donnée · 04 · </a:t>
            </a:r>
            <a:r>
              <a:rPr lang="en-US" sz="1200" dirty="0">
                <a:solidFill>
                  <a:srgbClr val="2F5DA8"/>
                </a:solidFill>
                <a:latin typeface="IBM Plex Sans" pitchFamily="34" charset="0"/>
                <a:ea typeface="IBM Plex Sans" pitchFamily="34" charset="-122"/>
                <a:cs typeface="IBM Plex Sans" pitchFamily="34" charset="-120"/>
              </a:rPr>
              <a:t>Code : cellule [1] (chargement, prep_data) · cellule [2] (tailles des sources)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531A"/>
                </a:solidFill>
                <a:latin typeface="IBM Plex Sans" pitchFamily="34" charset="0"/>
                <a:ea typeface="IBM Plex Sans" pitchFamily="34" charset="-122"/>
                <a:cs typeface="IBM Plex Sans" pitchFamily="34" charset="-120"/>
              </a:rPr>
              <a:t>QUALITÉ DES DONNÉES</a:t>
            </a:r>
            <a:endParaRPr lang="en-US" sz="1200" dirty="0"/>
          </a:p>
        </p:txBody>
      </p:sp>
      <p:sp>
        <p:nvSpPr>
          <p:cNvPr id="3" name="Text 1"/>
          <p:cNvSpPr/>
          <p:nvPr/>
        </p:nvSpPr>
        <p:spPr>
          <a:xfrm>
            <a:off x="812800" y="11023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4213D"/>
                </a:solidFill>
                <a:latin typeface="Space Grotesk" pitchFamily="34" charset="0"/>
                <a:ea typeface="Space Grotesk" pitchFamily="34" charset="-122"/>
                <a:cs typeface="Space Grotesk" pitchFamily="34" charset="-120"/>
              </a:rPr>
              <a:t>Neuf problèmes détectés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66801"/>
          <a:ext cx="10553700" cy="3325810"/>
        </p:xfrm>
        <a:graphic>
          <a:graphicData uri="http://schemas.openxmlformats.org/drawingml/2006/table">
            <a:tbl>
              <a:tblPr/>
              <a:tblGrid>
                <a:gridCol w="4010406">
                  <a:extLst>
                    <a:ext uri="{9D8B030D-6E8A-4147-A177-3AD203B41FA5}">
                      <a16:colId xmlns:a16="http://schemas.microsoft.com/office/drawing/2014/main" val="20000"/>
                    </a:ext>
                  </a:extLst>
                </a:gridCol>
                <a:gridCol w="2321814">
                  <a:extLst>
                    <a:ext uri="{9D8B030D-6E8A-4147-A177-3AD203B41FA5}">
                      <a16:colId xmlns:a16="http://schemas.microsoft.com/office/drawing/2014/main" val="20001"/>
                    </a:ext>
                  </a:extLst>
                </a:gridCol>
                <a:gridCol w="2321814">
                  <a:extLst>
                    <a:ext uri="{9D8B030D-6E8A-4147-A177-3AD203B41FA5}">
                      <a16:colId xmlns:a16="http://schemas.microsoft.com/office/drawing/2014/main" val="20002"/>
                    </a:ext>
                  </a:extLst>
                </a:gridCol>
                <a:gridCol w="1899666">
                  <a:extLst>
                    <a:ext uri="{9D8B030D-6E8A-4147-A177-3AD203B41FA5}">
                      <a16:colId xmlns:a16="http://schemas.microsoft.com/office/drawing/2014/main" val="20003"/>
                    </a:ext>
                  </a:extLst>
                </a:gridCol>
              </a:tblGrid>
              <a:tr h="332581">
                <a:tc>
                  <a:txBody>
                    <a:bodyPr/>
                    <a:lstStyle/>
                    <a:p>
                      <a:pPr marL="0" indent="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Constat</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marL="0" indent="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Impact</a:t>
                      </a:r>
                      <a:endParaRPr lang="en-US" sz="1200" dirty="0">
                        <a:latin typeface="IBM Plex Sans" charset="0"/>
                        <a:ea typeface="IBM Plex Sans" charset="0"/>
                        <a:cs typeface="IBM Plex Sans" charset="0"/>
                      </a:endParaRPr>
                    </a:p>
                  </a:txBody>
                  <a:tcPr marL="53340" marR="53340" marT="53340" marB="53340">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marL="0" indent="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Traitement</a:t>
                      </a:r>
                      <a:endParaRPr lang="en-US" sz="1200" dirty="0">
                        <a:latin typeface="IBM Plex Sans" charset="0"/>
                        <a:ea typeface="IBM Plex Sans" charset="0"/>
                        <a:cs typeface="IBM Plex Sans" charset="0"/>
                      </a:endParaRPr>
                    </a:p>
                  </a:txBody>
                  <a:tcPr marL="53340" marR="53340" marT="53340" marB="53340">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marL="0" indent="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Code</a:t>
                      </a:r>
                      <a:endParaRPr lang="en-US" sz="1200" dirty="0">
                        <a:latin typeface="IBM Plex Sans" charset="0"/>
                        <a:ea typeface="IBM Plex Sans" charset="0"/>
                        <a:cs typeface="IBM Plex Sans" charset="0"/>
                      </a:endParaRPr>
                    </a:p>
                  </a:txBody>
                  <a:tcPr marL="53340" marR="53340" marT="53340" marB="53340">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extLst>
                  <a:ext uri="{0D108BD9-81ED-4DB2-BD59-A6C34878D82A}">
                    <a16:rowId xmlns:a16="http://schemas.microsoft.com/office/drawing/2014/main" val="10000"/>
                  </a:ext>
                </a:extLst>
              </a:tr>
              <a:tr h="332581">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1 pointage admin sans fiche employé</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Jointure incomplète</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Membre « Inconnu »</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Cellule [2]</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1"/>
                  </a:ext>
                </a:extLst>
              </a:tr>
              <a:tr h="332581">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SALARY vide pour les 717 vacataires</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Faux manquants</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Coût = heures × 35</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Cellule [2]</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2"/>
                  </a:ext>
                </a:extLst>
              </a:tr>
              <a:tr h="332581">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Types de congé en double casse</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8 catégories au lieu de 4</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Normalisation</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Cellules [1], [7]</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3"/>
                  </a:ext>
                </a:extLst>
              </a:tr>
              <a:tr h="332581">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Canaux de recrutement libellés autrement</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Tech ≠ admin</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Référentiel commun</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Cellules [1], [3]</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4"/>
                  </a:ext>
                </a:extLst>
              </a:tr>
              <a:tr h="332581">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Heures en HH:MM et HH:MM:SS</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Erreurs de lecture</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Format unique</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Cellule [1]</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5"/>
                  </a:ext>
                </a:extLst>
              </a:tr>
              <a:tr h="332581">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27 journées admin à durée négative</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Heures fausses</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Indicateur d'anomalie</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Cellule [12]</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6"/>
                  </a:ext>
                </a:extLst>
              </a:tr>
              <a:tr h="332581">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468 CDI avec une date de fin</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Contrats incohérents</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Indicateur d'anomalie</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Cellule [11]</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7"/>
                  </a:ext>
                </a:extLst>
              </a:tr>
              <a:tr h="332581">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663 contrats échus avant 2023, pointés en 2023</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Échéances non fiables</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Indicateur d'anomalie</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Cellules [7], [11]</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8"/>
                  </a:ext>
                </a:extLst>
              </a:tr>
              <a:tr h="332581">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221 vacataires en CDI</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Statut incohérent</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Indicateur d'anomalie</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Cellule [11]</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Pilotage RH par la donnée · 05 · </a:t>
            </a:r>
            <a:r>
              <a:rPr lang="en-US" sz="1200" dirty="0">
                <a:solidFill>
                  <a:srgbClr val="2F5DA8"/>
                </a:solidFill>
                <a:latin typeface="IBM Plex Sans" pitchFamily="34" charset="0"/>
                <a:ea typeface="IBM Plex Sans" pitchFamily="34" charset="-122"/>
                <a:cs typeface="IBM Plex Sans" pitchFamily="34" charset="-120"/>
              </a:rPr>
              <a:t>Cellules [9] à [14] : section 8, contrôles complémentaires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3">
    <p:bg>
      <p:bgPr>
        <a:solidFill>
          <a:srgbClr val="B4531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BE9DC"/>
                </a:solidFill>
                <a:latin typeface="IBM Plex Sans" pitchFamily="34" charset="0"/>
                <a:ea typeface="IBM Plex Sans" pitchFamily="34" charset="-122"/>
                <a:cs typeface="IBM Plex Sans" pitchFamily="34" charset="-120"/>
              </a:rPr>
              <a:t>LIMITE MAJEURE</a:t>
            </a:r>
            <a:endParaRPr lang="en-US" sz="1200" dirty="0"/>
          </a:p>
        </p:txBody>
      </p:sp>
      <p:sp>
        <p:nvSpPr>
          <p:cNvPr id="3" name="Text 1"/>
          <p:cNvSpPr/>
          <p:nvPr/>
        </p:nvSpPr>
        <p:spPr>
          <a:xfrm>
            <a:off x="812800" y="1102320"/>
            <a:ext cx="10883392" cy="695920"/>
          </a:xfrm>
          <a:prstGeom prst="rect">
            <a:avLst/>
          </a:prstGeom>
          <a:noFill/>
          <a:ln/>
        </p:spPr>
        <p:txBody>
          <a:bodyPr wrap="square" lIns="0" tIns="0" rIns="0" bIns="0" rtlCol="0" anchor="t">
            <a:normAutofit/>
          </a:bodyPr>
          <a:lstStyle/>
          <a:p>
            <a:pPr marL="0" indent="0" algn="l">
              <a:lnSpc>
                <a:spcPts val="5280"/>
              </a:lnSpc>
              <a:buNone/>
            </a:pPr>
            <a:r>
              <a:rPr lang="en-US" sz="4800" b="1" dirty="0">
                <a:solidFill>
                  <a:srgbClr val="F7F6F2"/>
                </a:solidFill>
                <a:latin typeface="Space Grotesk" pitchFamily="34" charset="0"/>
                <a:ea typeface="Space Grotesk" pitchFamily="34" charset="-122"/>
                <a:cs typeface="Space Grotesk" pitchFamily="34" charset="-120"/>
              </a:rPr>
              <a:t>Des données synthétiques</a:t>
            </a:r>
            <a:endParaRPr lang="en-US" sz="4800" dirty="0"/>
          </a:p>
        </p:txBody>
      </p:sp>
      <p:sp>
        <p:nvSpPr>
          <p:cNvPr id="4" name="Text 2"/>
          <p:cNvSpPr/>
          <p:nvPr/>
        </p:nvSpPr>
        <p:spPr>
          <a:xfrm>
            <a:off x="812800" y="2077641"/>
            <a:ext cx="10883392" cy="1168400"/>
          </a:xfrm>
          <a:prstGeom prst="rect">
            <a:avLst/>
          </a:prstGeom>
          <a:noFill/>
          <a:ln/>
        </p:spPr>
        <p:txBody>
          <a:bodyPr wrap="square" lIns="0" tIns="0" rIns="0" bIns="0" rtlCol="0" anchor="t">
            <a:normAutofit/>
          </a:bodyPr>
          <a:lstStyle/>
          <a:p>
            <a:pPr marL="228600" indent="-182880" algn="l">
              <a:lnSpc>
                <a:spcPts val="2250"/>
              </a:lnSpc>
              <a:buSzPct val="100000"/>
              <a:buChar char="•"/>
            </a:pPr>
            <a:r>
              <a:rPr lang="en-US" sz="1500" dirty="0">
                <a:solidFill>
                  <a:srgbClr val="F7F6F2"/>
                </a:solidFill>
                <a:latin typeface="IBM Plex Sans" pitchFamily="34" charset="0"/>
                <a:ea typeface="IBM Plex Sans" pitchFamily="34" charset="-122"/>
                <a:cs typeface="IBM Plex Sans" pitchFamily="34" charset="-120"/>
              </a:rPr>
              <a:t>Adresses américaines et e-mails en @example.com : un générateur de données</a:t>
            </a:r>
            <a:endParaRPr lang="en-US" sz="1500" dirty="0"/>
          </a:p>
          <a:p>
            <a:pPr marL="228600" indent="-182880" algn="l">
              <a:lnSpc>
                <a:spcPts val="2250"/>
              </a:lnSpc>
              <a:buSzPct val="100000"/>
              <a:buChar char="•"/>
            </a:pPr>
            <a:r>
              <a:rPr lang="en-US" sz="1500" dirty="0">
                <a:solidFill>
                  <a:srgbClr val="F7F6F2"/>
                </a:solidFill>
                <a:latin typeface="IBM Plex Sans" pitchFamily="34" charset="0"/>
                <a:ea typeface="IBM Plex Sans" pitchFamily="34" charset="-122"/>
                <a:cs typeface="IBM Plex Sans" pitchFamily="34" charset="-120"/>
              </a:rPr>
              <a:t>Chaque employé pointe les 130 jours ouvrés, 1er mai et Aïd compris</a:t>
            </a:r>
            <a:endParaRPr lang="en-US" sz="1500" dirty="0"/>
          </a:p>
          <a:p>
            <a:pPr marL="228600" indent="-182880" algn="l">
              <a:lnSpc>
                <a:spcPts val="2250"/>
              </a:lnSpc>
              <a:buSzPct val="100000"/>
              <a:buChar char="•"/>
            </a:pPr>
            <a:r>
              <a:rPr lang="en-US" sz="1500" dirty="0">
                <a:solidFill>
                  <a:srgbClr val="F7F6F2"/>
                </a:solidFill>
                <a:latin typeface="IBM Plex Sans" pitchFamily="34" charset="0"/>
                <a:ea typeface="IBM Plex Sans" pitchFamily="34" charset="-122"/>
                <a:cs typeface="IBM Plex Sans" pitchFamily="34" charset="-120"/>
              </a:rPr>
              <a:t>Arrivées uniformes entre 8h00 et 9h00 : 49 % de « retards » par construction</a:t>
            </a:r>
            <a:endParaRPr lang="en-US" sz="1500" dirty="0"/>
          </a:p>
          <a:p>
            <a:pPr marL="228600" indent="-182880" algn="l">
              <a:lnSpc>
                <a:spcPts val="2250"/>
              </a:lnSpc>
              <a:buSzPct val="100000"/>
              <a:buChar char="•"/>
            </a:pPr>
            <a:r>
              <a:rPr lang="en-US" sz="1500" dirty="0">
                <a:solidFill>
                  <a:srgbClr val="F7F6F2"/>
                </a:solidFill>
                <a:latin typeface="IBM Plex Sans" pitchFamily="34" charset="0"/>
                <a:ea typeface="IBM Plex Sans" pitchFamily="34" charset="-122"/>
                <a:cs typeface="IBM Plex Sans" pitchFamily="34" charset="-120"/>
              </a:rPr>
              <a:t>Genre 731 / 730, contrats en tiers, écart H/F nul, congés uniformes</a:t>
            </a:r>
            <a:endParaRPr lang="en-US" sz="1500" dirty="0"/>
          </a:p>
        </p:txBody>
      </p:sp>
      <p:sp>
        <p:nvSpPr>
          <p:cNvPr id="5" name="Text 3"/>
          <p:cNvSpPr/>
          <p:nvPr/>
        </p:nvSpPr>
        <p:spPr>
          <a:xfrm>
            <a:off x="812800" y="3525441"/>
            <a:ext cx="1088339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BE9DC"/>
                </a:solidFill>
                <a:latin typeface="IBM Plex Sans" pitchFamily="34" charset="0"/>
                <a:ea typeface="IBM Plex Sans" pitchFamily="34" charset="-122"/>
                <a:cs typeface="IBM Plex Sans" pitchFamily="34" charset="-120"/>
              </a:rPr>
              <a:t>Nous retenons donc les écarts structurels et la qualité des données, pas les signaux faibles.</a:t>
            </a:r>
            <a:endParaRPr lang="en-US" sz="1500" dirty="0"/>
          </a:p>
        </p:txBody>
      </p:sp>
      <p:sp>
        <p:nvSpPr>
          <p:cNvPr id="6" name="Text 4"/>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BE9DC"/>
                </a:solidFill>
                <a:latin typeface="IBM Plex Sans" pitchFamily="34" charset="0"/>
                <a:ea typeface="IBM Plex Sans" pitchFamily="34" charset="-122"/>
                <a:cs typeface="IBM Plex Sans" pitchFamily="34" charset="-120"/>
              </a:rPr>
              <a:t>Pilotage RH par la donnée · 06 · Code : cellule [14] (adresses, e-mails, fériés, arrivées) · cellules [2], [7]</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531A"/>
                </a:solidFill>
                <a:latin typeface="IBM Plex Sans" pitchFamily="34" charset="0"/>
                <a:ea typeface="IBM Plex Sans" pitchFamily="34" charset="-122"/>
                <a:cs typeface="IBM Plex Sans" pitchFamily="34" charset="-120"/>
              </a:rPr>
              <a:t>OM1 · EFFECTIFS ET CAPACITÉ</a:t>
            </a:r>
            <a:endParaRPr lang="en-US" sz="1200" dirty="0"/>
          </a:p>
        </p:txBody>
      </p:sp>
      <p:sp>
        <p:nvSpPr>
          <p:cNvPr id="3" name="Text 1"/>
          <p:cNvSpPr/>
          <p:nvPr/>
        </p:nvSpPr>
        <p:spPr>
          <a:xfrm>
            <a:off x="812800" y="11023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4213D"/>
                </a:solidFill>
                <a:latin typeface="Space Grotesk" pitchFamily="34" charset="0"/>
                <a:ea typeface="Space Grotesk" pitchFamily="34" charset="-122"/>
                <a:cs typeface="Space Grotesk" pitchFamily="34" charset="-120"/>
              </a:rPr>
              <a:t>Télécom en surcharge, Communication sous-utilisée</a:t>
            </a:r>
            <a:endParaRPr lang="en-US" sz="3200" dirty="0"/>
          </a:p>
        </p:txBody>
      </p:sp>
      <p:sp>
        <p:nvSpPr>
          <p:cNvPr id="4" name="Text 2"/>
          <p:cNvSpPr/>
          <p:nvPr/>
        </p:nvSpPr>
        <p:spPr>
          <a:xfrm>
            <a:off x="812800" y="1918791"/>
            <a:ext cx="196215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Télécom</a:t>
            </a:r>
            <a:endParaRPr lang="en-US" sz="1500" dirty="0"/>
          </a:p>
        </p:txBody>
      </p:sp>
      <p:sp>
        <p:nvSpPr>
          <p:cNvPr id="5" name="Shape 3"/>
          <p:cNvSpPr/>
          <p:nvPr/>
        </p:nvSpPr>
        <p:spPr>
          <a:xfrm>
            <a:off x="2870200" y="1854101"/>
            <a:ext cx="6350000" cy="355600"/>
          </a:xfrm>
          <a:prstGeom prst="rect">
            <a:avLst/>
          </a:prstGeom>
          <a:solidFill>
            <a:srgbClr val="E4E1D8"/>
          </a:solidFill>
          <a:ln/>
        </p:spPr>
        <p:txBody>
          <a:bodyPr/>
          <a:lstStyle/>
          <a:p>
            <a:endParaRPr/>
          </a:p>
        </p:txBody>
      </p:sp>
      <p:sp>
        <p:nvSpPr>
          <p:cNvPr id="6" name="Shape 4"/>
          <p:cNvSpPr/>
          <p:nvPr/>
        </p:nvSpPr>
        <p:spPr>
          <a:xfrm>
            <a:off x="2870200" y="1854101"/>
            <a:ext cx="4667250" cy="355600"/>
          </a:xfrm>
          <a:prstGeom prst="rect">
            <a:avLst/>
          </a:prstGeom>
          <a:solidFill>
            <a:srgbClr val="B4531A"/>
          </a:solidFill>
          <a:ln/>
        </p:spPr>
        <p:txBody>
          <a:bodyPr/>
          <a:lstStyle/>
          <a:p>
            <a:endParaRPr/>
          </a:p>
        </p:txBody>
      </p:sp>
      <p:sp>
        <p:nvSpPr>
          <p:cNvPr id="7" name="Shape 5"/>
          <p:cNvSpPr/>
          <p:nvPr/>
        </p:nvSpPr>
        <p:spPr>
          <a:xfrm>
            <a:off x="6038850" y="1854101"/>
            <a:ext cx="19050" cy="355600"/>
          </a:xfrm>
          <a:prstGeom prst="rect">
            <a:avLst/>
          </a:prstGeom>
          <a:solidFill>
            <a:srgbClr val="14213D"/>
          </a:solidFill>
          <a:ln/>
        </p:spPr>
        <p:txBody>
          <a:bodyPr/>
          <a:lstStyle/>
          <a:p>
            <a:endParaRPr/>
          </a:p>
        </p:txBody>
      </p:sp>
      <p:sp>
        <p:nvSpPr>
          <p:cNvPr id="8" name="Text 6"/>
          <p:cNvSpPr/>
          <p:nvPr/>
        </p:nvSpPr>
        <p:spPr>
          <a:xfrm>
            <a:off x="9372600" y="1854101"/>
            <a:ext cx="1909826" cy="42148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3E4A5C"/>
                </a:solidFill>
                <a:latin typeface="IBM Plex Sans" pitchFamily="34" charset="0"/>
                <a:ea typeface="IBM Plex Sans" pitchFamily="34" charset="-122"/>
                <a:cs typeface="IBM Plex Sans" pitchFamily="34" charset="-120"/>
              </a:rPr>
              <a:t>147 % · surcharge</a:t>
            </a:r>
            <a:endParaRPr lang="en-US" sz="1200" dirty="0"/>
          </a:p>
          <a:p>
            <a:pPr marL="0" indent="0" algn="l">
              <a:lnSpc>
                <a:spcPts val="1560"/>
              </a:lnSpc>
              <a:buNone/>
            </a:pPr>
            <a:r>
              <a:rPr lang="en-US" sz="1200" dirty="0">
                <a:solidFill>
                  <a:srgbClr val="3E4A5C"/>
                </a:solidFill>
                <a:latin typeface="IBM Plex Sans" pitchFamily="34" charset="0"/>
                <a:ea typeface="IBM Plex Sans" pitchFamily="34" charset="-122"/>
                <a:cs typeface="IBM Plex Sans" pitchFamily="34" charset="-120"/>
              </a:rPr>
              <a:t>441 / 300 postes</a:t>
            </a:r>
            <a:endParaRPr lang="en-US" sz="1200" dirty="0"/>
          </a:p>
        </p:txBody>
      </p:sp>
      <p:sp>
        <p:nvSpPr>
          <p:cNvPr id="9" name="Text 7"/>
          <p:cNvSpPr/>
          <p:nvPr/>
        </p:nvSpPr>
        <p:spPr>
          <a:xfrm>
            <a:off x="812800" y="2467273"/>
            <a:ext cx="196215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Informatique</a:t>
            </a:r>
            <a:endParaRPr lang="en-US" sz="1500" dirty="0"/>
          </a:p>
        </p:txBody>
      </p:sp>
      <p:sp>
        <p:nvSpPr>
          <p:cNvPr id="10" name="Shape 8"/>
          <p:cNvSpPr/>
          <p:nvPr/>
        </p:nvSpPr>
        <p:spPr>
          <a:xfrm>
            <a:off x="2870200" y="2402582"/>
            <a:ext cx="6350000" cy="355600"/>
          </a:xfrm>
          <a:prstGeom prst="rect">
            <a:avLst/>
          </a:prstGeom>
          <a:solidFill>
            <a:srgbClr val="E4E1D8"/>
          </a:solidFill>
          <a:ln/>
        </p:spPr>
        <p:txBody>
          <a:bodyPr/>
          <a:lstStyle/>
          <a:p>
            <a:endParaRPr/>
          </a:p>
        </p:txBody>
      </p:sp>
      <p:sp>
        <p:nvSpPr>
          <p:cNvPr id="11" name="Shape 9"/>
          <p:cNvSpPr/>
          <p:nvPr/>
        </p:nvSpPr>
        <p:spPr>
          <a:xfrm>
            <a:off x="2870200" y="2402582"/>
            <a:ext cx="2667000" cy="355600"/>
          </a:xfrm>
          <a:prstGeom prst="rect">
            <a:avLst/>
          </a:prstGeom>
          <a:solidFill>
            <a:srgbClr val="2F5DA8"/>
          </a:solidFill>
          <a:ln/>
        </p:spPr>
        <p:txBody>
          <a:bodyPr/>
          <a:lstStyle/>
          <a:p>
            <a:endParaRPr/>
          </a:p>
        </p:txBody>
      </p:sp>
      <p:sp>
        <p:nvSpPr>
          <p:cNvPr id="12" name="Shape 10"/>
          <p:cNvSpPr/>
          <p:nvPr/>
        </p:nvSpPr>
        <p:spPr>
          <a:xfrm>
            <a:off x="6038850" y="2402582"/>
            <a:ext cx="19050" cy="355600"/>
          </a:xfrm>
          <a:prstGeom prst="rect">
            <a:avLst/>
          </a:prstGeom>
          <a:solidFill>
            <a:srgbClr val="14213D"/>
          </a:solidFill>
          <a:ln/>
        </p:spPr>
        <p:txBody>
          <a:bodyPr/>
          <a:lstStyle/>
          <a:p>
            <a:endParaRPr/>
          </a:p>
        </p:txBody>
      </p:sp>
      <p:sp>
        <p:nvSpPr>
          <p:cNvPr id="13" name="Text 11"/>
          <p:cNvSpPr/>
          <p:nvPr/>
        </p:nvSpPr>
        <p:spPr>
          <a:xfrm>
            <a:off x="9372600" y="2402582"/>
            <a:ext cx="1909826" cy="42148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3E4A5C"/>
                </a:solidFill>
                <a:latin typeface="IBM Plex Sans" pitchFamily="34" charset="0"/>
                <a:ea typeface="IBM Plex Sans" pitchFamily="34" charset="-122"/>
                <a:cs typeface="IBM Plex Sans" pitchFamily="34" charset="-120"/>
              </a:rPr>
              <a:t>84 % · normal</a:t>
            </a:r>
            <a:endParaRPr lang="en-US" sz="1200" dirty="0"/>
          </a:p>
          <a:p>
            <a:pPr marL="0" indent="0" algn="l">
              <a:lnSpc>
                <a:spcPts val="1560"/>
              </a:lnSpc>
              <a:buNone/>
            </a:pPr>
            <a:r>
              <a:rPr lang="en-US" sz="1200" dirty="0">
                <a:solidFill>
                  <a:srgbClr val="3E4A5C"/>
                </a:solidFill>
                <a:latin typeface="IBM Plex Sans" pitchFamily="34" charset="0"/>
                <a:ea typeface="IBM Plex Sans" pitchFamily="34" charset="-122"/>
                <a:cs typeface="IBM Plex Sans" pitchFamily="34" charset="-120"/>
              </a:rPr>
              <a:t>505 / 601 postes</a:t>
            </a:r>
            <a:endParaRPr lang="en-US" sz="1200" dirty="0"/>
          </a:p>
        </p:txBody>
      </p:sp>
      <p:sp>
        <p:nvSpPr>
          <p:cNvPr id="14" name="Text 12"/>
          <p:cNvSpPr/>
          <p:nvPr/>
        </p:nvSpPr>
        <p:spPr>
          <a:xfrm>
            <a:off x="812800" y="3015754"/>
            <a:ext cx="196215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Communication</a:t>
            </a:r>
            <a:endParaRPr lang="en-US" sz="1500" dirty="0"/>
          </a:p>
        </p:txBody>
      </p:sp>
      <p:sp>
        <p:nvSpPr>
          <p:cNvPr id="15" name="Shape 13"/>
          <p:cNvSpPr/>
          <p:nvPr/>
        </p:nvSpPr>
        <p:spPr>
          <a:xfrm>
            <a:off x="2870200" y="2951063"/>
            <a:ext cx="6350000" cy="355600"/>
          </a:xfrm>
          <a:prstGeom prst="rect">
            <a:avLst/>
          </a:prstGeom>
          <a:solidFill>
            <a:srgbClr val="E4E1D8"/>
          </a:solidFill>
          <a:ln/>
        </p:spPr>
        <p:txBody>
          <a:bodyPr/>
          <a:lstStyle/>
          <a:p>
            <a:endParaRPr/>
          </a:p>
        </p:txBody>
      </p:sp>
      <p:sp>
        <p:nvSpPr>
          <p:cNvPr id="16" name="Shape 14"/>
          <p:cNvSpPr/>
          <p:nvPr/>
        </p:nvSpPr>
        <p:spPr>
          <a:xfrm>
            <a:off x="2870200" y="2951063"/>
            <a:ext cx="1282700" cy="355600"/>
          </a:xfrm>
          <a:prstGeom prst="rect">
            <a:avLst/>
          </a:prstGeom>
          <a:solidFill>
            <a:srgbClr val="2F5DA8"/>
          </a:solidFill>
          <a:ln/>
        </p:spPr>
        <p:txBody>
          <a:bodyPr/>
          <a:lstStyle/>
          <a:p>
            <a:endParaRPr/>
          </a:p>
        </p:txBody>
      </p:sp>
      <p:sp>
        <p:nvSpPr>
          <p:cNvPr id="17" name="Shape 15"/>
          <p:cNvSpPr/>
          <p:nvPr/>
        </p:nvSpPr>
        <p:spPr>
          <a:xfrm>
            <a:off x="6038850" y="2951063"/>
            <a:ext cx="19050" cy="355600"/>
          </a:xfrm>
          <a:prstGeom prst="rect">
            <a:avLst/>
          </a:prstGeom>
          <a:solidFill>
            <a:srgbClr val="14213D"/>
          </a:solidFill>
          <a:ln/>
        </p:spPr>
        <p:txBody>
          <a:bodyPr/>
          <a:lstStyle/>
          <a:p>
            <a:endParaRPr/>
          </a:p>
        </p:txBody>
      </p:sp>
      <p:sp>
        <p:nvSpPr>
          <p:cNvPr id="18" name="Text 16"/>
          <p:cNvSpPr/>
          <p:nvPr/>
        </p:nvSpPr>
        <p:spPr>
          <a:xfrm>
            <a:off x="9372600" y="2951063"/>
            <a:ext cx="1909826" cy="42148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3E4A5C"/>
                </a:solidFill>
                <a:latin typeface="IBM Plex Sans" pitchFamily="34" charset="0"/>
                <a:ea typeface="IBM Plex Sans" pitchFamily="34" charset="-122"/>
                <a:cs typeface="IBM Plex Sans" pitchFamily="34" charset="-120"/>
              </a:rPr>
              <a:t>40 % · sous-utilisé</a:t>
            </a:r>
            <a:endParaRPr lang="en-US" sz="1200" dirty="0"/>
          </a:p>
          <a:p>
            <a:pPr marL="0" indent="0" algn="l">
              <a:lnSpc>
                <a:spcPts val="1560"/>
              </a:lnSpc>
              <a:buNone/>
            </a:pPr>
            <a:r>
              <a:rPr lang="en-US" sz="1200" dirty="0">
                <a:solidFill>
                  <a:srgbClr val="3E4A5C"/>
                </a:solidFill>
                <a:latin typeface="IBM Plex Sans" pitchFamily="34" charset="0"/>
                <a:ea typeface="IBM Plex Sans" pitchFamily="34" charset="-122"/>
                <a:cs typeface="IBM Plex Sans" pitchFamily="34" charset="-120"/>
              </a:rPr>
              <a:t>511 / 1 262 postes</a:t>
            </a:r>
            <a:endParaRPr lang="en-US" sz="1200" dirty="0"/>
          </a:p>
        </p:txBody>
      </p:sp>
      <p:sp>
        <p:nvSpPr>
          <p:cNvPr id="19" name="Text 17"/>
          <p:cNvSpPr/>
          <p:nvPr/>
        </p:nvSpPr>
        <p:spPr>
          <a:xfrm>
            <a:off x="812800" y="3564235"/>
            <a:ext cx="196215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Administration</a:t>
            </a:r>
            <a:endParaRPr lang="en-US" sz="1500" dirty="0"/>
          </a:p>
        </p:txBody>
      </p:sp>
      <p:sp>
        <p:nvSpPr>
          <p:cNvPr id="20" name="Shape 18"/>
          <p:cNvSpPr/>
          <p:nvPr/>
        </p:nvSpPr>
        <p:spPr>
          <a:xfrm>
            <a:off x="2870200" y="3499545"/>
            <a:ext cx="6350000" cy="355600"/>
          </a:xfrm>
          <a:prstGeom prst="rect">
            <a:avLst/>
          </a:prstGeom>
          <a:solidFill>
            <a:srgbClr val="E4E1D8"/>
          </a:solidFill>
          <a:ln/>
        </p:spPr>
        <p:txBody>
          <a:bodyPr/>
          <a:lstStyle/>
          <a:p>
            <a:endParaRPr/>
          </a:p>
        </p:txBody>
      </p:sp>
      <p:sp>
        <p:nvSpPr>
          <p:cNvPr id="21" name="Shape 19"/>
          <p:cNvSpPr/>
          <p:nvPr/>
        </p:nvSpPr>
        <p:spPr>
          <a:xfrm>
            <a:off x="2870200" y="3499545"/>
            <a:ext cx="6350000" cy="355600"/>
          </a:xfrm>
          <a:prstGeom prst="rect">
            <a:avLst/>
          </a:prstGeom>
          <a:solidFill>
            <a:srgbClr val="B4531A"/>
          </a:solidFill>
          <a:ln/>
        </p:spPr>
        <p:txBody>
          <a:bodyPr/>
          <a:lstStyle/>
          <a:p>
            <a:endParaRPr/>
          </a:p>
        </p:txBody>
      </p:sp>
      <p:sp>
        <p:nvSpPr>
          <p:cNvPr id="22" name="Shape 20"/>
          <p:cNvSpPr/>
          <p:nvPr/>
        </p:nvSpPr>
        <p:spPr>
          <a:xfrm>
            <a:off x="6038850" y="3499545"/>
            <a:ext cx="19050" cy="355600"/>
          </a:xfrm>
          <a:prstGeom prst="rect">
            <a:avLst/>
          </a:prstGeom>
          <a:solidFill>
            <a:srgbClr val="14213D"/>
          </a:solidFill>
          <a:ln/>
        </p:spPr>
        <p:txBody>
          <a:bodyPr/>
          <a:lstStyle/>
          <a:p>
            <a:endParaRPr/>
          </a:p>
        </p:txBody>
      </p:sp>
      <p:sp>
        <p:nvSpPr>
          <p:cNvPr id="23" name="Text 21"/>
          <p:cNvSpPr/>
          <p:nvPr/>
        </p:nvSpPr>
        <p:spPr>
          <a:xfrm>
            <a:off x="9372600" y="3499545"/>
            <a:ext cx="1909826" cy="42148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3E4A5C"/>
                </a:solidFill>
                <a:latin typeface="IBM Plex Sans" pitchFamily="34" charset="0"/>
                <a:ea typeface="IBM Plex Sans" pitchFamily="34" charset="-122"/>
                <a:cs typeface="IBM Plex Sans" pitchFamily="34" charset="-120"/>
              </a:rPr>
              <a:t>640 % · hors échelle</a:t>
            </a:r>
            <a:endParaRPr lang="en-US" sz="1200" dirty="0"/>
          </a:p>
          <a:p>
            <a:pPr marL="0" indent="0" algn="l">
              <a:lnSpc>
                <a:spcPts val="1560"/>
              </a:lnSpc>
              <a:buNone/>
            </a:pPr>
            <a:r>
              <a:rPr lang="en-US" sz="1200" dirty="0">
                <a:solidFill>
                  <a:srgbClr val="3E4A5C"/>
                </a:solidFill>
                <a:latin typeface="IBM Plex Sans" pitchFamily="34" charset="0"/>
                <a:ea typeface="IBM Plex Sans" pitchFamily="34" charset="-122"/>
                <a:cs typeface="IBM Plex Sans" pitchFamily="34" charset="-120"/>
              </a:rPr>
              <a:t>1 279 / 200 postes</a:t>
            </a:r>
            <a:endParaRPr lang="en-US" sz="1200" dirty="0"/>
          </a:p>
        </p:txBody>
      </p:sp>
      <p:sp>
        <p:nvSpPr>
          <p:cNvPr id="24" name="Text 22"/>
          <p:cNvSpPr/>
          <p:nvPr/>
        </p:nvSpPr>
        <p:spPr>
          <a:xfrm>
            <a:off x="812800" y="4200426"/>
            <a:ext cx="10883392"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4213D"/>
                </a:solidFill>
                <a:latin typeface="IBM Plex Sans" pitchFamily="34" charset="0"/>
                <a:ea typeface="IBM Plex Sans" pitchFamily="34" charset="-122"/>
                <a:cs typeface="IBM Plex Sans" pitchFamily="34" charset="-120"/>
              </a:rPr>
              <a:t>Trait vertical = 100 % de la capacité. Le référentiel de l'Administration paraît obsolète ; la Communication peut absorber de la charge.</a:t>
            </a:r>
            <a:endParaRPr lang="en-US" sz="1500" dirty="0"/>
          </a:p>
        </p:txBody>
      </p:sp>
      <p:sp>
        <p:nvSpPr>
          <p:cNvPr id="25" name="Text 23"/>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Pilotage RH par la donnée · 07 · </a:t>
            </a:r>
            <a:r>
              <a:rPr lang="en-US" sz="1200" dirty="0">
                <a:solidFill>
                  <a:srgbClr val="2F5DA8"/>
                </a:solidFill>
                <a:latin typeface="IBM Plex Sans" pitchFamily="34" charset="0"/>
                <a:ea typeface="IBM Plex Sans" pitchFamily="34" charset="-122"/>
                <a:cs typeface="IBM Plex Sans" pitchFamily="34" charset="-120"/>
              </a:rPr>
              <a:t>Code : cellule [3], section 2 (tableau « EFFECTIF VS CAPACITÉ », fig01)</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531A"/>
                </a:solidFill>
                <a:latin typeface="IBM Plex Sans" pitchFamily="34" charset="0"/>
                <a:ea typeface="IBM Plex Sans" pitchFamily="34" charset="-122"/>
                <a:cs typeface="IBM Plex Sans" pitchFamily="34" charset="-120"/>
              </a:rPr>
              <a:t>OM1 · PROFIL DES EFFECTIFS</a:t>
            </a:r>
            <a:endParaRPr lang="en-US" sz="1200" dirty="0"/>
          </a:p>
        </p:txBody>
      </p:sp>
      <p:sp>
        <p:nvSpPr>
          <p:cNvPr id="3" name="Text 1"/>
          <p:cNvSpPr/>
          <p:nvPr/>
        </p:nvSpPr>
        <p:spPr>
          <a:xfrm>
            <a:off x="812800" y="11023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4213D"/>
                </a:solidFill>
                <a:latin typeface="Space Grotesk" pitchFamily="34" charset="0"/>
                <a:ea typeface="Space Grotesk" pitchFamily="34" charset="-122"/>
                <a:cs typeface="Space Grotesk" pitchFamily="34" charset="-120"/>
              </a:rPr>
              <a:t>Un effectif jeune et contractuel</a:t>
            </a:r>
            <a:endParaRPr lang="en-US" sz="3200" dirty="0"/>
          </a:p>
        </p:txBody>
      </p:sp>
      <p:sp>
        <p:nvSpPr>
          <p:cNvPr id="4" name="Shape 2"/>
          <p:cNvSpPr/>
          <p:nvPr/>
        </p:nvSpPr>
        <p:spPr>
          <a:xfrm>
            <a:off x="815975" y="1857276"/>
            <a:ext cx="5175250" cy="1794470"/>
          </a:xfrm>
          <a:prstGeom prst="roundRect">
            <a:avLst>
              <a:gd name="adj" fmla="val 5485"/>
            </a:avLst>
          </a:prstGeom>
          <a:solidFill>
            <a:srgbClr val="FDFCFA"/>
          </a:solidFill>
          <a:ln w="6350">
            <a:solidFill>
              <a:srgbClr val="DAD6CC"/>
            </a:solidFill>
            <a:prstDash val="solid"/>
          </a:ln>
        </p:spPr>
        <p:txBody>
          <a:bodyPr/>
          <a:lstStyle/>
          <a:p>
            <a:endParaRPr/>
          </a:p>
        </p:txBody>
      </p:sp>
      <p:sp>
        <p:nvSpPr>
          <p:cNvPr id="5" name="Text 3"/>
          <p:cNvSpPr/>
          <p:nvPr/>
        </p:nvSpPr>
        <p:spPr>
          <a:xfrm>
            <a:off x="1022350" y="2063651"/>
            <a:ext cx="4905375" cy="825500"/>
          </a:xfrm>
          <a:prstGeom prst="rect">
            <a:avLst/>
          </a:prstGeom>
          <a:noFill/>
          <a:ln/>
        </p:spPr>
        <p:txBody>
          <a:bodyPr wrap="square" lIns="0" tIns="0" rIns="0" bIns="0" rtlCol="0" anchor="t">
            <a:normAutofit/>
          </a:bodyPr>
          <a:lstStyle/>
          <a:p>
            <a:pPr marL="0" indent="0" algn="l">
              <a:lnSpc>
                <a:spcPts val="6300"/>
              </a:lnSpc>
              <a:buNone/>
            </a:pPr>
            <a:r>
              <a:rPr lang="en-US" sz="6000" b="1" dirty="0">
                <a:solidFill>
                  <a:srgbClr val="2F5DA8"/>
                </a:solidFill>
                <a:latin typeface="Space Grotesk" pitchFamily="34" charset="0"/>
                <a:ea typeface="Space Grotesk" pitchFamily="34" charset="-122"/>
                <a:cs typeface="Space Grotesk" pitchFamily="34" charset="-120"/>
              </a:rPr>
              <a:t>67 %</a:t>
            </a:r>
            <a:endParaRPr lang="en-US" sz="6000" dirty="0"/>
          </a:p>
        </p:txBody>
      </p:sp>
      <p:sp>
        <p:nvSpPr>
          <p:cNvPr id="6" name="Text 4"/>
          <p:cNvSpPr/>
          <p:nvPr/>
        </p:nvSpPr>
        <p:spPr>
          <a:xfrm>
            <a:off x="1022350" y="2914551"/>
            <a:ext cx="4905375"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de contrats courts chez les techniques</a:t>
            </a:r>
            <a:endParaRPr lang="en-US" sz="1500" dirty="0"/>
          </a:p>
        </p:txBody>
      </p:sp>
      <p:sp>
        <p:nvSpPr>
          <p:cNvPr id="7" name="Text 5"/>
          <p:cNvSpPr/>
          <p:nvPr/>
        </p:nvSpPr>
        <p:spPr>
          <a:xfrm>
            <a:off x="1022350" y="3232051"/>
            <a:ext cx="490537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IBM Plex Sans" pitchFamily="34" charset="0"/>
                <a:ea typeface="IBM Plex Sans" pitchFamily="34" charset="-122"/>
                <a:cs typeface="IBM Plex Sans" pitchFamily="34" charset="-120"/>
              </a:rPr>
              <a:t>CDD 490 + CIVP 484 sur 1 461 · CDI 485</a:t>
            </a:r>
            <a:endParaRPr lang="en-US" sz="1200" dirty="0"/>
          </a:p>
        </p:txBody>
      </p:sp>
      <p:sp>
        <p:nvSpPr>
          <p:cNvPr id="8" name="Shape 6"/>
          <p:cNvSpPr/>
          <p:nvPr/>
        </p:nvSpPr>
        <p:spPr>
          <a:xfrm>
            <a:off x="6200775" y="1857276"/>
            <a:ext cx="5175250" cy="1794470"/>
          </a:xfrm>
          <a:prstGeom prst="roundRect">
            <a:avLst>
              <a:gd name="adj" fmla="val 5485"/>
            </a:avLst>
          </a:prstGeom>
          <a:solidFill>
            <a:srgbClr val="FDFCFA"/>
          </a:solidFill>
          <a:ln w="6350">
            <a:solidFill>
              <a:srgbClr val="DAD6CC"/>
            </a:solidFill>
            <a:prstDash val="solid"/>
          </a:ln>
        </p:spPr>
        <p:txBody>
          <a:bodyPr/>
          <a:lstStyle/>
          <a:p>
            <a:endParaRPr/>
          </a:p>
        </p:txBody>
      </p:sp>
      <p:sp>
        <p:nvSpPr>
          <p:cNvPr id="9" name="Text 7"/>
          <p:cNvSpPr/>
          <p:nvPr/>
        </p:nvSpPr>
        <p:spPr>
          <a:xfrm>
            <a:off x="6407150" y="2063651"/>
            <a:ext cx="4905375" cy="825500"/>
          </a:xfrm>
          <a:prstGeom prst="rect">
            <a:avLst/>
          </a:prstGeom>
          <a:noFill/>
          <a:ln/>
        </p:spPr>
        <p:txBody>
          <a:bodyPr wrap="square" lIns="0" tIns="0" rIns="0" bIns="0" rtlCol="0" anchor="t">
            <a:normAutofit/>
          </a:bodyPr>
          <a:lstStyle/>
          <a:p>
            <a:pPr marL="0" indent="0" algn="l">
              <a:lnSpc>
                <a:spcPts val="6300"/>
              </a:lnSpc>
              <a:buNone/>
            </a:pPr>
            <a:r>
              <a:rPr lang="en-US" sz="6000" b="1" dirty="0">
                <a:solidFill>
                  <a:srgbClr val="2F5DA8"/>
                </a:solidFill>
                <a:latin typeface="Space Grotesk" pitchFamily="34" charset="0"/>
                <a:ea typeface="Space Grotesk" pitchFamily="34" charset="-122"/>
                <a:cs typeface="Space Grotesk" pitchFamily="34" charset="-120"/>
              </a:rPr>
              <a:t>49 %</a:t>
            </a:r>
            <a:endParaRPr lang="en-US" sz="6000" dirty="0"/>
          </a:p>
        </p:txBody>
      </p:sp>
      <p:sp>
        <p:nvSpPr>
          <p:cNvPr id="10" name="Text 8"/>
          <p:cNvSpPr/>
          <p:nvPr/>
        </p:nvSpPr>
        <p:spPr>
          <a:xfrm>
            <a:off x="6407150" y="2914551"/>
            <a:ext cx="4905375"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ont moins d'un an d'ancienneté</a:t>
            </a:r>
            <a:endParaRPr lang="en-US" sz="1500" dirty="0"/>
          </a:p>
        </p:txBody>
      </p:sp>
      <p:sp>
        <p:nvSpPr>
          <p:cNvPr id="11" name="Text 9"/>
          <p:cNvSpPr/>
          <p:nvPr/>
        </p:nvSpPr>
        <p:spPr>
          <a:xfrm>
            <a:off x="6407150" y="3232051"/>
            <a:ext cx="490537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IBM Plex Sans" pitchFamily="34" charset="0"/>
                <a:ea typeface="IBM Plex Sans" pitchFamily="34" charset="-122"/>
                <a:cs typeface="IBM Plex Sans" pitchFamily="34" charset="-120"/>
              </a:rPr>
              <a:t>720 sur 1 461 employés techniques</a:t>
            </a:r>
            <a:endParaRPr lang="en-US" sz="1200" dirty="0"/>
          </a:p>
        </p:txBody>
      </p:sp>
      <p:sp>
        <p:nvSpPr>
          <p:cNvPr id="12" name="Shape 10"/>
          <p:cNvSpPr/>
          <p:nvPr/>
        </p:nvSpPr>
        <p:spPr>
          <a:xfrm>
            <a:off x="815975" y="3861296"/>
            <a:ext cx="5175250" cy="1794470"/>
          </a:xfrm>
          <a:prstGeom prst="roundRect">
            <a:avLst>
              <a:gd name="adj" fmla="val 5485"/>
            </a:avLst>
          </a:prstGeom>
          <a:solidFill>
            <a:srgbClr val="FDFCFA"/>
          </a:solidFill>
          <a:ln w="6350">
            <a:solidFill>
              <a:srgbClr val="DAD6CC"/>
            </a:solidFill>
            <a:prstDash val="solid"/>
          </a:ln>
        </p:spPr>
        <p:txBody>
          <a:bodyPr/>
          <a:lstStyle/>
          <a:p>
            <a:endParaRPr/>
          </a:p>
        </p:txBody>
      </p:sp>
      <p:sp>
        <p:nvSpPr>
          <p:cNvPr id="13" name="Text 11"/>
          <p:cNvSpPr/>
          <p:nvPr/>
        </p:nvSpPr>
        <p:spPr>
          <a:xfrm>
            <a:off x="1022350" y="4067671"/>
            <a:ext cx="4905375" cy="825500"/>
          </a:xfrm>
          <a:prstGeom prst="rect">
            <a:avLst/>
          </a:prstGeom>
          <a:noFill/>
          <a:ln/>
        </p:spPr>
        <p:txBody>
          <a:bodyPr wrap="square" lIns="0" tIns="0" rIns="0" bIns="0" rtlCol="0" anchor="t">
            <a:normAutofit/>
          </a:bodyPr>
          <a:lstStyle/>
          <a:p>
            <a:pPr marL="0" indent="0" algn="l">
              <a:lnSpc>
                <a:spcPts val="6300"/>
              </a:lnSpc>
              <a:buNone/>
            </a:pPr>
            <a:r>
              <a:rPr lang="en-US" sz="6000" b="1" dirty="0">
                <a:solidFill>
                  <a:srgbClr val="2F5DA8"/>
                </a:solidFill>
                <a:latin typeface="Space Grotesk" pitchFamily="34" charset="0"/>
                <a:ea typeface="Space Grotesk" pitchFamily="34" charset="-122"/>
                <a:cs typeface="Space Grotesk" pitchFamily="34" charset="-120"/>
              </a:rPr>
              <a:t>50 / 50</a:t>
            </a:r>
            <a:endParaRPr lang="en-US" sz="6000" dirty="0"/>
          </a:p>
        </p:txBody>
      </p:sp>
      <p:sp>
        <p:nvSpPr>
          <p:cNvPr id="14" name="Text 12"/>
          <p:cNvSpPr/>
          <p:nvPr/>
        </p:nvSpPr>
        <p:spPr>
          <a:xfrm>
            <a:off x="1022350" y="4918571"/>
            <a:ext cx="4905375"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femmes / hommes</a:t>
            </a:r>
            <a:endParaRPr lang="en-US" sz="1500" dirty="0"/>
          </a:p>
        </p:txBody>
      </p:sp>
      <p:sp>
        <p:nvSpPr>
          <p:cNvPr id="15" name="Text 13"/>
          <p:cNvSpPr/>
          <p:nvPr/>
        </p:nvSpPr>
        <p:spPr>
          <a:xfrm>
            <a:off x="1022350" y="5236071"/>
            <a:ext cx="490537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IBM Plex Sans" pitchFamily="34" charset="0"/>
                <a:ea typeface="IBM Plex Sans" pitchFamily="34" charset="-122"/>
                <a:cs typeface="IBM Plex Sans" pitchFamily="34" charset="-120"/>
              </a:rPr>
              <a:t>731 F · 730 H (tech) · 630 F · 649 H (admin)</a:t>
            </a:r>
            <a:endParaRPr lang="en-US" sz="1200" dirty="0"/>
          </a:p>
        </p:txBody>
      </p:sp>
      <p:sp>
        <p:nvSpPr>
          <p:cNvPr id="16" name="Shape 14"/>
          <p:cNvSpPr/>
          <p:nvPr/>
        </p:nvSpPr>
        <p:spPr>
          <a:xfrm>
            <a:off x="6200775" y="3861296"/>
            <a:ext cx="5175250" cy="1794470"/>
          </a:xfrm>
          <a:prstGeom prst="roundRect">
            <a:avLst>
              <a:gd name="adj" fmla="val 5485"/>
            </a:avLst>
          </a:prstGeom>
          <a:solidFill>
            <a:srgbClr val="FDFCFA"/>
          </a:solidFill>
          <a:ln w="6350">
            <a:solidFill>
              <a:srgbClr val="DAD6CC"/>
            </a:solidFill>
            <a:prstDash val="solid"/>
          </a:ln>
        </p:spPr>
        <p:txBody>
          <a:bodyPr/>
          <a:lstStyle/>
          <a:p>
            <a:endParaRPr/>
          </a:p>
        </p:txBody>
      </p:sp>
      <p:sp>
        <p:nvSpPr>
          <p:cNvPr id="17" name="Text 15"/>
          <p:cNvSpPr/>
          <p:nvPr/>
        </p:nvSpPr>
        <p:spPr>
          <a:xfrm>
            <a:off x="6407150" y="4067671"/>
            <a:ext cx="4905375" cy="825500"/>
          </a:xfrm>
          <a:prstGeom prst="rect">
            <a:avLst/>
          </a:prstGeom>
          <a:noFill/>
          <a:ln/>
        </p:spPr>
        <p:txBody>
          <a:bodyPr wrap="square" lIns="0" tIns="0" rIns="0" bIns="0" rtlCol="0" anchor="t">
            <a:normAutofit/>
          </a:bodyPr>
          <a:lstStyle/>
          <a:p>
            <a:pPr marL="0" indent="0" algn="l">
              <a:lnSpc>
                <a:spcPts val="6300"/>
              </a:lnSpc>
              <a:buNone/>
            </a:pPr>
            <a:r>
              <a:rPr lang="en-US" sz="6000" b="1" dirty="0">
                <a:solidFill>
                  <a:srgbClr val="2F5DA8"/>
                </a:solidFill>
                <a:latin typeface="Space Grotesk" pitchFamily="34" charset="0"/>
                <a:ea typeface="Space Grotesk" pitchFamily="34" charset="-122"/>
                <a:cs typeface="Space Grotesk" pitchFamily="34" charset="-120"/>
              </a:rPr>
              <a:t>12 %</a:t>
            </a:r>
            <a:endParaRPr lang="en-US" sz="6000" dirty="0"/>
          </a:p>
        </p:txBody>
      </p:sp>
      <p:sp>
        <p:nvSpPr>
          <p:cNvPr id="18" name="Text 16"/>
          <p:cNvSpPr/>
          <p:nvPr/>
        </p:nvSpPr>
        <p:spPr>
          <a:xfrm>
            <a:off x="6407150" y="4918571"/>
            <a:ext cx="4905375"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recrutés parmi d'anciens vacataires</a:t>
            </a:r>
            <a:endParaRPr lang="en-US" sz="1500" dirty="0"/>
          </a:p>
        </p:txBody>
      </p:sp>
      <p:sp>
        <p:nvSpPr>
          <p:cNvPr id="19" name="Text 17"/>
          <p:cNvSpPr/>
          <p:nvPr/>
        </p:nvSpPr>
        <p:spPr>
          <a:xfrm>
            <a:off x="6407150" y="5236071"/>
            <a:ext cx="490537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IBM Plex Sans" pitchFamily="34" charset="0"/>
                <a:ea typeface="IBM Plex Sans" pitchFamily="34" charset="-122"/>
                <a:cs typeface="IBM Plex Sans" pitchFamily="34" charset="-120"/>
              </a:rPr>
              <a:t>174 sur 1 461 · canal le moins utilisé</a:t>
            </a:r>
            <a:endParaRPr lang="en-US" sz="1200" dirty="0"/>
          </a:p>
        </p:txBody>
      </p:sp>
      <p:sp>
        <p:nvSpPr>
          <p:cNvPr id="20" name="Text 18"/>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Pilotage RH par la donnée · 08 · </a:t>
            </a:r>
            <a:r>
              <a:rPr lang="en-US" sz="1200" dirty="0">
                <a:solidFill>
                  <a:srgbClr val="2F5DA8"/>
                </a:solidFill>
                <a:latin typeface="IBM Plex Sans" pitchFamily="34" charset="0"/>
                <a:ea typeface="IBM Plex Sans" pitchFamily="34" charset="-122"/>
                <a:cs typeface="IBM Plex Sans" pitchFamily="34" charset="-120"/>
              </a:rPr>
              <a:t>Code : cellule [3], section 2 · pourcentages : cellule [9] · genre : cellule [2]</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531A"/>
                </a:solidFill>
                <a:latin typeface="IBM Plex Sans" pitchFamily="34" charset="0"/>
                <a:ea typeface="IBM Plex Sans" pitchFamily="34" charset="-122"/>
                <a:cs typeface="IBM Plex Sans" pitchFamily="34" charset="-120"/>
              </a:rPr>
              <a:t>OM2 · RÉMUNÉRATION</a:t>
            </a:r>
            <a:endParaRPr lang="en-US" sz="1200" dirty="0"/>
          </a:p>
        </p:txBody>
      </p:sp>
      <p:sp>
        <p:nvSpPr>
          <p:cNvPr id="3" name="Text 1"/>
          <p:cNvSpPr/>
          <p:nvPr/>
        </p:nvSpPr>
        <p:spPr>
          <a:xfrm>
            <a:off x="812800" y="11023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4213D"/>
                </a:solidFill>
                <a:latin typeface="Space Grotesk" pitchFamily="34" charset="0"/>
                <a:ea typeface="Space Grotesk" pitchFamily="34" charset="-122"/>
                <a:cs typeface="Space Grotesk" pitchFamily="34" charset="-120"/>
              </a:rPr>
              <a:t>Des salaires homogènes, sans écart femmes-hommes</a:t>
            </a:r>
            <a:endParaRPr lang="en-US" sz="3200" dirty="0"/>
          </a:p>
        </p:txBody>
      </p:sp>
      <p:sp>
        <p:nvSpPr>
          <p:cNvPr id="4" name="Text 2"/>
          <p:cNvSpPr/>
          <p:nvPr/>
        </p:nvSpPr>
        <p:spPr>
          <a:xfrm>
            <a:off x="812800" y="1854101"/>
            <a:ext cx="5232400" cy="594320"/>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2F5DA8"/>
                </a:solidFill>
                <a:latin typeface="Space Grotesk" pitchFamily="34" charset="0"/>
                <a:ea typeface="Space Grotesk" pitchFamily="34" charset="-122"/>
                <a:cs typeface="Space Grotesk" pitchFamily="34" charset="-120"/>
              </a:rPr>
              <a:t>2 765</a:t>
            </a:r>
            <a:endParaRPr lang="en-US" sz="3200" dirty="0"/>
          </a:p>
        </p:txBody>
      </p:sp>
      <p:sp>
        <p:nvSpPr>
          <p:cNvPr id="5" name="Text 3"/>
          <p:cNvSpPr/>
          <p:nvPr/>
        </p:nvSpPr>
        <p:spPr>
          <a:xfrm>
            <a:off x="812800" y="2448421"/>
            <a:ext cx="523240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IBM Plex Sans" pitchFamily="34" charset="0"/>
                <a:ea typeface="IBM Plex Sans" pitchFamily="34" charset="-122"/>
                <a:cs typeface="IBM Plex Sans" pitchFamily="34" charset="-120"/>
              </a:rPr>
              <a:t>salaire médian des permanents techniques (n = 744, Q1 2 456 – Q3 3 119)</a:t>
            </a:r>
            <a:endParaRPr lang="en-US" sz="1200" dirty="0"/>
          </a:p>
        </p:txBody>
      </p:sp>
      <p:sp>
        <p:nvSpPr>
          <p:cNvPr id="6" name="Text 4"/>
          <p:cNvSpPr/>
          <p:nvPr/>
        </p:nvSpPr>
        <p:spPr>
          <a:xfrm>
            <a:off x="812800" y="3078262"/>
            <a:ext cx="5232400" cy="594320"/>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2F5DA8"/>
                </a:solidFill>
                <a:latin typeface="Space Grotesk" pitchFamily="34" charset="0"/>
                <a:ea typeface="Space Grotesk" pitchFamily="34" charset="-122"/>
                <a:cs typeface="Space Grotesk" pitchFamily="34" charset="-120"/>
              </a:rPr>
              <a:t>2 973</a:t>
            </a:r>
            <a:endParaRPr lang="en-US" sz="3200" dirty="0"/>
          </a:p>
        </p:txBody>
      </p:sp>
      <p:sp>
        <p:nvSpPr>
          <p:cNvPr id="7" name="Text 5"/>
          <p:cNvSpPr/>
          <p:nvPr/>
        </p:nvSpPr>
        <p:spPr>
          <a:xfrm>
            <a:off x="812800" y="3672582"/>
            <a:ext cx="52324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IBM Plex Sans" pitchFamily="34" charset="0"/>
                <a:ea typeface="IBM Plex Sans" pitchFamily="34" charset="-122"/>
                <a:cs typeface="IBM Plex Sans" pitchFamily="34" charset="-120"/>
              </a:rPr>
              <a:t>salaire médian des administratifs (n = 1 279, de 902 à 5 000)</a:t>
            </a:r>
            <a:endParaRPr lang="en-US" sz="1200" dirty="0"/>
          </a:p>
        </p:txBody>
      </p:sp>
      <p:sp>
        <p:nvSpPr>
          <p:cNvPr id="8" name="Text 6"/>
          <p:cNvSpPr/>
          <p:nvPr/>
        </p:nvSpPr>
        <p:spPr>
          <a:xfrm>
            <a:off x="812800" y="4089102"/>
            <a:ext cx="5232400" cy="594320"/>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2F5DA8"/>
                </a:solidFill>
                <a:latin typeface="Space Grotesk" pitchFamily="34" charset="0"/>
                <a:ea typeface="Space Grotesk" pitchFamily="34" charset="-122"/>
                <a:cs typeface="Space Grotesk" pitchFamily="34" charset="-120"/>
              </a:rPr>
              <a:t>0,2 %</a:t>
            </a:r>
            <a:endParaRPr lang="en-US" sz="3200" dirty="0"/>
          </a:p>
        </p:txBody>
      </p:sp>
      <p:sp>
        <p:nvSpPr>
          <p:cNvPr id="9" name="Text 7"/>
          <p:cNvSpPr/>
          <p:nvPr/>
        </p:nvSpPr>
        <p:spPr>
          <a:xfrm>
            <a:off x="812800" y="4683423"/>
            <a:ext cx="523240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IBM Plex Sans" pitchFamily="34" charset="0"/>
                <a:ea typeface="IBM Plex Sans" pitchFamily="34" charset="-122"/>
                <a:cs typeface="IBM Plex Sans" pitchFamily="34" charset="-120"/>
              </a:rPr>
              <a:t>écart médian hommes-femmes chez les techniques (0,6 % chez les administratifs)</a:t>
            </a:r>
            <a:endParaRPr lang="en-US" sz="1200" dirty="0"/>
          </a:p>
        </p:txBody>
      </p:sp>
      <p:sp>
        <p:nvSpPr>
          <p:cNvPr id="10" name="Shape 8"/>
          <p:cNvSpPr/>
          <p:nvPr/>
        </p:nvSpPr>
        <p:spPr>
          <a:xfrm>
            <a:off x="6302375" y="1857276"/>
            <a:ext cx="5073650" cy="3330178"/>
          </a:xfrm>
          <a:prstGeom prst="roundRect">
            <a:avLst>
              <a:gd name="adj" fmla="val 2956"/>
            </a:avLst>
          </a:prstGeom>
          <a:solidFill>
            <a:srgbClr val="FDFCFA"/>
          </a:solidFill>
          <a:ln w="6350">
            <a:solidFill>
              <a:srgbClr val="DAD6CC"/>
            </a:solidFill>
            <a:prstDash val="solid"/>
          </a:ln>
        </p:spPr>
        <p:txBody>
          <a:bodyPr/>
          <a:lstStyle/>
          <a:p>
            <a:endParaRPr/>
          </a:p>
        </p:txBody>
      </p:sp>
      <p:sp>
        <p:nvSpPr>
          <p:cNvPr id="11" name="Text 9"/>
          <p:cNvSpPr/>
          <p:nvPr/>
        </p:nvSpPr>
        <p:spPr>
          <a:xfrm>
            <a:off x="6508750" y="2063651"/>
            <a:ext cx="4800727"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Space Grotesk" pitchFamily="34" charset="0"/>
                <a:ea typeface="Space Grotesk" pitchFamily="34" charset="-122"/>
                <a:cs typeface="Space Grotesk" pitchFamily="34" charset="-120"/>
              </a:rPr>
              <a:t>Coût mensuel estimé (unités monétaires)</a:t>
            </a:r>
            <a:endParaRPr lang="en-US" sz="15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521450" y="2431951"/>
          <a:ext cx="4648200" cy="1995486"/>
        </p:xfrm>
        <a:graphic>
          <a:graphicData uri="http://schemas.openxmlformats.org/drawingml/2006/table">
            <a:tbl>
              <a:tblPr/>
              <a:tblGrid>
                <a:gridCol w="3021330">
                  <a:extLst>
                    <a:ext uri="{9D8B030D-6E8A-4147-A177-3AD203B41FA5}">
                      <a16:colId xmlns:a16="http://schemas.microsoft.com/office/drawing/2014/main" val="20000"/>
                    </a:ext>
                  </a:extLst>
                </a:gridCol>
                <a:gridCol w="1626870">
                  <a:extLst>
                    <a:ext uri="{9D8B030D-6E8A-4147-A177-3AD203B41FA5}">
                      <a16:colId xmlns:a16="http://schemas.microsoft.com/office/drawing/2014/main" val="20001"/>
                    </a:ext>
                  </a:extLst>
                </a:gridCol>
              </a:tblGrid>
              <a:tr h="332581">
                <a:tc>
                  <a:txBody>
                    <a:bodyPr/>
                    <a:lstStyle/>
                    <a:p>
                      <a:pPr marL="0" indent="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Poste</a:t>
                      </a:r>
                      <a:endParaRPr lang="en-US" sz="1200" dirty="0">
                        <a:latin typeface="IBM Plex Sans" charset="0"/>
                        <a:ea typeface="IBM Plex Sans" charset="0"/>
                        <a:cs typeface="IBM Plex Sans" charset="0"/>
                      </a:endParaRPr>
                    </a:p>
                  </a:txBody>
                  <a:tcPr marL="53340" marR="53340" marT="53340" marB="53340">
                    <a:lnL w="12700" cap="flat" cmpd="sng" algn="ctr">
                      <a:solidFill>
                        <a:srgbClr val="CAC9C7"/>
                      </a:solidFill>
                      <a:prstDash val="solid"/>
                      <a:round/>
                      <a:headEnd type="none" w="med" len="med"/>
                      <a:tailEnd type="none" w="med" len="med"/>
                    </a:lnL>
                    <a:lnR w="12700" cap="flat" cmpd="sng" algn="ctr">
                      <a:solidFill>
                        <a:srgbClr val="BBBA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BBBAB9"/>
                      </a:solidFill>
                      <a:prstDash val="solid"/>
                      <a:round/>
                      <a:headEnd type="none" w="med" len="med"/>
                      <a:tailEnd type="none" w="med" len="med"/>
                    </a:lnB>
                    <a:solidFill>
                      <a:srgbClr val="EAE9E8"/>
                    </a:solidFill>
                  </a:tcPr>
                </a:tc>
                <a:tc>
                  <a:txBody>
                    <a:bodyPr/>
                    <a:lstStyle/>
                    <a:p>
                      <a:pPr marL="0" indent="0" algn="r">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Montant</a:t>
                      </a:r>
                      <a:endParaRPr lang="en-US" sz="1200" dirty="0">
                        <a:latin typeface="IBM Plex Sans" charset="0"/>
                        <a:ea typeface="IBM Plex Sans" charset="0"/>
                        <a:cs typeface="IBM Plex Sans" charset="0"/>
                      </a:endParaRPr>
                    </a:p>
                  </a:txBody>
                  <a:tcPr marL="53340" marR="53340" marT="53340" marB="53340">
                    <a:lnL w="12700" cap="flat" cmpd="sng" algn="ctr">
                      <a:solidFill>
                        <a:srgbClr val="BBBAB9"/>
                      </a:solidFill>
                      <a:prstDash val="solid"/>
                      <a:round/>
                      <a:headEnd type="none" w="med" len="med"/>
                      <a:tailEnd type="none" w="med" len="med"/>
                    </a:lnL>
                    <a:lnR w="12700" cap="flat" cmpd="sng" algn="ctr">
                      <a:solidFill>
                        <a:srgbClr val="BBBA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BBBAB9"/>
                      </a:solidFill>
                      <a:prstDash val="solid"/>
                      <a:round/>
                      <a:headEnd type="none" w="med" len="med"/>
                      <a:tailEnd type="none" w="med" len="med"/>
                    </a:lnB>
                    <a:solidFill>
                      <a:srgbClr val="EAE9E8"/>
                    </a:solidFill>
                  </a:tcPr>
                </a:tc>
                <a:extLst>
                  <a:ext uri="{0D108BD9-81ED-4DB2-BD59-A6C34878D82A}">
                    <a16:rowId xmlns:a16="http://schemas.microsoft.com/office/drawing/2014/main" val="10000"/>
                  </a:ext>
                </a:extLst>
              </a:tr>
              <a:tr h="332581">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Salaires permanents techniques</a:t>
                      </a:r>
                      <a:endParaRPr lang="en-US" sz="1200" dirty="0">
                        <a:latin typeface="IBM Plex Sans" charset="0"/>
                        <a:ea typeface="IBM Plex Sans" charset="0"/>
                        <a:cs typeface="IBM Plex Sans" charset="0"/>
                      </a:endParaRPr>
                    </a:p>
                  </a:txBody>
                  <a:tcPr marL="53340" marR="53340" marT="53340" marB="53340">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BBBAB9"/>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gn="r">
                        <a:lnSpc>
                          <a:spcPts val="1680"/>
                        </a:lnSpc>
                        <a:buNone/>
                      </a:pPr>
                      <a:r>
                        <a:rPr lang="en-US" sz="1200" dirty="0">
                          <a:solidFill>
                            <a:srgbClr val="14213D"/>
                          </a:solidFill>
                          <a:latin typeface="IBM Plex Sans" pitchFamily="34" charset="0"/>
                          <a:ea typeface="IBM Plex Sans" pitchFamily="34" charset="-122"/>
                          <a:cs typeface="IBM Plex Sans" pitchFamily="34" charset="-120"/>
                        </a:rPr>
                        <a:t>2 075 982</a:t>
                      </a:r>
                      <a:endParaRPr lang="en-US" sz="1200" dirty="0">
                        <a:latin typeface="IBM Plex Sans" charset="0"/>
                        <a:ea typeface="IBM Plex Sans" charset="0"/>
                        <a:cs typeface="IBM Plex Sans" charset="0"/>
                      </a:endParaRPr>
                    </a:p>
                  </a:txBody>
                  <a:tcPr marL="53340" marR="53340" marT="53340" marB="53340">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BBBAB9"/>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extLst>
                  <a:ext uri="{0D108BD9-81ED-4DB2-BD59-A6C34878D82A}">
                    <a16:rowId xmlns:a16="http://schemas.microsoft.com/office/drawing/2014/main" val="10001"/>
                  </a:ext>
                </a:extLst>
              </a:tr>
              <a:tr h="332581">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Salaires administratifs</a:t>
                      </a:r>
                      <a:endParaRPr lang="en-US" sz="1200" dirty="0">
                        <a:latin typeface="IBM Plex Sans" charset="0"/>
                        <a:ea typeface="IBM Plex Sans" charset="0"/>
                        <a:cs typeface="IBM Plex Sans" charset="0"/>
                      </a:endParaRPr>
                    </a:p>
                  </a:txBody>
                  <a:tcPr marL="53340" marR="53340" marT="53340" marB="53340">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gn="r">
                        <a:lnSpc>
                          <a:spcPts val="1680"/>
                        </a:lnSpc>
                        <a:buNone/>
                      </a:pPr>
                      <a:r>
                        <a:rPr lang="en-US" sz="1200" dirty="0">
                          <a:solidFill>
                            <a:srgbClr val="14213D"/>
                          </a:solidFill>
                          <a:latin typeface="IBM Plex Sans" pitchFamily="34" charset="0"/>
                          <a:ea typeface="IBM Plex Sans" pitchFamily="34" charset="-122"/>
                          <a:cs typeface="IBM Plex Sans" pitchFamily="34" charset="-120"/>
                        </a:rPr>
                        <a:t>3 765 752</a:t>
                      </a:r>
                      <a:endParaRPr lang="en-US" sz="1200" dirty="0">
                        <a:latin typeface="IBM Plex Sans" charset="0"/>
                        <a:ea typeface="IBM Plex Sans" charset="0"/>
                        <a:cs typeface="IBM Plex Sans" charset="0"/>
                      </a:endParaRPr>
                    </a:p>
                  </a:txBody>
                  <a:tcPr marL="53340" marR="53340" marT="53340" marB="53340">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extLst>
                  <a:ext uri="{0D108BD9-81ED-4DB2-BD59-A6C34878D82A}">
                    <a16:rowId xmlns:a16="http://schemas.microsoft.com/office/drawing/2014/main" val="10002"/>
                  </a:ext>
                </a:extLst>
              </a:tr>
              <a:tr h="332581">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Vacataires (heures × 35)</a:t>
                      </a:r>
                      <a:endParaRPr lang="en-US" sz="1200" dirty="0">
                        <a:latin typeface="IBM Plex Sans" charset="0"/>
                        <a:ea typeface="IBM Plex Sans" charset="0"/>
                        <a:cs typeface="IBM Plex Sans" charset="0"/>
                      </a:endParaRPr>
                    </a:p>
                  </a:txBody>
                  <a:tcPr marL="53340" marR="53340" marT="53340" marB="53340">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gn="r">
                        <a:lnSpc>
                          <a:spcPts val="1680"/>
                        </a:lnSpc>
                        <a:buNone/>
                      </a:pPr>
                      <a:r>
                        <a:rPr lang="en-US" sz="1200" dirty="0">
                          <a:solidFill>
                            <a:srgbClr val="14213D"/>
                          </a:solidFill>
                          <a:latin typeface="IBM Plex Sans" pitchFamily="34" charset="0"/>
                          <a:ea typeface="IBM Plex Sans" pitchFamily="34" charset="-122"/>
                          <a:cs typeface="IBM Plex Sans" pitchFamily="34" charset="-120"/>
                        </a:rPr>
                        <a:t>2 629 935</a:t>
                      </a:r>
                      <a:endParaRPr lang="en-US" sz="1200" dirty="0">
                        <a:latin typeface="IBM Plex Sans" charset="0"/>
                        <a:ea typeface="IBM Plex Sans" charset="0"/>
                        <a:cs typeface="IBM Plex Sans" charset="0"/>
                      </a:endParaRPr>
                    </a:p>
                  </a:txBody>
                  <a:tcPr marL="53340" marR="53340" marT="53340" marB="53340">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extLst>
                  <a:ext uri="{0D108BD9-81ED-4DB2-BD59-A6C34878D82A}">
                    <a16:rowId xmlns:a16="http://schemas.microsoft.com/office/drawing/2014/main" val="10003"/>
                  </a:ext>
                </a:extLst>
              </a:tr>
              <a:tr h="332581">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Heures sup admin (heures × 22)</a:t>
                      </a:r>
                      <a:endParaRPr lang="en-US" sz="1200" dirty="0">
                        <a:latin typeface="IBM Plex Sans" charset="0"/>
                        <a:ea typeface="IBM Plex Sans" charset="0"/>
                        <a:cs typeface="IBM Plex Sans" charset="0"/>
                      </a:endParaRPr>
                    </a:p>
                  </a:txBody>
                  <a:tcPr marL="53340" marR="53340" marT="53340" marB="53340">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gn="r">
                        <a:lnSpc>
                          <a:spcPts val="1680"/>
                        </a:lnSpc>
                        <a:buNone/>
                      </a:pPr>
                      <a:r>
                        <a:rPr lang="en-US" sz="1200" dirty="0">
                          <a:solidFill>
                            <a:srgbClr val="14213D"/>
                          </a:solidFill>
                          <a:latin typeface="IBM Plex Sans" pitchFamily="34" charset="0"/>
                          <a:ea typeface="IBM Plex Sans" pitchFamily="34" charset="-122"/>
                          <a:cs typeface="IBM Plex Sans" pitchFamily="34" charset="-120"/>
                        </a:rPr>
                        <a:t>2 860 022</a:t>
                      </a:r>
                      <a:endParaRPr lang="en-US" sz="1200" dirty="0">
                        <a:latin typeface="IBM Plex Sans" charset="0"/>
                        <a:ea typeface="IBM Plex Sans" charset="0"/>
                        <a:cs typeface="IBM Plex Sans" charset="0"/>
                      </a:endParaRPr>
                    </a:p>
                  </a:txBody>
                  <a:tcPr marL="53340" marR="53340" marT="53340" marB="53340">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extLst>
                  <a:ext uri="{0D108BD9-81ED-4DB2-BD59-A6C34878D82A}">
                    <a16:rowId xmlns:a16="http://schemas.microsoft.com/office/drawing/2014/main" val="10004"/>
                  </a:ext>
                </a:extLst>
              </a:tr>
              <a:tr h="332581">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Total</a:t>
                      </a:r>
                      <a:endParaRPr lang="en-US" sz="1200" dirty="0">
                        <a:latin typeface="IBM Plex Sans" charset="0"/>
                        <a:ea typeface="IBM Plex Sans" charset="0"/>
                        <a:cs typeface="IBM Plex Sans" charset="0"/>
                      </a:endParaRPr>
                    </a:p>
                  </a:txBody>
                  <a:tcPr marL="53340" marR="53340" marT="53340" marB="53340">
                    <a:lnL w="12700" cap="flat" cmpd="sng" algn="ctr">
                      <a:solidFill>
                        <a:srgbClr val="CAC9C7"/>
                      </a:solidFill>
                      <a:prstDash val="solid"/>
                      <a:round/>
                      <a:headEnd type="none" w="med" len="med"/>
                      <a:tailEnd type="none" w="med" len="med"/>
                    </a:lnL>
                    <a:lnR w="12700" cap="flat" cmpd="sng" algn="ctr">
                      <a:solidFill>
                        <a:srgbClr val="BCBBB5"/>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BCBBB5"/>
                      </a:solidFill>
                      <a:prstDash val="solid"/>
                      <a:round/>
                      <a:headEnd type="none" w="med" len="med"/>
                      <a:tailEnd type="none" w="med" len="med"/>
                    </a:lnB>
                    <a:solidFill>
                      <a:srgbClr val="ECEAE3"/>
                    </a:solidFill>
                  </a:tcPr>
                </a:tc>
                <a:tc>
                  <a:txBody>
                    <a:bodyPr/>
                    <a:lstStyle/>
                    <a:p>
                      <a:pPr marL="0" indent="0" algn="r">
                        <a:lnSpc>
                          <a:spcPts val="1680"/>
                        </a:lnSpc>
                        <a:buNone/>
                      </a:pPr>
                      <a:r>
                        <a:rPr lang="en-US" sz="1200" dirty="0">
                          <a:solidFill>
                            <a:srgbClr val="14213D"/>
                          </a:solidFill>
                          <a:latin typeface="IBM Plex Sans" pitchFamily="34" charset="0"/>
                          <a:ea typeface="IBM Plex Sans" pitchFamily="34" charset="-122"/>
                          <a:cs typeface="IBM Plex Sans" pitchFamily="34" charset="-120"/>
                        </a:rPr>
                        <a:t>≈ 11,3 M</a:t>
                      </a:r>
                      <a:endParaRPr lang="en-US" sz="1200" dirty="0">
                        <a:latin typeface="IBM Plex Sans" charset="0"/>
                        <a:ea typeface="IBM Plex Sans" charset="0"/>
                        <a:cs typeface="IBM Plex Sans" charset="0"/>
                      </a:endParaRPr>
                    </a:p>
                  </a:txBody>
                  <a:tcPr marL="53340" marR="53340" marT="53340" marB="53340">
                    <a:lnL w="12700" cap="flat" cmpd="sng" algn="ctr">
                      <a:solidFill>
                        <a:srgbClr val="BCBBB5"/>
                      </a:solidFill>
                      <a:prstDash val="solid"/>
                      <a:round/>
                      <a:headEnd type="none" w="med" len="med"/>
                      <a:tailEnd type="none" w="med" len="med"/>
                    </a:lnL>
                    <a:lnR w="12700" cap="flat" cmpd="sng" algn="ctr">
                      <a:solidFill>
                        <a:srgbClr val="BCBBB5"/>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BCBBB5"/>
                      </a:solidFill>
                      <a:prstDash val="solid"/>
                      <a:round/>
                      <a:headEnd type="none" w="med" len="med"/>
                      <a:tailEnd type="none" w="med" len="med"/>
                    </a:lnB>
                    <a:solidFill>
                      <a:srgbClr val="ECEAE3"/>
                    </a:solidFill>
                  </a:tcPr>
                </a:tc>
                <a:extLst>
                  <a:ext uri="{0D108BD9-81ED-4DB2-BD59-A6C34878D82A}">
                    <a16:rowId xmlns:a16="http://schemas.microsoft.com/office/drawing/2014/main" val="10005"/>
                  </a:ext>
                </a:extLst>
              </a:tr>
            </a:tbl>
          </a:graphicData>
        </a:graphic>
      </p:graphicFrame>
      <p:sp>
        <p:nvSpPr>
          <p:cNvPr id="13" name="Text 10"/>
          <p:cNvSpPr/>
          <p:nvPr/>
        </p:nvSpPr>
        <p:spPr>
          <a:xfrm>
            <a:off x="6508750" y="4554438"/>
            <a:ext cx="4800727" cy="5943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IBM Plex Sans" pitchFamily="34" charset="0"/>
                <a:ea typeface="IBM Plex Sans" pitchFamily="34" charset="-122"/>
                <a:cs typeface="IBM Plex Sans" pitchFamily="34" charset="-120"/>
              </a:rPr>
              <a:t>Hypothèse : HOURS et extra_hour mensuels, devise non précisée. Heures sup des techniques permanents (25 €/h) non chiffrées.</a:t>
            </a:r>
            <a:endParaRPr lang="en-US" sz="1200" dirty="0"/>
          </a:p>
        </p:txBody>
      </p:sp>
      <p:sp>
        <p:nvSpPr>
          <p:cNvPr id="14" name="Text 11"/>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Pilotage RH par la donnée · 09 · </a:t>
            </a:r>
            <a:r>
              <a:rPr lang="en-US" sz="1200" dirty="0">
                <a:solidFill>
                  <a:srgbClr val="2F5DA8"/>
                </a:solidFill>
                <a:latin typeface="IBM Plex Sans" pitchFamily="34" charset="0"/>
                <a:ea typeface="IBM Plex Sans" pitchFamily="34" charset="-122"/>
                <a:cs typeface="IBM Plex Sans" pitchFamily="34" charset="-120"/>
              </a:rPr>
              <a:t>Code : cellule [4], section 3 (coût mensuel) · médiane et écart admin : cellule [10]</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531A"/>
                </a:solidFill>
                <a:latin typeface="IBM Plex Sans" pitchFamily="34" charset="0"/>
                <a:ea typeface="IBM Plex Sans" pitchFamily="34" charset="-122"/>
                <a:cs typeface="IBM Plex Sans" pitchFamily="34" charset="-120"/>
              </a:rPr>
              <a:t>OM3 · ASSIDUITÉ</a:t>
            </a:r>
            <a:endParaRPr lang="en-US" sz="1200" dirty="0"/>
          </a:p>
        </p:txBody>
      </p:sp>
      <p:sp>
        <p:nvSpPr>
          <p:cNvPr id="3" name="Text 1"/>
          <p:cNvSpPr/>
          <p:nvPr/>
        </p:nvSpPr>
        <p:spPr>
          <a:xfrm>
            <a:off x="812800" y="1102320"/>
            <a:ext cx="10883392" cy="919361"/>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4213D"/>
                </a:solidFill>
                <a:latin typeface="Space Grotesk" pitchFamily="34" charset="0"/>
                <a:ea typeface="Space Grotesk" pitchFamily="34" charset="-122"/>
                <a:cs typeface="Space Grotesk" pitchFamily="34" charset="-120"/>
              </a:rPr>
              <a:t>L'Administration travaille moins en moyenne, mais plus irrégulièrement</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313781"/>
          <a:ext cx="10553700" cy="1796355"/>
        </p:xfrm>
        <a:graphic>
          <a:graphicData uri="http://schemas.openxmlformats.org/drawingml/2006/table">
            <a:tbl>
              <a:tblPr/>
              <a:tblGrid>
                <a:gridCol w="3271647">
                  <a:extLst>
                    <a:ext uri="{9D8B030D-6E8A-4147-A177-3AD203B41FA5}">
                      <a16:colId xmlns:a16="http://schemas.microsoft.com/office/drawing/2014/main" val="20000"/>
                    </a:ext>
                  </a:extLst>
                </a:gridCol>
                <a:gridCol w="2427351">
                  <a:extLst>
                    <a:ext uri="{9D8B030D-6E8A-4147-A177-3AD203B41FA5}">
                      <a16:colId xmlns:a16="http://schemas.microsoft.com/office/drawing/2014/main" val="20001"/>
                    </a:ext>
                  </a:extLst>
                </a:gridCol>
                <a:gridCol w="2427351">
                  <a:extLst>
                    <a:ext uri="{9D8B030D-6E8A-4147-A177-3AD203B41FA5}">
                      <a16:colId xmlns:a16="http://schemas.microsoft.com/office/drawing/2014/main" val="20002"/>
                    </a:ext>
                  </a:extLst>
                </a:gridCol>
                <a:gridCol w="2427351">
                  <a:extLst>
                    <a:ext uri="{9D8B030D-6E8A-4147-A177-3AD203B41FA5}">
                      <a16:colId xmlns:a16="http://schemas.microsoft.com/office/drawing/2014/main" val="20003"/>
                    </a:ext>
                  </a:extLst>
                </a:gridCol>
              </a:tblGrid>
              <a:tr h="359271">
                <a:tc>
                  <a:txBody>
                    <a:bodyPr/>
                    <a:lstStyle/>
                    <a:p>
                      <a:pPr marL="0" indent="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Département</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marL="0" indent="0" algn="r">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Heures / jour</a:t>
                      </a:r>
                      <a:endParaRPr lang="en-US" sz="1300" dirty="0">
                        <a:latin typeface="IBM Plex Sans" charset="0"/>
                        <a:ea typeface="IBM Plex Sans" charset="0"/>
                        <a:cs typeface="IBM Plex Sans" charset="0"/>
                      </a:endParaRPr>
                    </a:p>
                  </a:txBody>
                  <a:tcPr marL="57785" marR="57785" marT="57785" marB="57785">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marL="0" indent="0" algn="r">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Arrivées après 8h30</a:t>
                      </a:r>
                      <a:endParaRPr lang="en-US" sz="1300" dirty="0">
                        <a:latin typeface="IBM Plex Sans" charset="0"/>
                        <a:ea typeface="IBM Plex Sans" charset="0"/>
                        <a:cs typeface="IBM Plex Sans" charset="0"/>
                      </a:endParaRPr>
                    </a:p>
                  </a:txBody>
                  <a:tcPr marL="57785" marR="57785" marT="57785" marB="57785">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marL="0" indent="0" algn="r">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Jours &gt; 8 h</a:t>
                      </a:r>
                      <a:endParaRPr lang="en-US" sz="1300" dirty="0">
                        <a:latin typeface="IBM Plex Sans" charset="0"/>
                        <a:ea typeface="IBM Plex Sans" charset="0"/>
                        <a:cs typeface="IBM Plex Sans" charset="0"/>
                      </a:endParaRPr>
                    </a:p>
                  </a:txBody>
                  <a:tcPr marL="57785" marR="57785" marT="57785" marB="57785">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extLst>
                  <a:ext uri="{0D108BD9-81ED-4DB2-BD59-A6C34878D82A}">
                    <a16:rowId xmlns:a16="http://schemas.microsoft.com/office/drawing/2014/main" val="10000"/>
                  </a:ext>
                </a:extLst>
              </a:tr>
              <a:tr h="359271">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Informatique</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1820"/>
                        </a:lnSpc>
                        <a:buNone/>
                      </a:pPr>
                      <a:r>
                        <a:rPr lang="en-US" sz="1300" dirty="0">
                          <a:solidFill>
                            <a:srgbClr val="14213D"/>
                          </a:solidFill>
                          <a:latin typeface="IBM Plex Sans" pitchFamily="34" charset="0"/>
                          <a:ea typeface="IBM Plex Sans" pitchFamily="34" charset="-122"/>
                          <a:cs typeface="IBM Plex Sans" pitchFamily="34" charset="-120"/>
                        </a:rPr>
                        <a:t>6,50</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1820"/>
                        </a:lnSpc>
                        <a:buNone/>
                      </a:pPr>
                      <a:r>
                        <a:rPr lang="en-US" sz="1300" dirty="0">
                          <a:solidFill>
                            <a:srgbClr val="14213D"/>
                          </a:solidFill>
                          <a:latin typeface="IBM Plex Sans" pitchFamily="34" charset="0"/>
                          <a:ea typeface="IBM Plex Sans" pitchFamily="34" charset="-122"/>
                          <a:cs typeface="IBM Plex Sans" pitchFamily="34" charset="-120"/>
                        </a:rPr>
                        <a:t>49,2 %</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1820"/>
                        </a:lnSpc>
                        <a:buNone/>
                      </a:pPr>
                      <a:r>
                        <a:rPr lang="en-US" sz="1300" dirty="0">
                          <a:solidFill>
                            <a:srgbClr val="14213D"/>
                          </a:solidFill>
                          <a:latin typeface="IBM Plex Sans" pitchFamily="34" charset="0"/>
                          <a:ea typeface="IBM Plex Sans" pitchFamily="34" charset="-122"/>
                          <a:cs typeface="IBM Plex Sans" pitchFamily="34" charset="-120"/>
                        </a:rPr>
                        <a:t>2,2 %</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1"/>
                  </a:ext>
                </a:extLst>
              </a:tr>
              <a:tr h="359271">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Télécom</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1820"/>
                        </a:lnSpc>
                        <a:buNone/>
                      </a:pPr>
                      <a:r>
                        <a:rPr lang="en-US" sz="1300" dirty="0">
                          <a:solidFill>
                            <a:srgbClr val="14213D"/>
                          </a:solidFill>
                          <a:latin typeface="IBM Plex Sans" pitchFamily="34" charset="0"/>
                          <a:ea typeface="IBM Plex Sans" pitchFamily="34" charset="-122"/>
                          <a:cs typeface="IBM Plex Sans" pitchFamily="34" charset="-120"/>
                        </a:rPr>
                        <a:t>6,50</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1820"/>
                        </a:lnSpc>
                        <a:buNone/>
                      </a:pPr>
                      <a:r>
                        <a:rPr lang="en-US" sz="1300" dirty="0">
                          <a:solidFill>
                            <a:srgbClr val="14213D"/>
                          </a:solidFill>
                          <a:latin typeface="IBM Plex Sans" pitchFamily="34" charset="0"/>
                          <a:ea typeface="IBM Plex Sans" pitchFamily="34" charset="-122"/>
                          <a:cs typeface="IBM Plex Sans" pitchFamily="34" charset="-120"/>
                        </a:rPr>
                        <a:t>49,2 %</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1820"/>
                        </a:lnSpc>
                        <a:buNone/>
                      </a:pPr>
                      <a:r>
                        <a:rPr lang="en-US" sz="1300" dirty="0">
                          <a:solidFill>
                            <a:srgbClr val="14213D"/>
                          </a:solidFill>
                          <a:latin typeface="IBM Plex Sans" pitchFamily="34" charset="0"/>
                          <a:ea typeface="IBM Plex Sans" pitchFamily="34" charset="-122"/>
                          <a:cs typeface="IBM Plex Sans" pitchFamily="34" charset="-120"/>
                        </a:rPr>
                        <a:t>2,2 %</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2"/>
                  </a:ext>
                </a:extLst>
              </a:tr>
              <a:tr h="359271">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Communication</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1820"/>
                        </a:lnSpc>
                        <a:buNone/>
                      </a:pPr>
                      <a:r>
                        <a:rPr lang="en-US" sz="1300" dirty="0">
                          <a:solidFill>
                            <a:srgbClr val="14213D"/>
                          </a:solidFill>
                          <a:latin typeface="IBM Plex Sans" pitchFamily="34" charset="0"/>
                          <a:ea typeface="IBM Plex Sans" pitchFamily="34" charset="-122"/>
                          <a:cs typeface="IBM Plex Sans" pitchFamily="34" charset="-120"/>
                        </a:rPr>
                        <a:t>6,50</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1820"/>
                        </a:lnSpc>
                        <a:buNone/>
                      </a:pPr>
                      <a:r>
                        <a:rPr lang="en-US" sz="1300" dirty="0">
                          <a:solidFill>
                            <a:srgbClr val="14213D"/>
                          </a:solidFill>
                          <a:latin typeface="IBM Plex Sans" pitchFamily="34" charset="0"/>
                          <a:ea typeface="IBM Plex Sans" pitchFamily="34" charset="-122"/>
                          <a:cs typeface="IBM Plex Sans" pitchFamily="34" charset="-120"/>
                        </a:rPr>
                        <a:t>48,8 %</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1820"/>
                        </a:lnSpc>
                        <a:buNone/>
                      </a:pPr>
                      <a:r>
                        <a:rPr lang="en-US" sz="1300" dirty="0">
                          <a:solidFill>
                            <a:srgbClr val="14213D"/>
                          </a:solidFill>
                          <a:latin typeface="IBM Plex Sans" pitchFamily="34" charset="0"/>
                          <a:ea typeface="IBM Plex Sans" pitchFamily="34" charset="-122"/>
                          <a:cs typeface="IBM Plex Sans" pitchFamily="34" charset="-120"/>
                        </a:rPr>
                        <a:t>2,1 %</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3"/>
                  </a:ext>
                </a:extLst>
              </a:tr>
              <a:tr h="359271">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Administration</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marL="0" indent="0" algn="r">
                        <a:lnSpc>
                          <a:spcPts val="1820"/>
                        </a:lnSpc>
                        <a:buNone/>
                      </a:pPr>
                      <a:r>
                        <a:rPr lang="en-US" sz="1300" dirty="0">
                          <a:solidFill>
                            <a:srgbClr val="14213D"/>
                          </a:solidFill>
                          <a:latin typeface="IBM Plex Sans" pitchFamily="34" charset="0"/>
                          <a:ea typeface="IBM Plex Sans" pitchFamily="34" charset="-122"/>
                          <a:cs typeface="IBM Plex Sans" pitchFamily="34" charset="-120"/>
                        </a:rPr>
                        <a:t>5,99</a:t>
                      </a:r>
                      <a:endParaRPr lang="en-US" sz="1300" dirty="0">
                        <a:latin typeface="IBM Plex Sans" charset="0"/>
                        <a:ea typeface="IBM Plex Sans" charset="0"/>
                        <a:cs typeface="IBM Plex Sans" charset="0"/>
                      </a:endParaRPr>
                    </a:p>
                  </a:txBody>
                  <a:tcPr marL="57785" marR="57785" marT="57785" marB="57785">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marL="0" indent="0" algn="r">
                        <a:lnSpc>
                          <a:spcPts val="1820"/>
                        </a:lnSpc>
                        <a:buNone/>
                      </a:pPr>
                      <a:r>
                        <a:rPr lang="en-US" sz="1300" dirty="0">
                          <a:solidFill>
                            <a:srgbClr val="14213D"/>
                          </a:solidFill>
                          <a:latin typeface="IBM Plex Sans" pitchFamily="34" charset="0"/>
                          <a:ea typeface="IBM Plex Sans" pitchFamily="34" charset="-122"/>
                          <a:cs typeface="IBM Plex Sans" pitchFamily="34" charset="-120"/>
                        </a:rPr>
                        <a:t>49,4 %</a:t>
                      </a:r>
                      <a:endParaRPr lang="en-US" sz="1300" dirty="0">
                        <a:latin typeface="IBM Plex Sans" charset="0"/>
                        <a:ea typeface="IBM Plex Sans" charset="0"/>
                        <a:cs typeface="IBM Plex Sans" charset="0"/>
                      </a:endParaRPr>
                    </a:p>
                  </a:txBody>
                  <a:tcPr marL="57785" marR="57785" marT="57785" marB="57785">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marL="0" indent="0" algn="r">
                        <a:lnSpc>
                          <a:spcPts val="1820"/>
                        </a:lnSpc>
                        <a:buNone/>
                      </a:pPr>
                      <a:r>
                        <a:rPr lang="en-US" sz="1300" dirty="0">
                          <a:solidFill>
                            <a:srgbClr val="14213D"/>
                          </a:solidFill>
                          <a:latin typeface="IBM Plex Sans" pitchFamily="34" charset="0"/>
                          <a:ea typeface="IBM Plex Sans" pitchFamily="34" charset="-122"/>
                          <a:cs typeface="IBM Plex Sans" pitchFamily="34" charset="-120"/>
                        </a:rPr>
                        <a:t>19,6 %</a:t>
                      </a:r>
                      <a:endParaRPr lang="en-US" sz="1300" dirty="0">
                        <a:latin typeface="IBM Plex Sans" charset="0"/>
                        <a:ea typeface="IBM Plex Sans" charset="0"/>
                        <a:cs typeface="IBM Plex Sans" charset="0"/>
                      </a:endParaRPr>
                    </a:p>
                  </a:txBody>
                  <a:tcPr marL="57785" marR="57785" marT="57785" marB="57785">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extLst>
                  <a:ext uri="{0D108BD9-81ED-4DB2-BD59-A6C34878D82A}">
                    <a16:rowId xmlns:a16="http://schemas.microsoft.com/office/drawing/2014/main" val="10004"/>
                  </a:ext>
                </a:extLst>
              </a:tr>
            </a:tbl>
          </a:graphicData>
        </a:graphic>
      </p:graphicFrame>
      <p:sp>
        <p:nvSpPr>
          <p:cNvPr id="5" name="Shape 2"/>
          <p:cNvSpPr/>
          <p:nvPr/>
        </p:nvSpPr>
        <p:spPr>
          <a:xfrm>
            <a:off x="815975" y="4418112"/>
            <a:ext cx="5175250" cy="788591"/>
          </a:xfrm>
          <a:prstGeom prst="roundRect">
            <a:avLst>
              <a:gd name="adj" fmla="val 12481"/>
            </a:avLst>
          </a:prstGeom>
          <a:solidFill>
            <a:srgbClr val="FDFCFA"/>
          </a:solidFill>
          <a:ln w="6350">
            <a:solidFill>
              <a:srgbClr val="DAD6CC"/>
            </a:solidFill>
            <a:prstDash val="solid"/>
          </a:ln>
        </p:spPr>
        <p:txBody>
          <a:bodyPr/>
          <a:lstStyle/>
          <a:p>
            <a:endParaRPr/>
          </a:p>
        </p:txBody>
      </p:sp>
      <p:sp>
        <p:nvSpPr>
          <p:cNvPr id="6" name="Text 3"/>
          <p:cNvSpPr/>
          <p:nvPr/>
        </p:nvSpPr>
        <p:spPr>
          <a:xfrm>
            <a:off x="996950" y="4599087"/>
            <a:ext cx="4957699" cy="45204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3E4A5C"/>
                </a:solidFill>
                <a:latin typeface="IBM Plex Sans" pitchFamily="34" charset="0"/>
                <a:ea typeface="IBM Plex Sans" pitchFamily="34" charset="-122"/>
                <a:cs typeface="IBM Plex Sans" pitchFamily="34" charset="-120"/>
              </a:rPr>
              <a:t>Administration :</a:t>
            </a:r>
            <a:r>
              <a:rPr lang="en-US" sz="1200" dirty="0">
                <a:solidFill>
                  <a:srgbClr val="3E4A5C"/>
                </a:solidFill>
                <a:latin typeface="IBM Plex Sans" pitchFamily="34" charset="0"/>
                <a:ea typeface="IBM Plex Sans" pitchFamily="34" charset="-122"/>
                <a:cs typeface="IBM Plex Sans" pitchFamily="34" charset="-120"/>
              </a:rPr>
              <a:t> de moins d'une heure à plus de 12 h selon les jours, contre 4 à 9 h pour les techniques.</a:t>
            </a:r>
            <a:endParaRPr lang="en-US" sz="1200" dirty="0"/>
          </a:p>
        </p:txBody>
      </p:sp>
      <p:sp>
        <p:nvSpPr>
          <p:cNvPr id="7" name="Shape 4"/>
          <p:cNvSpPr/>
          <p:nvPr/>
        </p:nvSpPr>
        <p:spPr>
          <a:xfrm>
            <a:off x="6200775" y="4418112"/>
            <a:ext cx="5175250" cy="788591"/>
          </a:xfrm>
          <a:prstGeom prst="roundRect">
            <a:avLst>
              <a:gd name="adj" fmla="val 12481"/>
            </a:avLst>
          </a:prstGeom>
          <a:solidFill>
            <a:srgbClr val="FDFCFA"/>
          </a:solidFill>
          <a:ln w="6350">
            <a:solidFill>
              <a:srgbClr val="DAD6CC"/>
            </a:solidFill>
            <a:prstDash val="solid"/>
          </a:ln>
        </p:spPr>
        <p:txBody>
          <a:bodyPr/>
          <a:lstStyle/>
          <a:p>
            <a:endParaRPr/>
          </a:p>
        </p:txBody>
      </p:sp>
      <p:sp>
        <p:nvSpPr>
          <p:cNvPr id="8" name="Text 5"/>
          <p:cNvSpPr/>
          <p:nvPr/>
        </p:nvSpPr>
        <p:spPr>
          <a:xfrm>
            <a:off x="6381750" y="4599087"/>
            <a:ext cx="4957699" cy="45204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3E4A5C"/>
                </a:solidFill>
                <a:latin typeface="IBM Plex Sans" pitchFamily="34" charset="0"/>
                <a:ea typeface="IBM Plex Sans" pitchFamily="34" charset="-122"/>
                <a:cs typeface="IBM Plex Sans" pitchFamily="34" charset="-120"/>
              </a:rPr>
              <a:t>Attention :</a:t>
            </a:r>
            <a:r>
              <a:rPr lang="en-US" sz="1200" dirty="0">
                <a:solidFill>
                  <a:srgbClr val="3E4A5C"/>
                </a:solidFill>
                <a:latin typeface="IBM Plex Sans" pitchFamily="34" charset="0"/>
                <a:ea typeface="IBM Plex Sans" pitchFamily="34" charset="-122"/>
                <a:cs typeface="IBM Plex Sans" pitchFamily="34" charset="-120"/>
              </a:rPr>
              <a:t> les pointages admin s'arrêtent fin mars ; comparer les pôles sur janvier–mars.</a:t>
            </a:r>
            <a:endParaRPr lang="en-US" sz="1200" dirty="0"/>
          </a:p>
        </p:txBody>
      </p:sp>
      <p:sp>
        <p:nvSpPr>
          <p:cNvPr id="9" name="Text 6"/>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Pilotage RH par la donnée · 10 · </a:t>
            </a:r>
            <a:r>
              <a:rPr lang="en-US" sz="1200" dirty="0">
                <a:solidFill>
                  <a:srgbClr val="2F5DA8"/>
                </a:solidFill>
                <a:latin typeface="IBM Plex Sans" pitchFamily="34" charset="0"/>
                <a:ea typeface="IBM Plex Sans" pitchFamily="34" charset="-122"/>
                <a:cs typeface="IBM Plex Sans" pitchFamily="34" charset="-120"/>
              </a:rPr>
              <a:t>Code : cellule [5], section 4 (fig06, fig07) · dispersion : cellule [12]</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531A"/>
                </a:solidFill>
                <a:latin typeface="IBM Plex Sans" pitchFamily="34" charset="0"/>
                <a:ea typeface="IBM Plex Sans" pitchFamily="34" charset="-122"/>
                <a:cs typeface="IBM Plex Sans" pitchFamily="34" charset="-120"/>
              </a:rPr>
              <a:t>OM4 · FORMATION</a:t>
            </a:r>
            <a:endParaRPr lang="en-US" sz="1200" dirty="0"/>
          </a:p>
        </p:txBody>
      </p:sp>
      <p:sp>
        <p:nvSpPr>
          <p:cNvPr id="3" name="Text 1"/>
          <p:cNvSpPr/>
          <p:nvPr/>
        </p:nvSpPr>
        <p:spPr>
          <a:xfrm>
            <a:off x="812800" y="11023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4213D"/>
                </a:solidFill>
                <a:latin typeface="Space Grotesk" pitchFamily="34" charset="0"/>
                <a:ea typeface="Space Grotesk" pitchFamily="34" charset="-122"/>
                <a:cs typeface="Space Grotesk" pitchFamily="34" charset="-120"/>
              </a:rPr>
              <a:t>Une formation massive, sans fil thématique</a:t>
            </a:r>
            <a:endParaRPr lang="en-US" sz="3200" dirty="0"/>
          </a:p>
        </p:txBody>
      </p:sp>
      <p:sp>
        <p:nvSpPr>
          <p:cNvPr id="4" name="Text 2"/>
          <p:cNvSpPr/>
          <p:nvPr/>
        </p:nvSpPr>
        <p:spPr>
          <a:xfrm>
            <a:off x="812800" y="1854101"/>
            <a:ext cx="3488233" cy="825500"/>
          </a:xfrm>
          <a:prstGeom prst="rect">
            <a:avLst/>
          </a:prstGeom>
          <a:noFill/>
          <a:ln/>
        </p:spPr>
        <p:txBody>
          <a:bodyPr wrap="square" lIns="0" tIns="0" rIns="0" bIns="0" rtlCol="0" anchor="t">
            <a:normAutofit/>
          </a:bodyPr>
          <a:lstStyle/>
          <a:p>
            <a:pPr marL="0" indent="0" algn="l">
              <a:lnSpc>
                <a:spcPts val="6300"/>
              </a:lnSpc>
              <a:buNone/>
            </a:pPr>
            <a:r>
              <a:rPr lang="en-US" sz="6000" b="1" dirty="0">
                <a:solidFill>
                  <a:srgbClr val="2F5DA8"/>
                </a:solidFill>
                <a:latin typeface="Space Grotesk" pitchFamily="34" charset="0"/>
                <a:ea typeface="Space Grotesk" pitchFamily="34" charset="-122"/>
                <a:cs typeface="Space Grotesk" pitchFamily="34" charset="-120"/>
              </a:rPr>
              <a:t>99 %</a:t>
            </a:r>
            <a:endParaRPr lang="en-US" sz="6000" dirty="0"/>
          </a:p>
        </p:txBody>
      </p:sp>
      <p:sp>
        <p:nvSpPr>
          <p:cNvPr id="5" name="Text 3"/>
          <p:cNvSpPr/>
          <p:nvPr/>
        </p:nvSpPr>
        <p:spPr>
          <a:xfrm>
            <a:off x="812800" y="2679601"/>
            <a:ext cx="3488233"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E4A5C"/>
                </a:solidFill>
                <a:latin typeface="IBM Plex Sans" pitchFamily="34" charset="0"/>
                <a:ea typeface="IBM Plex Sans" pitchFamily="34" charset="-122"/>
                <a:cs typeface="IBM Plex Sans" pitchFamily="34" charset="-120"/>
              </a:rPr>
              <a:t>des techniques formés</a:t>
            </a:r>
            <a:endParaRPr lang="en-US" sz="1500" dirty="0"/>
          </a:p>
        </p:txBody>
      </p:sp>
      <p:sp>
        <p:nvSpPr>
          <p:cNvPr id="6" name="Text 4"/>
          <p:cNvSpPr/>
          <p:nvPr/>
        </p:nvSpPr>
        <p:spPr>
          <a:xfrm>
            <a:off x="4402634" y="1854101"/>
            <a:ext cx="3488335" cy="825500"/>
          </a:xfrm>
          <a:prstGeom prst="rect">
            <a:avLst/>
          </a:prstGeom>
          <a:noFill/>
          <a:ln/>
        </p:spPr>
        <p:txBody>
          <a:bodyPr wrap="square" lIns="0" tIns="0" rIns="0" bIns="0" rtlCol="0" anchor="t">
            <a:normAutofit/>
          </a:bodyPr>
          <a:lstStyle/>
          <a:p>
            <a:pPr marL="0" indent="0" algn="l">
              <a:lnSpc>
                <a:spcPts val="6300"/>
              </a:lnSpc>
              <a:buNone/>
            </a:pPr>
            <a:r>
              <a:rPr lang="en-US" sz="6000" b="1" dirty="0">
                <a:solidFill>
                  <a:srgbClr val="2F5DA8"/>
                </a:solidFill>
                <a:latin typeface="Space Grotesk" pitchFamily="34" charset="0"/>
                <a:ea typeface="Space Grotesk" pitchFamily="34" charset="-122"/>
                <a:cs typeface="Space Grotesk" pitchFamily="34" charset="-120"/>
              </a:rPr>
              <a:t>18 685</a:t>
            </a:r>
            <a:endParaRPr lang="en-US" sz="6000" dirty="0"/>
          </a:p>
        </p:txBody>
      </p:sp>
      <p:sp>
        <p:nvSpPr>
          <p:cNvPr id="7" name="Text 5"/>
          <p:cNvSpPr/>
          <p:nvPr/>
        </p:nvSpPr>
        <p:spPr>
          <a:xfrm>
            <a:off x="4402634" y="2679601"/>
            <a:ext cx="3488335"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E4A5C"/>
                </a:solidFill>
                <a:latin typeface="IBM Plex Sans" pitchFamily="34" charset="0"/>
                <a:ea typeface="IBM Plex Sans" pitchFamily="34" charset="-122"/>
                <a:cs typeface="IBM Plex Sans" pitchFamily="34" charset="-120"/>
              </a:rPr>
              <a:t>inscriptions à des cours</a:t>
            </a:r>
            <a:endParaRPr lang="en-US" sz="1500" dirty="0"/>
          </a:p>
        </p:txBody>
      </p:sp>
      <p:sp>
        <p:nvSpPr>
          <p:cNvPr id="8" name="Text 6"/>
          <p:cNvSpPr/>
          <p:nvPr/>
        </p:nvSpPr>
        <p:spPr>
          <a:xfrm>
            <a:off x="7992566" y="1854101"/>
            <a:ext cx="3488233" cy="825500"/>
          </a:xfrm>
          <a:prstGeom prst="rect">
            <a:avLst/>
          </a:prstGeom>
          <a:noFill/>
          <a:ln/>
        </p:spPr>
        <p:txBody>
          <a:bodyPr wrap="square" lIns="0" tIns="0" rIns="0" bIns="0" rtlCol="0" anchor="t">
            <a:normAutofit/>
          </a:bodyPr>
          <a:lstStyle/>
          <a:p>
            <a:pPr marL="0" indent="0" algn="l">
              <a:lnSpc>
                <a:spcPts val="6300"/>
              </a:lnSpc>
              <a:buNone/>
            </a:pPr>
            <a:r>
              <a:rPr lang="en-US" sz="6000" b="1" dirty="0">
                <a:solidFill>
                  <a:srgbClr val="2F5DA8"/>
                </a:solidFill>
                <a:latin typeface="Space Grotesk" pitchFamily="34" charset="0"/>
                <a:ea typeface="Space Grotesk" pitchFamily="34" charset="-122"/>
                <a:cs typeface="Space Grotesk" pitchFamily="34" charset="-120"/>
              </a:rPr>
              <a:t>13</a:t>
            </a:r>
            <a:endParaRPr lang="en-US" sz="6000" dirty="0"/>
          </a:p>
        </p:txBody>
      </p:sp>
      <p:sp>
        <p:nvSpPr>
          <p:cNvPr id="9" name="Text 7"/>
          <p:cNvSpPr/>
          <p:nvPr/>
        </p:nvSpPr>
        <p:spPr>
          <a:xfrm>
            <a:off x="7992566" y="2679601"/>
            <a:ext cx="3488233"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E4A5C"/>
                </a:solidFill>
                <a:latin typeface="IBM Plex Sans" pitchFamily="34" charset="0"/>
                <a:ea typeface="IBM Plex Sans" pitchFamily="34" charset="-122"/>
                <a:cs typeface="IBM Plex Sans" pitchFamily="34" charset="-120"/>
              </a:rPr>
              <a:t>cours par employé (médiane)</a:t>
            </a:r>
            <a:endParaRPr lang="en-US" sz="1500" dirty="0"/>
          </a:p>
        </p:txBody>
      </p:sp>
      <p:sp>
        <p:nvSpPr>
          <p:cNvPr id="10" name="Text 8"/>
          <p:cNvSpPr/>
          <p:nvPr/>
        </p:nvSpPr>
        <p:spPr>
          <a:xfrm>
            <a:off x="812800" y="3251101"/>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Niveau des cours suivis</a:t>
            </a:r>
            <a:endParaRPr lang="en-US" sz="1200" dirty="0"/>
          </a:p>
        </p:txBody>
      </p:sp>
      <p:sp>
        <p:nvSpPr>
          <p:cNvPr id="11" name="Shape 9"/>
          <p:cNvSpPr/>
          <p:nvPr/>
        </p:nvSpPr>
        <p:spPr>
          <a:xfrm>
            <a:off x="812800" y="3540621"/>
            <a:ext cx="4330700" cy="457200"/>
          </a:xfrm>
          <a:prstGeom prst="rect">
            <a:avLst/>
          </a:prstGeom>
          <a:solidFill>
            <a:srgbClr val="14213D"/>
          </a:solidFill>
          <a:ln/>
        </p:spPr>
        <p:txBody>
          <a:bodyPr/>
          <a:lstStyle/>
          <a:p>
            <a:endParaRPr/>
          </a:p>
        </p:txBody>
      </p:sp>
      <p:sp>
        <p:nvSpPr>
          <p:cNvPr id="12" name="Text 10"/>
          <p:cNvSpPr/>
          <p:nvPr/>
        </p:nvSpPr>
        <p:spPr>
          <a:xfrm>
            <a:off x="914400" y="3662561"/>
            <a:ext cx="108277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7F6F2"/>
                </a:solidFill>
                <a:latin typeface="IBM Plex Sans" pitchFamily="34" charset="0"/>
                <a:ea typeface="IBM Plex Sans" pitchFamily="34" charset="-122"/>
                <a:cs typeface="IBM Plex Sans" pitchFamily="34" charset="-120"/>
              </a:rPr>
              <a:t>Débutant 41 %</a:t>
            </a:r>
            <a:endParaRPr lang="en-US" sz="1200" dirty="0"/>
          </a:p>
        </p:txBody>
      </p:sp>
      <p:sp>
        <p:nvSpPr>
          <p:cNvPr id="13" name="Shape 11"/>
          <p:cNvSpPr/>
          <p:nvPr/>
        </p:nvSpPr>
        <p:spPr>
          <a:xfrm>
            <a:off x="5143500" y="3540621"/>
            <a:ext cx="2959100" cy="457200"/>
          </a:xfrm>
          <a:prstGeom prst="rect">
            <a:avLst/>
          </a:prstGeom>
          <a:solidFill>
            <a:srgbClr val="2F5DA8"/>
          </a:solidFill>
          <a:ln/>
        </p:spPr>
        <p:txBody>
          <a:bodyPr/>
          <a:lstStyle/>
          <a:p>
            <a:endParaRPr/>
          </a:p>
        </p:txBody>
      </p:sp>
      <p:sp>
        <p:nvSpPr>
          <p:cNvPr id="14" name="Text 12"/>
          <p:cNvSpPr/>
          <p:nvPr/>
        </p:nvSpPr>
        <p:spPr>
          <a:xfrm>
            <a:off x="5245100" y="3662561"/>
            <a:ext cx="94257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7F6F2"/>
                </a:solidFill>
                <a:latin typeface="IBM Plex Sans" pitchFamily="34" charset="0"/>
                <a:ea typeface="IBM Plex Sans" pitchFamily="34" charset="-122"/>
                <a:cs typeface="IBM Plex Sans" pitchFamily="34" charset="-120"/>
              </a:rPr>
              <a:t>Avancé 28 %</a:t>
            </a:r>
            <a:endParaRPr lang="en-US" sz="1200" dirty="0"/>
          </a:p>
        </p:txBody>
      </p:sp>
      <p:sp>
        <p:nvSpPr>
          <p:cNvPr id="15" name="Shape 13"/>
          <p:cNvSpPr/>
          <p:nvPr/>
        </p:nvSpPr>
        <p:spPr>
          <a:xfrm>
            <a:off x="8102600" y="3540621"/>
            <a:ext cx="2533650" cy="457200"/>
          </a:xfrm>
          <a:prstGeom prst="rect">
            <a:avLst/>
          </a:prstGeom>
          <a:solidFill>
            <a:srgbClr val="8FAEDD"/>
          </a:solidFill>
          <a:ln/>
        </p:spPr>
        <p:txBody>
          <a:bodyPr/>
          <a:lstStyle/>
          <a:p>
            <a:endParaRPr/>
          </a:p>
        </p:txBody>
      </p:sp>
      <p:sp>
        <p:nvSpPr>
          <p:cNvPr id="16" name="Text 14"/>
          <p:cNvSpPr/>
          <p:nvPr/>
        </p:nvSpPr>
        <p:spPr>
          <a:xfrm>
            <a:off x="8204200" y="3662561"/>
            <a:ext cx="138846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13D"/>
                </a:solidFill>
                <a:latin typeface="IBM Plex Sans" pitchFamily="34" charset="0"/>
                <a:ea typeface="IBM Plex Sans" pitchFamily="34" charset="-122"/>
                <a:cs typeface="IBM Plex Sans" pitchFamily="34" charset="-120"/>
              </a:rPr>
              <a:t>Intermédiaire 24 %</a:t>
            </a:r>
            <a:endParaRPr lang="en-US" sz="1200" dirty="0"/>
          </a:p>
        </p:txBody>
      </p:sp>
      <p:sp>
        <p:nvSpPr>
          <p:cNvPr id="17" name="Shape 15"/>
          <p:cNvSpPr/>
          <p:nvPr/>
        </p:nvSpPr>
        <p:spPr>
          <a:xfrm>
            <a:off x="10636250" y="3540621"/>
            <a:ext cx="527050" cy="457200"/>
          </a:xfrm>
          <a:prstGeom prst="rect">
            <a:avLst/>
          </a:prstGeom>
          <a:solidFill>
            <a:srgbClr val="C9D6EC"/>
          </a:solidFill>
          <a:ln/>
        </p:spPr>
        <p:txBody>
          <a:bodyPr/>
          <a:lstStyle/>
          <a:p>
            <a:endParaRPr/>
          </a:p>
        </p:txBody>
      </p:sp>
      <p:sp>
        <p:nvSpPr>
          <p:cNvPr id="18" name="Shape 16"/>
          <p:cNvSpPr/>
          <p:nvPr/>
        </p:nvSpPr>
        <p:spPr>
          <a:xfrm>
            <a:off x="11163300" y="3540621"/>
            <a:ext cx="215900" cy="457200"/>
          </a:xfrm>
          <a:prstGeom prst="rect">
            <a:avLst/>
          </a:prstGeom>
          <a:solidFill>
            <a:srgbClr val="E4E1D8"/>
          </a:solidFill>
          <a:ln/>
        </p:spPr>
        <p:txBody>
          <a:bodyPr/>
          <a:lstStyle/>
          <a:p>
            <a:endParaRPr/>
          </a:p>
        </p:txBody>
      </p:sp>
      <p:sp>
        <p:nvSpPr>
          <p:cNvPr id="19" name="Text 17"/>
          <p:cNvSpPr/>
          <p:nvPr/>
        </p:nvSpPr>
        <p:spPr>
          <a:xfrm>
            <a:off x="812800" y="4074021"/>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IBM Plex Sans" pitchFamily="34" charset="0"/>
                <a:ea typeface="IBM Plex Sans" pitchFamily="34" charset="-122"/>
                <a:cs typeface="IBM Plex Sans" pitchFamily="34" charset="-120"/>
              </a:rPr>
              <a:t>Puis « Conversant » 5 % et non calibré 1 %. Cours le plus suivi : 46 inscriptions sur 18 685, soit 0,25 %.</a:t>
            </a:r>
            <a:endParaRPr lang="en-US" sz="1200" dirty="0"/>
          </a:p>
        </p:txBody>
      </p:sp>
      <p:sp>
        <p:nvSpPr>
          <p:cNvPr id="20" name="Text 18"/>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Pilotage RH par la donnée · 11 · </a:t>
            </a:r>
            <a:r>
              <a:rPr lang="en-US" sz="1200" dirty="0">
                <a:solidFill>
                  <a:srgbClr val="2F5DA8"/>
                </a:solidFill>
                <a:latin typeface="IBM Plex Sans" pitchFamily="34" charset="0"/>
                <a:ea typeface="IBM Plex Sans" pitchFamily="34" charset="-122"/>
                <a:cs typeface="IBM Plex Sans" pitchFamily="34" charset="-120"/>
              </a:rPr>
              <a:t>Code : cellule [6], section 5 · pourcentages et 0,25 % : cellule [13]</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531A"/>
                </a:solidFill>
                <a:latin typeface="IBM Plex Sans" pitchFamily="34" charset="0"/>
                <a:ea typeface="IBM Plex Sans" pitchFamily="34" charset="-122"/>
                <a:cs typeface="IBM Plex Sans" pitchFamily="34" charset="-120"/>
              </a:rPr>
              <a:t>OM5 · CONGÉS ET DISPONIBILITÉ</a:t>
            </a:r>
            <a:endParaRPr lang="en-US" sz="1200" dirty="0"/>
          </a:p>
        </p:txBody>
      </p:sp>
      <p:sp>
        <p:nvSpPr>
          <p:cNvPr id="3" name="Text 1"/>
          <p:cNvSpPr/>
          <p:nvPr/>
        </p:nvSpPr>
        <p:spPr>
          <a:xfrm>
            <a:off x="812800" y="11023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4213D"/>
                </a:solidFill>
                <a:latin typeface="Space Grotesk" pitchFamily="34" charset="0"/>
                <a:ea typeface="Space Grotesk" pitchFamily="34" charset="-122"/>
                <a:cs typeface="Space Grotesk" pitchFamily="34" charset="-120"/>
              </a:rPr>
              <a:t>Des congés maîtrisés, vus par le dernier congé</a:t>
            </a:r>
            <a:endParaRPr lang="en-US" sz="3200" dirty="0"/>
          </a:p>
        </p:txBody>
      </p:sp>
      <p:sp>
        <p:nvSpPr>
          <p:cNvPr id="4" name="Text 2"/>
          <p:cNvSpPr/>
          <p:nvPr/>
        </p:nvSpPr>
        <p:spPr>
          <a:xfrm>
            <a:off x="812800" y="1854101"/>
            <a:ext cx="5232400" cy="825500"/>
          </a:xfrm>
          <a:prstGeom prst="rect">
            <a:avLst/>
          </a:prstGeom>
          <a:noFill/>
          <a:ln/>
        </p:spPr>
        <p:txBody>
          <a:bodyPr wrap="square" lIns="0" tIns="0" rIns="0" bIns="0" rtlCol="0" anchor="t">
            <a:normAutofit/>
          </a:bodyPr>
          <a:lstStyle/>
          <a:p>
            <a:pPr marL="0" indent="0" algn="l">
              <a:lnSpc>
                <a:spcPts val="6300"/>
              </a:lnSpc>
              <a:buNone/>
            </a:pPr>
            <a:r>
              <a:rPr lang="en-US" sz="6000" b="1" dirty="0">
                <a:solidFill>
                  <a:srgbClr val="2F5DA8"/>
                </a:solidFill>
                <a:latin typeface="Space Grotesk" pitchFamily="34" charset="0"/>
                <a:ea typeface="Space Grotesk" pitchFamily="34" charset="-122"/>
                <a:cs typeface="Space Grotesk" pitchFamily="34" charset="-120"/>
              </a:rPr>
              <a:t>50 %</a:t>
            </a:r>
            <a:endParaRPr lang="en-US" sz="6000" dirty="0"/>
          </a:p>
        </p:txBody>
      </p:sp>
      <p:sp>
        <p:nvSpPr>
          <p:cNvPr id="5" name="Text 3"/>
          <p:cNvSpPr/>
          <p:nvPr/>
        </p:nvSpPr>
        <p:spPr>
          <a:xfrm>
            <a:off x="812800" y="2781201"/>
            <a:ext cx="523240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4213D"/>
                </a:solidFill>
                <a:latin typeface="IBM Plex Sans" pitchFamily="34" charset="0"/>
                <a:ea typeface="IBM Plex Sans" pitchFamily="34" charset="-122"/>
                <a:cs typeface="IBM Plex Sans" pitchFamily="34" charset="-120"/>
              </a:rPr>
              <a:t>des droits consommés : 15,1 jours sur 30 en moyenne</a:t>
            </a:r>
            <a:endParaRPr lang="en-US" sz="15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3187601"/>
          <a:ext cx="5067300" cy="1662905"/>
        </p:xfrm>
        <a:graphic>
          <a:graphicData uri="http://schemas.openxmlformats.org/drawingml/2006/table">
            <a:tbl>
              <a:tblPr/>
              <a:tblGrid>
                <a:gridCol w="3040380">
                  <a:extLst>
                    <a:ext uri="{9D8B030D-6E8A-4147-A177-3AD203B41FA5}">
                      <a16:colId xmlns:a16="http://schemas.microsoft.com/office/drawing/2014/main" val="20000"/>
                    </a:ext>
                  </a:extLst>
                </a:gridCol>
                <a:gridCol w="2026920">
                  <a:extLst>
                    <a:ext uri="{9D8B030D-6E8A-4147-A177-3AD203B41FA5}">
                      <a16:colId xmlns:a16="http://schemas.microsoft.com/office/drawing/2014/main" val="20001"/>
                    </a:ext>
                  </a:extLst>
                </a:gridCol>
              </a:tblGrid>
              <a:tr h="332581">
                <a:tc>
                  <a:txBody>
                    <a:bodyPr/>
                    <a:lstStyle/>
                    <a:p>
                      <a:pPr marL="0" indent="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Dernier congé (normalisé)</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marL="0" indent="0" algn="r">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Employés</a:t>
                      </a:r>
                      <a:endParaRPr lang="en-US" sz="1200" dirty="0">
                        <a:latin typeface="IBM Plex Sans" charset="0"/>
                        <a:ea typeface="IBM Plex Sans" charset="0"/>
                        <a:cs typeface="IBM Plex Sans" charset="0"/>
                      </a:endParaRPr>
                    </a:p>
                  </a:txBody>
                  <a:tcPr marL="53340" marR="53340" marT="53340" marB="53340">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extLst>
                  <a:ext uri="{0D108BD9-81ED-4DB2-BD59-A6C34878D82A}">
                    <a16:rowId xmlns:a16="http://schemas.microsoft.com/office/drawing/2014/main" val="10000"/>
                  </a:ext>
                </a:extLst>
              </a:tr>
              <a:tr h="332581">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Sans solde</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1680"/>
                        </a:lnSpc>
                        <a:buNone/>
                      </a:pPr>
                      <a:r>
                        <a:rPr lang="en-US" sz="1200" dirty="0">
                          <a:solidFill>
                            <a:srgbClr val="14213D"/>
                          </a:solidFill>
                          <a:latin typeface="IBM Plex Sans" pitchFamily="34" charset="0"/>
                          <a:ea typeface="IBM Plex Sans" pitchFamily="34" charset="-122"/>
                          <a:cs typeface="IBM Plex Sans" pitchFamily="34" charset="-120"/>
                        </a:rPr>
                        <a:t>716</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1"/>
                  </a:ext>
                </a:extLst>
              </a:tr>
              <a:tr h="332581">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Mission</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1680"/>
                        </a:lnSpc>
                        <a:buNone/>
                      </a:pPr>
                      <a:r>
                        <a:rPr lang="en-US" sz="1200" dirty="0">
                          <a:solidFill>
                            <a:srgbClr val="14213D"/>
                          </a:solidFill>
                          <a:latin typeface="IBM Plex Sans" pitchFamily="34" charset="0"/>
                          <a:ea typeface="IBM Plex Sans" pitchFamily="34" charset="-122"/>
                          <a:cs typeface="IBM Plex Sans" pitchFamily="34" charset="-120"/>
                        </a:rPr>
                        <a:t>696</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2"/>
                  </a:ext>
                </a:extLst>
              </a:tr>
              <a:tr h="332581">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Ordinaire</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1680"/>
                        </a:lnSpc>
                        <a:buNone/>
                      </a:pPr>
                      <a:r>
                        <a:rPr lang="en-US" sz="1200" dirty="0">
                          <a:solidFill>
                            <a:srgbClr val="14213D"/>
                          </a:solidFill>
                          <a:latin typeface="IBM Plex Sans" pitchFamily="34" charset="0"/>
                          <a:ea typeface="IBM Plex Sans" pitchFamily="34" charset="-122"/>
                          <a:cs typeface="IBM Plex Sans" pitchFamily="34" charset="-120"/>
                        </a:rPr>
                        <a:t>674</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3"/>
                  </a:ext>
                </a:extLst>
              </a:tr>
              <a:tr h="332581">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Maladie</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1680"/>
                        </a:lnSpc>
                        <a:buNone/>
                      </a:pPr>
                      <a:r>
                        <a:rPr lang="en-US" sz="1200" dirty="0">
                          <a:solidFill>
                            <a:srgbClr val="14213D"/>
                          </a:solidFill>
                          <a:latin typeface="IBM Plex Sans" pitchFamily="34" charset="0"/>
                          <a:ea typeface="IBM Plex Sans" pitchFamily="34" charset="-122"/>
                          <a:cs typeface="IBM Plex Sans" pitchFamily="34" charset="-120"/>
                        </a:rPr>
                        <a:t>648</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5" name="Text 12"/>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Pilotage RH par la donnée · 12 · </a:t>
            </a:r>
            <a:r>
              <a:rPr lang="en-US" sz="1200" dirty="0">
                <a:solidFill>
                  <a:srgbClr val="2F5DA8"/>
                </a:solidFill>
                <a:latin typeface="IBM Plex Sans" pitchFamily="34" charset="0"/>
                <a:ea typeface="IBM Plex Sans" pitchFamily="34" charset="-122"/>
                <a:cs typeface="IBM Plex Sans" pitchFamily="34" charset="-120"/>
              </a:rPr>
              <a:t>Code : cellule [7], section 6 (« FINS DE CONTRAT ») · CDI datés : cellule [11]</a:t>
            </a:r>
            <a:endParaRPr lang="en-US" sz="1200" dirty="0"/>
          </a:p>
        </p:txBody>
      </p:sp>
      <p:sp>
        <p:nvSpPr>
          <p:cNvPr id="16" name="TextBox 15"/>
          <p:cNvSpPr txBox="1"/>
          <p:nvPr/>
        </p:nvSpPr>
        <p:spPr>
          <a:xfrm>
            <a:off x="6300216" y="1856232"/>
            <a:ext cx="5230368" cy="822960"/>
          </a:xfrm>
          <a:prstGeom prst="rect">
            <a:avLst/>
          </a:prstGeom>
          <a:noFill/>
        </p:spPr>
        <p:txBody>
          <a:bodyPr wrap="square" lIns="0" tIns="0" rIns="0" bIns="0">
            <a:spAutoFit/>
          </a:bodyPr>
          <a:lstStyle/>
          <a:p>
            <a:pPr>
              <a:lnSpc>
                <a:spcPts val="6600"/>
              </a:lnSpc>
            </a:pPr>
            <a:r>
              <a:rPr sz="6000" b="1">
                <a:solidFill>
                  <a:srgbClr val="2F5DA8"/>
                </a:solidFill>
                <a:latin typeface="Space Grotesk"/>
              </a:rPr>
              <a:t>14,8 j</a:t>
            </a:r>
          </a:p>
        </p:txBody>
      </p:sp>
      <p:sp>
        <p:nvSpPr>
          <p:cNvPr id="17" name="TextBox 16"/>
          <p:cNvSpPr txBox="1"/>
          <p:nvPr/>
        </p:nvSpPr>
        <p:spPr>
          <a:xfrm>
            <a:off x="6300216" y="2779776"/>
            <a:ext cx="5230368" cy="292608"/>
          </a:xfrm>
          <a:prstGeom prst="rect">
            <a:avLst/>
          </a:prstGeom>
          <a:noFill/>
        </p:spPr>
        <p:txBody>
          <a:bodyPr wrap="square" lIns="0" tIns="0" rIns="0" bIns="0">
            <a:spAutoFit/>
          </a:bodyPr>
          <a:lstStyle/>
          <a:p>
            <a:pPr>
              <a:lnSpc>
                <a:spcPts val="2100"/>
              </a:lnSpc>
            </a:pPr>
            <a:r>
              <a:rPr sz="1500" b="0">
                <a:solidFill>
                  <a:srgbClr val="14213D"/>
                </a:solidFill>
                <a:latin typeface="IBM Plex Sans"/>
              </a:rPr>
              <a:t>de solde moyen restant par employé</a:t>
            </a:r>
          </a:p>
        </p:txBody>
      </p:sp>
      <p:sp>
        <p:nvSpPr>
          <p:cNvPr id="18" name="TextBox 17"/>
          <p:cNvSpPr txBox="1"/>
          <p:nvPr/>
        </p:nvSpPr>
        <p:spPr>
          <a:xfrm>
            <a:off x="6300216" y="3474720"/>
            <a:ext cx="5230368" cy="822960"/>
          </a:xfrm>
          <a:prstGeom prst="rect">
            <a:avLst/>
          </a:prstGeom>
          <a:noFill/>
        </p:spPr>
        <p:txBody>
          <a:bodyPr wrap="square" lIns="0" tIns="0" rIns="0" bIns="0">
            <a:spAutoFit/>
          </a:bodyPr>
          <a:lstStyle/>
          <a:p>
            <a:pPr>
              <a:lnSpc>
                <a:spcPts val="6600"/>
              </a:lnSpc>
            </a:pPr>
            <a:r>
              <a:rPr sz="6000" b="1">
                <a:solidFill>
                  <a:srgbClr val="2F5DA8"/>
                </a:solidFill>
                <a:latin typeface="Space Grotesk"/>
              </a:rPr>
              <a:t>24 %</a:t>
            </a:r>
          </a:p>
        </p:txBody>
      </p:sp>
      <p:sp>
        <p:nvSpPr>
          <p:cNvPr id="19" name="TextBox 18"/>
          <p:cNvSpPr txBox="1"/>
          <p:nvPr/>
        </p:nvSpPr>
        <p:spPr>
          <a:xfrm>
            <a:off x="6300216" y="4398264"/>
            <a:ext cx="5230368" cy="292608"/>
          </a:xfrm>
          <a:prstGeom prst="rect">
            <a:avLst/>
          </a:prstGeom>
          <a:noFill/>
        </p:spPr>
        <p:txBody>
          <a:bodyPr wrap="square" lIns="0" tIns="0" rIns="0" bIns="0">
            <a:spAutoFit/>
          </a:bodyPr>
          <a:lstStyle/>
          <a:p>
            <a:pPr>
              <a:lnSpc>
                <a:spcPts val="2100"/>
              </a:lnSpc>
            </a:pPr>
            <a:r>
              <a:rPr sz="1500" b="0">
                <a:solidFill>
                  <a:srgbClr val="14213D"/>
                </a:solidFill>
                <a:latin typeface="IBM Plex Sans"/>
              </a:rPr>
              <a:t>ont « maladie » pour dernier congé</a:t>
            </a:r>
          </a:p>
        </p:txBody>
      </p:sp>
      <p:sp>
        <p:nvSpPr>
          <p:cNvPr id="20" name="TextBox 19"/>
          <p:cNvSpPr txBox="1"/>
          <p:nvPr/>
        </p:nvSpPr>
        <p:spPr>
          <a:xfrm>
            <a:off x="6300216" y="4800600"/>
            <a:ext cx="5065776" cy="685800"/>
          </a:xfrm>
          <a:prstGeom prst="rect">
            <a:avLst/>
          </a:prstGeom>
          <a:noFill/>
        </p:spPr>
        <p:txBody>
          <a:bodyPr wrap="square" lIns="0" tIns="0" rIns="0" bIns="0">
            <a:spAutoFit/>
          </a:bodyPr>
          <a:lstStyle/>
          <a:p>
            <a:pPr>
              <a:lnSpc>
                <a:spcPts val="1700"/>
              </a:lnSpc>
            </a:pPr>
            <a:r>
              <a:rPr sz="1200" b="1">
                <a:solidFill>
                  <a:srgbClr val="3E4A5C"/>
                </a:solidFill>
                <a:latin typeface="IBM Plex Sans"/>
              </a:rPr>
              <a:t>Seul proxy d'absentéisme : le fichier ne donne que le dernier congé, sans date ni durée, donc aucun jour perdu mesurable.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p:cNvGrpSpPr/>
        <p:nvPr/>
      </p:nvGrpSpPr>
      <p:grpSpPr>
        <a:xfrm>
          <a:off x="0" y="0"/>
          <a:ext cx="0" cy="0"/>
          <a:chOff x="0" y="0"/>
          <a:chExt cx="0" cy="0"/>
        </a:xfrm>
      </p:grpSpPr>
      <p:sp>
        <p:nvSpPr>
          <p:cNvPr id="2" name="Kicker"/>
          <p:cNvSpPr txBox="1"/>
          <p:nvPr/>
        </p:nvSpPr>
        <p:spPr>
          <a:xfrm>
            <a:off x="813816" y="813816"/>
            <a:ext cx="10881360" cy="237744"/>
          </a:xfrm>
          <a:prstGeom prst="rect">
            <a:avLst/>
          </a:prstGeom>
          <a:noFill/>
        </p:spPr>
        <p:txBody>
          <a:bodyPr wrap="square" lIns="0" tIns="0" rIns="0" bIns="0">
            <a:spAutoFit/>
          </a:bodyPr>
          <a:lstStyle/>
          <a:p>
            <a:pPr>
              <a:lnSpc>
                <a:spcPts val="1700"/>
              </a:lnSpc>
            </a:pPr>
            <a:r>
              <a:rPr sz="1200" b="1" spc="100">
                <a:solidFill>
                  <a:srgbClr val="B4531A"/>
                </a:solidFill>
                <a:latin typeface="IBM Plex Sans"/>
              </a:rPr>
              <a:t>OM6 · CONTRATS ET ÉCHÉANCES</a:t>
            </a:r>
          </a:p>
        </p:txBody>
      </p:sp>
      <p:sp>
        <p:nvSpPr>
          <p:cNvPr id="3" name="Title"/>
          <p:cNvSpPr txBox="1"/>
          <p:nvPr/>
        </p:nvSpPr>
        <p:spPr>
          <a:xfrm>
            <a:off x="813816" y="1106424"/>
            <a:ext cx="10881360" cy="475488"/>
          </a:xfrm>
          <a:prstGeom prst="rect">
            <a:avLst/>
          </a:prstGeom>
          <a:noFill/>
        </p:spPr>
        <p:txBody>
          <a:bodyPr wrap="square" lIns="0" tIns="0" rIns="0" bIns="0">
            <a:spAutoFit/>
          </a:bodyPr>
          <a:lstStyle/>
          <a:p>
            <a:pPr>
              <a:lnSpc>
                <a:spcPts val="3500"/>
              </a:lnSpc>
            </a:pPr>
            <a:r>
              <a:rPr sz="3200" b="1">
                <a:solidFill>
                  <a:srgbClr val="14213D"/>
                </a:solidFill>
                <a:latin typeface="Space Grotesk"/>
              </a:rPr>
              <a:t>Des échéances à piloter, sur des dates peu fiables</a:t>
            </a:r>
          </a:p>
        </p:txBody>
      </p:sp>
      <p:sp>
        <p:nvSpPr>
          <p:cNvPr id="4" name="Rounded Rectangle 3"/>
          <p:cNvSpPr/>
          <p:nvPr/>
        </p:nvSpPr>
        <p:spPr>
          <a:xfrm>
            <a:off x="813816" y="1856232"/>
            <a:ext cx="5175504" cy="1792224"/>
          </a:xfrm>
          <a:prstGeom prst="roundRect">
            <a:avLst>
              <a:gd name="adj" fmla="val 4960"/>
            </a:avLst>
          </a:prstGeom>
          <a:solidFill>
            <a:srgbClr val="FDFCFA"/>
          </a:solidFill>
          <a:ln w="6350">
            <a:solidFill>
              <a:srgbClr val="DAD6CC"/>
            </a:solidFill>
          </a:ln>
        </p:spPr>
        <p:txBody>
          <a:bodyPr rtlCol="0" anchor="ctr"/>
          <a:lstStyle/>
          <a:p>
            <a:pPr algn="ctr"/>
            <a:endParaRPr/>
          </a:p>
        </p:txBody>
      </p:sp>
      <p:sp>
        <p:nvSpPr>
          <p:cNvPr id="5" name="TextBox 4"/>
          <p:cNvSpPr txBox="1"/>
          <p:nvPr/>
        </p:nvSpPr>
        <p:spPr>
          <a:xfrm>
            <a:off x="1024128" y="2066544"/>
            <a:ext cx="4754880" cy="822960"/>
          </a:xfrm>
          <a:prstGeom prst="rect">
            <a:avLst/>
          </a:prstGeom>
          <a:noFill/>
        </p:spPr>
        <p:txBody>
          <a:bodyPr wrap="square" lIns="0" tIns="0" rIns="0" bIns="0">
            <a:spAutoFit/>
          </a:bodyPr>
          <a:lstStyle/>
          <a:p>
            <a:pPr>
              <a:lnSpc>
                <a:spcPts val="6600"/>
              </a:lnSpc>
            </a:pPr>
            <a:r>
              <a:rPr sz="6000" b="1">
                <a:solidFill>
                  <a:srgbClr val="2F5DA8"/>
                </a:solidFill>
                <a:latin typeface="Space Grotesk"/>
              </a:rPr>
              <a:t>350</a:t>
            </a:r>
          </a:p>
        </p:txBody>
      </p:sp>
      <p:sp>
        <p:nvSpPr>
          <p:cNvPr id="6" name="TextBox 5"/>
          <p:cNvSpPr txBox="1"/>
          <p:nvPr/>
        </p:nvSpPr>
        <p:spPr>
          <a:xfrm>
            <a:off x="1024128" y="2916936"/>
            <a:ext cx="4754880" cy="292608"/>
          </a:xfrm>
          <a:prstGeom prst="rect">
            <a:avLst/>
          </a:prstGeom>
          <a:noFill/>
        </p:spPr>
        <p:txBody>
          <a:bodyPr wrap="square" lIns="0" tIns="0" rIns="0" bIns="0">
            <a:spAutoFit/>
          </a:bodyPr>
          <a:lstStyle/>
          <a:p>
            <a:pPr>
              <a:lnSpc>
                <a:spcPts val="2100"/>
              </a:lnSpc>
            </a:pPr>
            <a:r>
              <a:rPr sz="1500" b="1">
                <a:solidFill>
                  <a:srgbClr val="14213D"/>
                </a:solidFill>
                <a:latin typeface="IBM Plex Sans"/>
              </a:rPr>
              <a:t>échéances réelles en 2023</a:t>
            </a:r>
          </a:p>
        </p:txBody>
      </p:sp>
      <p:sp>
        <p:nvSpPr>
          <p:cNvPr id="7" name="TextBox 6"/>
          <p:cNvSpPr txBox="1"/>
          <p:nvPr/>
        </p:nvSpPr>
        <p:spPr>
          <a:xfrm>
            <a:off x="1024128" y="3227832"/>
            <a:ext cx="4754880" cy="237744"/>
          </a:xfrm>
          <a:prstGeom prst="rect">
            <a:avLst/>
          </a:prstGeom>
          <a:noFill/>
        </p:spPr>
        <p:txBody>
          <a:bodyPr wrap="square" lIns="0" tIns="0" rIns="0" bIns="0">
            <a:spAutoFit/>
          </a:bodyPr>
          <a:lstStyle/>
          <a:p>
            <a:pPr>
              <a:lnSpc>
                <a:spcPts val="1700"/>
              </a:lnSpc>
            </a:pPr>
            <a:r>
              <a:rPr sz="1200" b="0">
                <a:solidFill>
                  <a:srgbClr val="3E4A5C"/>
                </a:solidFill>
                <a:latin typeface="IBM Plex Sans"/>
              </a:rPr>
              <a:t>soit 12,8 % des 2 740 collaborateurs : à piloter en priorité</a:t>
            </a:r>
          </a:p>
        </p:txBody>
      </p:sp>
      <p:sp>
        <p:nvSpPr>
          <p:cNvPr id="8" name="Rounded Rectangle 7"/>
          <p:cNvSpPr/>
          <p:nvPr/>
        </p:nvSpPr>
        <p:spPr>
          <a:xfrm>
            <a:off x="6199632" y="1856232"/>
            <a:ext cx="5175504" cy="1792224"/>
          </a:xfrm>
          <a:prstGeom prst="roundRect">
            <a:avLst>
              <a:gd name="adj" fmla="val 4960"/>
            </a:avLst>
          </a:prstGeom>
          <a:solidFill>
            <a:srgbClr val="FDFCFA"/>
          </a:solidFill>
          <a:ln w="6350">
            <a:solidFill>
              <a:srgbClr val="DAD6CC"/>
            </a:solidFill>
          </a:ln>
        </p:spPr>
        <p:txBody>
          <a:bodyPr rtlCol="0" anchor="ctr"/>
          <a:lstStyle/>
          <a:p>
            <a:pPr algn="ctr"/>
            <a:endParaRPr/>
          </a:p>
        </p:txBody>
      </p:sp>
      <p:sp>
        <p:nvSpPr>
          <p:cNvPr id="9" name="TextBox 8"/>
          <p:cNvSpPr txBox="1"/>
          <p:nvPr/>
        </p:nvSpPr>
        <p:spPr>
          <a:xfrm>
            <a:off x="6409944" y="2066544"/>
            <a:ext cx="4754880" cy="822960"/>
          </a:xfrm>
          <a:prstGeom prst="rect">
            <a:avLst/>
          </a:prstGeom>
          <a:noFill/>
        </p:spPr>
        <p:txBody>
          <a:bodyPr wrap="square" lIns="0" tIns="0" rIns="0" bIns="0">
            <a:spAutoFit/>
          </a:bodyPr>
          <a:lstStyle/>
          <a:p>
            <a:pPr>
              <a:lnSpc>
                <a:spcPts val="6600"/>
              </a:lnSpc>
            </a:pPr>
            <a:r>
              <a:rPr sz="6000" b="1">
                <a:solidFill>
                  <a:srgbClr val="2F5DA8"/>
                </a:solidFill>
                <a:latin typeface="Space Grotesk"/>
              </a:rPr>
              <a:t>663</a:t>
            </a:r>
          </a:p>
        </p:txBody>
      </p:sp>
      <p:sp>
        <p:nvSpPr>
          <p:cNvPr id="10" name="TextBox 9"/>
          <p:cNvSpPr txBox="1"/>
          <p:nvPr/>
        </p:nvSpPr>
        <p:spPr>
          <a:xfrm>
            <a:off x="6409944" y="2916936"/>
            <a:ext cx="4754880" cy="292608"/>
          </a:xfrm>
          <a:prstGeom prst="rect">
            <a:avLst/>
          </a:prstGeom>
          <a:noFill/>
        </p:spPr>
        <p:txBody>
          <a:bodyPr wrap="square" lIns="0" tIns="0" rIns="0" bIns="0">
            <a:spAutoFit/>
          </a:bodyPr>
          <a:lstStyle/>
          <a:p>
            <a:pPr>
              <a:lnSpc>
                <a:spcPts val="2100"/>
              </a:lnSpc>
            </a:pPr>
            <a:r>
              <a:rPr sz="1500" b="1">
                <a:solidFill>
                  <a:srgbClr val="14213D"/>
                </a:solidFill>
                <a:latin typeface="IBM Plex Sans"/>
              </a:rPr>
              <a:t>contrats échus avant 2023, pointés en 2023</a:t>
            </a:r>
          </a:p>
        </p:txBody>
      </p:sp>
      <p:sp>
        <p:nvSpPr>
          <p:cNvPr id="11" name="TextBox 10"/>
          <p:cNvSpPr txBox="1"/>
          <p:nvPr/>
        </p:nvSpPr>
        <p:spPr>
          <a:xfrm>
            <a:off x="6409944" y="3227832"/>
            <a:ext cx="4754880" cy="237744"/>
          </a:xfrm>
          <a:prstGeom prst="rect">
            <a:avLst/>
          </a:prstGeom>
          <a:noFill/>
        </p:spPr>
        <p:txBody>
          <a:bodyPr wrap="square" lIns="0" tIns="0" rIns="0" bIns="0">
            <a:spAutoFit/>
          </a:bodyPr>
          <a:lstStyle/>
          <a:p>
            <a:pPr>
              <a:lnSpc>
                <a:spcPts val="1700"/>
              </a:lnSpc>
            </a:pPr>
            <a:r>
              <a:rPr sz="1200" b="0">
                <a:solidFill>
                  <a:srgbClr val="3E4A5C"/>
                </a:solidFill>
                <a:latin typeface="IBM Plex Sans"/>
              </a:rPr>
              <a:t>sur 1 013 dates de fin avant fin 2023 : dates non fiables</a:t>
            </a:r>
          </a:p>
        </p:txBody>
      </p:sp>
      <p:sp>
        <p:nvSpPr>
          <p:cNvPr id="12" name="Rounded Rectangle 11"/>
          <p:cNvSpPr/>
          <p:nvPr/>
        </p:nvSpPr>
        <p:spPr>
          <a:xfrm>
            <a:off x="813816" y="3858768"/>
            <a:ext cx="5175504" cy="1792224"/>
          </a:xfrm>
          <a:prstGeom prst="roundRect">
            <a:avLst>
              <a:gd name="adj" fmla="val 4960"/>
            </a:avLst>
          </a:prstGeom>
          <a:solidFill>
            <a:srgbClr val="FDFCFA"/>
          </a:solidFill>
          <a:ln w="6350">
            <a:solidFill>
              <a:srgbClr val="DAD6CC"/>
            </a:solidFill>
          </a:ln>
        </p:spPr>
        <p:txBody>
          <a:bodyPr rtlCol="0" anchor="ctr"/>
          <a:lstStyle/>
          <a:p>
            <a:pPr algn="ctr"/>
            <a:endParaRPr/>
          </a:p>
        </p:txBody>
      </p:sp>
      <p:sp>
        <p:nvSpPr>
          <p:cNvPr id="13" name="TextBox 12"/>
          <p:cNvSpPr txBox="1"/>
          <p:nvPr/>
        </p:nvSpPr>
        <p:spPr>
          <a:xfrm>
            <a:off x="1024128" y="4069080"/>
            <a:ext cx="4754880" cy="822960"/>
          </a:xfrm>
          <a:prstGeom prst="rect">
            <a:avLst/>
          </a:prstGeom>
          <a:noFill/>
        </p:spPr>
        <p:txBody>
          <a:bodyPr wrap="square" lIns="0" tIns="0" rIns="0" bIns="0">
            <a:spAutoFit/>
          </a:bodyPr>
          <a:lstStyle/>
          <a:p>
            <a:pPr>
              <a:lnSpc>
                <a:spcPts val="6600"/>
              </a:lnSpc>
            </a:pPr>
            <a:r>
              <a:rPr sz="6000" b="1">
                <a:solidFill>
                  <a:srgbClr val="2F5DA8"/>
                </a:solidFill>
                <a:latin typeface="Space Grotesk"/>
              </a:rPr>
              <a:t>468</a:t>
            </a:r>
          </a:p>
        </p:txBody>
      </p:sp>
      <p:sp>
        <p:nvSpPr>
          <p:cNvPr id="14" name="TextBox 13"/>
          <p:cNvSpPr txBox="1"/>
          <p:nvPr/>
        </p:nvSpPr>
        <p:spPr>
          <a:xfrm>
            <a:off x="1024128" y="4919472"/>
            <a:ext cx="4754880" cy="292608"/>
          </a:xfrm>
          <a:prstGeom prst="rect">
            <a:avLst/>
          </a:prstGeom>
          <a:noFill/>
        </p:spPr>
        <p:txBody>
          <a:bodyPr wrap="square" lIns="0" tIns="0" rIns="0" bIns="0">
            <a:spAutoFit/>
          </a:bodyPr>
          <a:lstStyle/>
          <a:p>
            <a:pPr>
              <a:lnSpc>
                <a:spcPts val="2100"/>
              </a:lnSpc>
            </a:pPr>
            <a:r>
              <a:rPr sz="1500" b="1">
                <a:solidFill>
                  <a:srgbClr val="14213D"/>
                </a:solidFill>
                <a:latin typeface="IBM Plex Sans"/>
              </a:rPr>
              <a:t>CDI portant une date de fin</a:t>
            </a:r>
          </a:p>
        </p:txBody>
      </p:sp>
      <p:sp>
        <p:nvSpPr>
          <p:cNvPr id="15" name="TextBox 14"/>
          <p:cNvSpPr txBox="1"/>
          <p:nvPr/>
        </p:nvSpPr>
        <p:spPr>
          <a:xfrm>
            <a:off x="1024128" y="5230368"/>
            <a:ext cx="4754880" cy="237744"/>
          </a:xfrm>
          <a:prstGeom prst="rect">
            <a:avLst/>
          </a:prstGeom>
          <a:noFill/>
        </p:spPr>
        <p:txBody>
          <a:bodyPr wrap="square" lIns="0" tIns="0" rIns="0" bIns="0">
            <a:spAutoFit/>
          </a:bodyPr>
          <a:lstStyle/>
          <a:p>
            <a:pPr>
              <a:lnSpc>
                <a:spcPts val="1700"/>
              </a:lnSpc>
            </a:pPr>
            <a:r>
              <a:rPr sz="1200" b="0">
                <a:solidFill>
                  <a:srgbClr val="3E4A5C"/>
                </a:solidFill>
                <a:latin typeface="IBM Plex Sans"/>
              </a:rPr>
              <a:t>anomalie à corriger à la source</a:t>
            </a:r>
          </a:p>
        </p:txBody>
      </p:sp>
      <p:sp>
        <p:nvSpPr>
          <p:cNvPr id="16" name="Rounded Rectangle 15"/>
          <p:cNvSpPr/>
          <p:nvPr/>
        </p:nvSpPr>
        <p:spPr>
          <a:xfrm>
            <a:off x="6199632" y="3858768"/>
            <a:ext cx="5175504" cy="1792224"/>
          </a:xfrm>
          <a:prstGeom prst="roundRect">
            <a:avLst>
              <a:gd name="adj" fmla="val 4960"/>
            </a:avLst>
          </a:prstGeom>
          <a:solidFill>
            <a:srgbClr val="FDFCFA"/>
          </a:solidFill>
          <a:ln w="6350">
            <a:solidFill>
              <a:srgbClr val="DAD6CC"/>
            </a:solidFill>
          </a:ln>
        </p:spPr>
        <p:txBody>
          <a:bodyPr rtlCol="0" anchor="ctr"/>
          <a:lstStyle/>
          <a:p>
            <a:pPr algn="ctr"/>
            <a:endParaRPr/>
          </a:p>
        </p:txBody>
      </p:sp>
      <p:sp>
        <p:nvSpPr>
          <p:cNvPr id="17" name="TextBox 16"/>
          <p:cNvSpPr txBox="1"/>
          <p:nvPr/>
        </p:nvSpPr>
        <p:spPr>
          <a:xfrm>
            <a:off x="6409944" y="4069080"/>
            <a:ext cx="4754880" cy="822960"/>
          </a:xfrm>
          <a:prstGeom prst="rect">
            <a:avLst/>
          </a:prstGeom>
          <a:noFill/>
        </p:spPr>
        <p:txBody>
          <a:bodyPr wrap="square" lIns="0" tIns="0" rIns="0" bIns="0">
            <a:spAutoFit/>
          </a:bodyPr>
          <a:lstStyle/>
          <a:p>
            <a:pPr>
              <a:lnSpc>
                <a:spcPts val="6600"/>
              </a:lnSpc>
            </a:pPr>
            <a:r>
              <a:rPr sz="6000" b="1">
                <a:solidFill>
                  <a:srgbClr val="2F5DA8"/>
                </a:solidFill>
                <a:latin typeface="Space Grotesk"/>
              </a:rPr>
              <a:t>221</a:t>
            </a:r>
          </a:p>
        </p:txBody>
      </p:sp>
      <p:sp>
        <p:nvSpPr>
          <p:cNvPr id="18" name="TextBox 17"/>
          <p:cNvSpPr txBox="1"/>
          <p:nvPr/>
        </p:nvSpPr>
        <p:spPr>
          <a:xfrm>
            <a:off x="6409944" y="4919472"/>
            <a:ext cx="4754880" cy="292608"/>
          </a:xfrm>
          <a:prstGeom prst="rect">
            <a:avLst/>
          </a:prstGeom>
          <a:noFill/>
        </p:spPr>
        <p:txBody>
          <a:bodyPr wrap="square" lIns="0" tIns="0" rIns="0" bIns="0">
            <a:spAutoFit/>
          </a:bodyPr>
          <a:lstStyle/>
          <a:p>
            <a:pPr>
              <a:lnSpc>
                <a:spcPts val="2100"/>
              </a:lnSpc>
            </a:pPr>
            <a:r>
              <a:rPr sz="1500" b="1">
                <a:solidFill>
                  <a:srgbClr val="14213D"/>
                </a:solidFill>
                <a:latin typeface="IBM Plex Sans"/>
              </a:rPr>
              <a:t>vacataires déclarés en CDI</a:t>
            </a:r>
          </a:p>
        </p:txBody>
      </p:sp>
      <p:sp>
        <p:nvSpPr>
          <p:cNvPr id="19" name="TextBox 18"/>
          <p:cNvSpPr txBox="1"/>
          <p:nvPr/>
        </p:nvSpPr>
        <p:spPr>
          <a:xfrm>
            <a:off x="6409944" y="5230368"/>
            <a:ext cx="4754880" cy="237744"/>
          </a:xfrm>
          <a:prstGeom prst="rect">
            <a:avLst/>
          </a:prstGeom>
          <a:noFill/>
        </p:spPr>
        <p:txBody>
          <a:bodyPr wrap="square" lIns="0" tIns="0" rIns="0" bIns="0">
            <a:spAutoFit/>
          </a:bodyPr>
          <a:lstStyle/>
          <a:p>
            <a:pPr>
              <a:lnSpc>
                <a:spcPts val="1700"/>
              </a:lnSpc>
            </a:pPr>
            <a:r>
              <a:rPr sz="1200" b="0">
                <a:solidFill>
                  <a:srgbClr val="3E4A5C"/>
                </a:solidFill>
                <a:latin typeface="IBM Plex Sans"/>
              </a:rPr>
              <a:t>statut incohérent à corriger à la source</a:t>
            </a:r>
          </a:p>
        </p:txBody>
      </p:sp>
      <p:sp>
        <p:nvSpPr>
          <p:cNvPr id="20" name="TextBox 19"/>
          <p:cNvSpPr txBox="1"/>
          <p:nvPr/>
        </p:nvSpPr>
        <p:spPr>
          <a:xfrm>
            <a:off x="813816" y="5760720"/>
            <a:ext cx="10515600" cy="274320"/>
          </a:xfrm>
          <a:prstGeom prst="rect">
            <a:avLst/>
          </a:prstGeom>
          <a:noFill/>
        </p:spPr>
        <p:txBody>
          <a:bodyPr wrap="square" lIns="0" tIns="0" rIns="0" bIns="0">
            <a:spAutoFit/>
          </a:bodyPr>
          <a:lstStyle/>
          <a:p>
            <a:pPr>
              <a:lnSpc>
                <a:spcPts val="1700"/>
              </a:lnSpc>
            </a:pPr>
            <a:r>
              <a:rPr sz="1200" b="1">
                <a:solidFill>
                  <a:srgbClr val="3E4A5C"/>
                </a:solidFill>
                <a:latin typeface="IBM Plex Sans"/>
              </a:rPr>
              <a:t>Taux de rotation (turnover) : </a:t>
            </a:r>
            <a:r>
              <a:rPr sz="1200" b="0">
                <a:solidFill>
                  <a:srgbClr val="3E4A5C"/>
                </a:solidFill>
                <a:latin typeface="IBM Plex Sans"/>
              </a:rPr>
              <a:t>non mesurable aujourd’hui, aucun historique de sorties effectives.</a:t>
            </a:r>
          </a:p>
        </p:txBody>
      </p:sp>
      <p:sp>
        <p:nvSpPr>
          <p:cNvPr id="21" name="Footer"/>
          <p:cNvSpPr txBox="1"/>
          <p:nvPr/>
        </p:nvSpPr>
        <p:spPr>
          <a:xfrm>
            <a:off x="813816" y="6236208"/>
            <a:ext cx="10881360" cy="237744"/>
          </a:xfrm>
          <a:prstGeom prst="rect">
            <a:avLst/>
          </a:prstGeom>
          <a:noFill/>
        </p:spPr>
        <p:txBody>
          <a:bodyPr wrap="square" lIns="0" tIns="0" rIns="0" bIns="0">
            <a:spAutoFit/>
          </a:bodyPr>
          <a:lstStyle/>
          <a:p>
            <a:pPr>
              <a:lnSpc>
                <a:spcPts val="1700"/>
              </a:lnSpc>
            </a:pPr>
            <a:r>
              <a:rPr sz="1200" b="0">
                <a:solidFill>
                  <a:srgbClr val="6B7280"/>
                </a:solidFill>
                <a:latin typeface="IBM Plex Sans"/>
              </a:rPr>
              <a:t>Pilotage RH par la donnée · 13 · </a:t>
            </a:r>
            <a:r>
              <a:rPr sz="1200" b="0">
                <a:solidFill>
                  <a:srgbClr val="2F5DA8"/>
                </a:solidFill>
                <a:latin typeface="IBM Plex Sans"/>
              </a:rPr>
              <a:t>Code : cellule [7], section 6 (« FINS DE CONTRAT ») · CDI datés : cellule [11]</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6">
    <p:bg>
      <p:bgPr>
        <a:solidFill>
          <a:srgbClr val="ECEAE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531A"/>
                </a:solidFill>
                <a:latin typeface="IBM Plex Sans" pitchFamily="34" charset="0"/>
                <a:ea typeface="IBM Plex Sans" pitchFamily="34" charset="-122"/>
                <a:cs typeface="IBM Plex Sans" pitchFamily="34" charset="-120"/>
              </a:rPr>
              <a:t>OBJECTIFS MÉTIER</a:t>
            </a:r>
            <a:endParaRPr lang="en-US" sz="1200" dirty="0"/>
          </a:p>
        </p:txBody>
      </p:sp>
      <p:sp>
        <p:nvSpPr>
          <p:cNvPr id="3" name="Text 1"/>
          <p:cNvSpPr/>
          <p:nvPr/>
        </p:nvSpPr>
        <p:spPr>
          <a:xfrm>
            <a:off x="812800" y="11023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4213D"/>
                </a:solidFill>
                <a:latin typeface="Space Grotesk" pitchFamily="34" charset="0"/>
                <a:ea typeface="Space Grotesk" pitchFamily="34" charset="-122"/>
                <a:cs typeface="Space Grotesk" pitchFamily="34" charset="-120"/>
              </a:rPr>
              <a:t>Six objectifs, chacun mesuré par des KPI</a:t>
            </a:r>
            <a:endParaRPr lang="en-US" sz="3200" dirty="0"/>
          </a:p>
        </p:txBody>
      </p:sp>
      <p:sp>
        <p:nvSpPr>
          <p:cNvPr id="29" name="Text 27"/>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Pilotage RH par la donnée · 14 · </a:t>
            </a:r>
            <a:r>
              <a:rPr lang="en-US" sz="1200" dirty="0">
                <a:solidFill>
                  <a:srgbClr val="2F5DA8"/>
                </a:solidFill>
                <a:latin typeface="IBM Plex Sans" pitchFamily="34" charset="0"/>
                <a:ea typeface="IBM Plex Sans" pitchFamily="34" charset="-122"/>
                <a:cs typeface="IBM Plex Sans" pitchFamily="34" charset="-120"/>
              </a:rPr>
              <a:t>Code : cellule markdown d'introduction · titres des sections 2 à 6</a:t>
            </a:r>
            <a:endParaRPr lang="en-US" sz="1200" dirty="0"/>
          </a:p>
        </p:txBody>
      </p:sp>
      <p:sp>
        <p:nvSpPr>
          <p:cNvPr id="30" name="Card OM1"/>
          <p:cNvSpPr/>
          <p:nvPr/>
        </p:nvSpPr>
        <p:spPr>
          <a:xfrm>
            <a:off x="813816" y="1783080"/>
            <a:ext cx="3392424" cy="1874520"/>
          </a:xfrm>
          <a:prstGeom prst="roundRect">
            <a:avLst>
              <a:gd name="adj" fmla="val 4960"/>
            </a:avLst>
          </a:prstGeom>
          <a:solidFill>
            <a:srgbClr val="FDFCFA"/>
          </a:solidFill>
          <a:ln w="6350">
            <a:solidFill>
              <a:srgbClr val="DAD6CC"/>
            </a:solidFill>
          </a:ln>
        </p:spPr>
        <p:txBody>
          <a:bodyPr rtlCol="0" anchor="ctr"/>
          <a:lstStyle/>
          <a:p>
            <a:pPr algn="ctr"/>
            <a:endParaRPr/>
          </a:p>
        </p:txBody>
      </p:sp>
      <p:sp>
        <p:nvSpPr>
          <p:cNvPr id="31" name="TextBox 30"/>
          <p:cNvSpPr txBox="1"/>
          <p:nvPr/>
        </p:nvSpPr>
        <p:spPr>
          <a:xfrm>
            <a:off x="1014984" y="1947672"/>
            <a:ext cx="2990088" cy="237744"/>
          </a:xfrm>
          <a:prstGeom prst="rect">
            <a:avLst/>
          </a:prstGeom>
          <a:noFill/>
        </p:spPr>
        <p:txBody>
          <a:bodyPr wrap="square" lIns="0" tIns="0" rIns="0" bIns="0">
            <a:spAutoFit/>
          </a:bodyPr>
          <a:lstStyle/>
          <a:p>
            <a:pPr>
              <a:lnSpc>
                <a:spcPts val="1700"/>
              </a:lnSpc>
            </a:pPr>
            <a:r>
              <a:rPr sz="1200" b="1">
                <a:solidFill>
                  <a:srgbClr val="B4531A"/>
                </a:solidFill>
                <a:latin typeface="IBM Plex Sans"/>
              </a:rPr>
              <a:t>OM1</a:t>
            </a:r>
          </a:p>
        </p:txBody>
      </p:sp>
      <p:sp>
        <p:nvSpPr>
          <p:cNvPr id="32" name="TextBox 31"/>
          <p:cNvSpPr txBox="1"/>
          <p:nvPr/>
        </p:nvSpPr>
        <p:spPr>
          <a:xfrm>
            <a:off x="1014984" y="2203704"/>
            <a:ext cx="2990088" cy="274320"/>
          </a:xfrm>
          <a:prstGeom prst="rect">
            <a:avLst/>
          </a:prstGeom>
          <a:noFill/>
        </p:spPr>
        <p:txBody>
          <a:bodyPr wrap="square" lIns="0" tIns="0" rIns="0" bIns="0">
            <a:spAutoFit/>
          </a:bodyPr>
          <a:lstStyle/>
          <a:p>
            <a:pPr>
              <a:lnSpc>
                <a:spcPts val="2100"/>
              </a:lnSpc>
            </a:pPr>
            <a:r>
              <a:rPr sz="1500" b="1">
                <a:solidFill>
                  <a:srgbClr val="14213D"/>
                </a:solidFill>
                <a:latin typeface="Space Grotesk"/>
              </a:rPr>
              <a:t>Aligner effectif et capacité</a:t>
            </a:r>
          </a:p>
        </p:txBody>
      </p:sp>
      <p:sp>
        <p:nvSpPr>
          <p:cNvPr id="33" name="TextBox 32"/>
          <p:cNvSpPr txBox="1"/>
          <p:nvPr/>
        </p:nvSpPr>
        <p:spPr>
          <a:xfrm>
            <a:off x="1014984" y="2551176"/>
            <a:ext cx="2990088" cy="457200"/>
          </a:xfrm>
          <a:prstGeom prst="rect">
            <a:avLst/>
          </a:prstGeom>
          <a:noFill/>
        </p:spPr>
        <p:txBody>
          <a:bodyPr wrap="square" lIns="0" tIns="0" rIns="0" bIns="0">
            <a:spAutoFit/>
          </a:bodyPr>
          <a:lstStyle/>
          <a:p>
            <a:pPr>
              <a:lnSpc>
                <a:spcPts val="1800"/>
              </a:lnSpc>
            </a:pPr>
            <a:r>
              <a:rPr sz="1300" b="0">
                <a:solidFill>
                  <a:srgbClr val="3E4A5C"/>
                </a:solidFill>
                <a:latin typeface="IBM Plex Sans"/>
              </a:rPr>
              <a:t>L'effectif colle-t-il à la capacité des départements ?</a:t>
            </a:r>
          </a:p>
        </p:txBody>
      </p:sp>
      <p:sp>
        <p:nvSpPr>
          <p:cNvPr id="34" name="TextBox 33"/>
          <p:cNvSpPr txBox="1"/>
          <p:nvPr/>
        </p:nvSpPr>
        <p:spPr>
          <a:xfrm>
            <a:off x="1014984" y="3063240"/>
            <a:ext cx="2990088" cy="411480"/>
          </a:xfrm>
          <a:prstGeom prst="rect">
            <a:avLst/>
          </a:prstGeom>
          <a:noFill/>
        </p:spPr>
        <p:txBody>
          <a:bodyPr wrap="square" lIns="0" tIns="0" rIns="0" bIns="0">
            <a:spAutoFit/>
          </a:bodyPr>
          <a:lstStyle/>
          <a:p>
            <a:pPr>
              <a:lnSpc>
                <a:spcPts val="1700"/>
              </a:lnSpc>
            </a:pPr>
            <a:r>
              <a:rPr sz="1200" b="0">
                <a:solidFill>
                  <a:srgbClr val="2F5DA8"/>
                </a:solidFill>
                <a:latin typeface="IBM Plex Sans"/>
              </a:rPr>
              <a:t>Taux d'occupation, contrats courts, ancienneté</a:t>
            </a:r>
          </a:p>
        </p:txBody>
      </p:sp>
      <p:sp>
        <p:nvSpPr>
          <p:cNvPr id="35" name="Card OM2"/>
          <p:cNvSpPr/>
          <p:nvPr/>
        </p:nvSpPr>
        <p:spPr>
          <a:xfrm>
            <a:off x="4389120" y="1783080"/>
            <a:ext cx="3392424" cy="1874520"/>
          </a:xfrm>
          <a:prstGeom prst="roundRect">
            <a:avLst>
              <a:gd name="adj" fmla="val 4960"/>
            </a:avLst>
          </a:prstGeom>
          <a:solidFill>
            <a:srgbClr val="FDFCFA"/>
          </a:solidFill>
          <a:ln w="6350">
            <a:solidFill>
              <a:srgbClr val="DAD6CC"/>
            </a:solidFill>
          </a:ln>
        </p:spPr>
        <p:txBody>
          <a:bodyPr rtlCol="0" anchor="ctr"/>
          <a:lstStyle/>
          <a:p>
            <a:pPr algn="ctr"/>
            <a:endParaRPr/>
          </a:p>
        </p:txBody>
      </p:sp>
      <p:sp>
        <p:nvSpPr>
          <p:cNvPr id="36" name="TextBox 35"/>
          <p:cNvSpPr txBox="1"/>
          <p:nvPr/>
        </p:nvSpPr>
        <p:spPr>
          <a:xfrm>
            <a:off x="4590288" y="1947672"/>
            <a:ext cx="2990088" cy="237744"/>
          </a:xfrm>
          <a:prstGeom prst="rect">
            <a:avLst/>
          </a:prstGeom>
          <a:noFill/>
        </p:spPr>
        <p:txBody>
          <a:bodyPr wrap="square" lIns="0" tIns="0" rIns="0" bIns="0">
            <a:spAutoFit/>
          </a:bodyPr>
          <a:lstStyle/>
          <a:p>
            <a:pPr>
              <a:lnSpc>
                <a:spcPts val="1700"/>
              </a:lnSpc>
            </a:pPr>
            <a:r>
              <a:rPr sz="1200" b="1">
                <a:solidFill>
                  <a:srgbClr val="B4531A"/>
                </a:solidFill>
                <a:latin typeface="IBM Plex Sans"/>
              </a:rPr>
              <a:t>OM2</a:t>
            </a:r>
          </a:p>
        </p:txBody>
      </p:sp>
      <p:sp>
        <p:nvSpPr>
          <p:cNvPr id="37" name="TextBox 36"/>
          <p:cNvSpPr txBox="1"/>
          <p:nvPr/>
        </p:nvSpPr>
        <p:spPr>
          <a:xfrm>
            <a:off x="4590288" y="2203704"/>
            <a:ext cx="2990088" cy="274320"/>
          </a:xfrm>
          <a:prstGeom prst="rect">
            <a:avLst/>
          </a:prstGeom>
          <a:noFill/>
        </p:spPr>
        <p:txBody>
          <a:bodyPr wrap="square" lIns="0" tIns="0" rIns="0" bIns="0">
            <a:spAutoFit/>
          </a:bodyPr>
          <a:lstStyle/>
          <a:p>
            <a:pPr>
              <a:lnSpc>
                <a:spcPts val="2100"/>
              </a:lnSpc>
            </a:pPr>
            <a:r>
              <a:rPr sz="1500" b="1">
                <a:solidFill>
                  <a:srgbClr val="14213D"/>
                </a:solidFill>
                <a:latin typeface="Space Grotesk"/>
              </a:rPr>
              <a:t>Maîtriser coûts et équité</a:t>
            </a:r>
          </a:p>
        </p:txBody>
      </p:sp>
      <p:sp>
        <p:nvSpPr>
          <p:cNvPr id="38" name="TextBox 37"/>
          <p:cNvSpPr txBox="1"/>
          <p:nvPr/>
        </p:nvSpPr>
        <p:spPr>
          <a:xfrm>
            <a:off x="4590288" y="2551176"/>
            <a:ext cx="2990088" cy="457200"/>
          </a:xfrm>
          <a:prstGeom prst="rect">
            <a:avLst/>
          </a:prstGeom>
          <a:noFill/>
        </p:spPr>
        <p:txBody>
          <a:bodyPr wrap="square" lIns="0" tIns="0" rIns="0" bIns="0">
            <a:spAutoFit/>
          </a:bodyPr>
          <a:lstStyle/>
          <a:p>
            <a:pPr>
              <a:lnSpc>
                <a:spcPts val="1800"/>
              </a:lnSpc>
            </a:pPr>
            <a:r>
              <a:rPr sz="1300" b="0">
                <a:solidFill>
                  <a:srgbClr val="3E4A5C"/>
                </a:solidFill>
                <a:latin typeface="IBM Plex Sans"/>
              </a:rPr>
              <a:t>La masse salariale est-elle maîtrisée et équitable ?</a:t>
            </a:r>
          </a:p>
        </p:txBody>
      </p:sp>
      <p:sp>
        <p:nvSpPr>
          <p:cNvPr id="39" name="TextBox 38"/>
          <p:cNvSpPr txBox="1"/>
          <p:nvPr/>
        </p:nvSpPr>
        <p:spPr>
          <a:xfrm>
            <a:off x="4590288" y="3063240"/>
            <a:ext cx="2990088" cy="411480"/>
          </a:xfrm>
          <a:prstGeom prst="rect">
            <a:avLst/>
          </a:prstGeom>
          <a:noFill/>
        </p:spPr>
        <p:txBody>
          <a:bodyPr wrap="square" lIns="0" tIns="0" rIns="0" bIns="0">
            <a:spAutoFit/>
          </a:bodyPr>
          <a:lstStyle/>
          <a:p>
            <a:pPr>
              <a:lnSpc>
                <a:spcPts val="1700"/>
              </a:lnSpc>
            </a:pPr>
            <a:r>
              <a:rPr sz="1200" b="0">
                <a:solidFill>
                  <a:srgbClr val="2F5DA8"/>
                </a:solidFill>
                <a:latin typeface="IBM Plex Sans"/>
              </a:rPr>
              <a:t>Coût mensuel, salaire médian, écart H/F</a:t>
            </a:r>
          </a:p>
        </p:txBody>
      </p:sp>
      <p:sp>
        <p:nvSpPr>
          <p:cNvPr id="40" name="Card OM3"/>
          <p:cNvSpPr/>
          <p:nvPr/>
        </p:nvSpPr>
        <p:spPr>
          <a:xfrm>
            <a:off x="7964424" y="1783080"/>
            <a:ext cx="3392424" cy="1874520"/>
          </a:xfrm>
          <a:prstGeom prst="roundRect">
            <a:avLst>
              <a:gd name="adj" fmla="val 4960"/>
            </a:avLst>
          </a:prstGeom>
          <a:solidFill>
            <a:srgbClr val="FDFCFA"/>
          </a:solidFill>
          <a:ln w="6350">
            <a:solidFill>
              <a:srgbClr val="DAD6CC"/>
            </a:solidFill>
          </a:ln>
        </p:spPr>
        <p:txBody>
          <a:bodyPr rtlCol="0" anchor="ctr"/>
          <a:lstStyle/>
          <a:p>
            <a:pPr algn="ctr"/>
            <a:endParaRPr/>
          </a:p>
        </p:txBody>
      </p:sp>
      <p:sp>
        <p:nvSpPr>
          <p:cNvPr id="41" name="TextBox 40"/>
          <p:cNvSpPr txBox="1"/>
          <p:nvPr/>
        </p:nvSpPr>
        <p:spPr>
          <a:xfrm>
            <a:off x="8165592" y="1947672"/>
            <a:ext cx="2990088" cy="237744"/>
          </a:xfrm>
          <a:prstGeom prst="rect">
            <a:avLst/>
          </a:prstGeom>
          <a:noFill/>
        </p:spPr>
        <p:txBody>
          <a:bodyPr wrap="square" lIns="0" tIns="0" rIns="0" bIns="0">
            <a:spAutoFit/>
          </a:bodyPr>
          <a:lstStyle/>
          <a:p>
            <a:pPr>
              <a:lnSpc>
                <a:spcPts val="1700"/>
              </a:lnSpc>
            </a:pPr>
            <a:r>
              <a:rPr sz="1200" b="1">
                <a:solidFill>
                  <a:srgbClr val="B4531A"/>
                </a:solidFill>
                <a:latin typeface="IBM Plex Sans"/>
              </a:rPr>
              <a:t>OM3</a:t>
            </a:r>
          </a:p>
        </p:txBody>
      </p:sp>
      <p:sp>
        <p:nvSpPr>
          <p:cNvPr id="42" name="TextBox 41"/>
          <p:cNvSpPr txBox="1"/>
          <p:nvPr/>
        </p:nvSpPr>
        <p:spPr>
          <a:xfrm>
            <a:off x="8165592" y="2203704"/>
            <a:ext cx="2990088" cy="274320"/>
          </a:xfrm>
          <a:prstGeom prst="rect">
            <a:avLst/>
          </a:prstGeom>
          <a:noFill/>
        </p:spPr>
        <p:txBody>
          <a:bodyPr wrap="square" lIns="0" tIns="0" rIns="0" bIns="0">
            <a:spAutoFit/>
          </a:bodyPr>
          <a:lstStyle/>
          <a:p>
            <a:pPr>
              <a:lnSpc>
                <a:spcPts val="2100"/>
              </a:lnSpc>
            </a:pPr>
            <a:r>
              <a:rPr sz="1500" b="1">
                <a:solidFill>
                  <a:srgbClr val="14213D"/>
                </a:solidFill>
                <a:latin typeface="Space Grotesk"/>
              </a:rPr>
              <a:t>Mesurer le temps travaillé</a:t>
            </a:r>
          </a:p>
        </p:txBody>
      </p:sp>
      <p:sp>
        <p:nvSpPr>
          <p:cNvPr id="43" name="TextBox 42"/>
          <p:cNvSpPr txBox="1"/>
          <p:nvPr/>
        </p:nvSpPr>
        <p:spPr>
          <a:xfrm>
            <a:off x="8165592" y="2551176"/>
            <a:ext cx="2990088" cy="457200"/>
          </a:xfrm>
          <a:prstGeom prst="rect">
            <a:avLst/>
          </a:prstGeom>
          <a:noFill/>
        </p:spPr>
        <p:txBody>
          <a:bodyPr wrap="square" lIns="0" tIns="0" rIns="0" bIns="0">
            <a:spAutoFit/>
          </a:bodyPr>
          <a:lstStyle/>
          <a:p>
            <a:pPr>
              <a:lnSpc>
                <a:spcPts val="1800"/>
              </a:lnSpc>
            </a:pPr>
            <a:r>
              <a:rPr sz="1300" b="0">
                <a:solidFill>
                  <a:srgbClr val="3E4A5C"/>
                </a:solidFill>
                <a:latin typeface="IBM Plex Sans"/>
              </a:rPr>
              <a:t>Quel temps est réellement travaillé ?</a:t>
            </a:r>
          </a:p>
        </p:txBody>
      </p:sp>
      <p:sp>
        <p:nvSpPr>
          <p:cNvPr id="44" name="TextBox 43"/>
          <p:cNvSpPr txBox="1"/>
          <p:nvPr/>
        </p:nvSpPr>
        <p:spPr>
          <a:xfrm>
            <a:off x="8165592" y="3063240"/>
            <a:ext cx="2990088" cy="411480"/>
          </a:xfrm>
          <a:prstGeom prst="rect">
            <a:avLst/>
          </a:prstGeom>
          <a:noFill/>
        </p:spPr>
        <p:txBody>
          <a:bodyPr wrap="square" lIns="0" tIns="0" rIns="0" bIns="0">
            <a:spAutoFit/>
          </a:bodyPr>
          <a:lstStyle/>
          <a:p>
            <a:pPr>
              <a:lnSpc>
                <a:spcPts val="1700"/>
              </a:lnSpc>
            </a:pPr>
            <a:r>
              <a:rPr sz="1200" b="0">
                <a:solidFill>
                  <a:srgbClr val="2F5DA8"/>
                </a:solidFill>
                <a:latin typeface="IBM Plex Sans"/>
              </a:rPr>
              <a:t>Heures par jour, retards, jours &gt; 8 h</a:t>
            </a:r>
          </a:p>
        </p:txBody>
      </p:sp>
      <p:sp>
        <p:nvSpPr>
          <p:cNvPr id="45" name="Card OM4"/>
          <p:cNvSpPr/>
          <p:nvPr/>
        </p:nvSpPr>
        <p:spPr>
          <a:xfrm>
            <a:off x="813816" y="3794760"/>
            <a:ext cx="3392424" cy="1874520"/>
          </a:xfrm>
          <a:prstGeom prst="roundRect">
            <a:avLst>
              <a:gd name="adj" fmla="val 4960"/>
            </a:avLst>
          </a:prstGeom>
          <a:solidFill>
            <a:srgbClr val="FDFCFA"/>
          </a:solidFill>
          <a:ln w="6350">
            <a:solidFill>
              <a:srgbClr val="DAD6CC"/>
            </a:solidFill>
          </a:ln>
        </p:spPr>
        <p:txBody>
          <a:bodyPr rtlCol="0" anchor="ctr"/>
          <a:lstStyle/>
          <a:p>
            <a:pPr algn="ctr"/>
            <a:endParaRPr/>
          </a:p>
        </p:txBody>
      </p:sp>
      <p:sp>
        <p:nvSpPr>
          <p:cNvPr id="46" name="TextBox 45"/>
          <p:cNvSpPr txBox="1"/>
          <p:nvPr/>
        </p:nvSpPr>
        <p:spPr>
          <a:xfrm>
            <a:off x="1014984" y="3959352"/>
            <a:ext cx="2990088" cy="237744"/>
          </a:xfrm>
          <a:prstGeom prst="rect">
            <a:avLst/>
          </a:prstGeom>
          <a:noFill/>
        </p:spPr>
        <p:txBody>
          <a:bodyPr wrap="square" lIns="0" tIns="0" rIns="0" bIns="0">
            <a:spAutoFit/>
          </a:bodyPr>
          <a:lstStyle/>
          <a:p>
            <a:pPr>
              <a:lnSpc>
                <a:spcPts val="1700"/>
              </a:lnSpc>
            </a:pPr>
            <a:r>
              <a:rPr sz="1200" b="1">
                <a:solidFill>
                  <a:srgbClr val="B4531A"/>
                </a:solidFill>
                <a:latin typeface="IBM Plex Sans"/>
              </a:rPr>
              <a:t>OM4</a:t>
            </a:r>
          </a:p>
        </p:txBody>
      </p:sp>
      <p:sp>
        <p:nvSpPr>
          <p:cNvPr id="47" name="TextBox 46"/>
          <p:cNvSpPr txBox="1"/>
          <p:nvPr/>
        </p:nvSpPr>
        <p:spPr>
          <a:xfrm>
            <a:off x="1014984" y="4215384"/>
            <a:ext cx="2990088" cy="274320"/>
          </a:xfrm>
          <a:prstGeom prst="rect">
            <a:avLst/>
          </a:prstGeom>
          <a:noFill/>
        </p:spPr>
        <p:txBody>
          <a:bodyPr wrap="square" lIns="0" tIns="0" rIns="0" bIns="0">
            <a:spAutoFit/>
          </a:bodyPr>
          <a:lstStyle/>
          <a:p>
            <a:pPr>
              <a:lnSpc>
                <a:spcPts val="2100"/>
              </a:lnSpc>
            </a:pPr>
            <a:r>
              <a:rPr sz="1500" b="1">
                <a:solidFill>
                  <a:srgbClr val="14213D"/>
                </a:solidFill>
                <a:latin typeface="Space Grotesk"/>
              </a:rPr>
              <a:t>Renforcer les compétences</a:t>
            </a:r>
          </a:p>
        </p:txBody>
      </p:sp>
      <p:sp>
        <p:nvSpPr>
          <p:cNvPr id="48" name="TextBox 47"/>
          <p:cNvSpPr txBox="1"/>
          <p:nvPr/>
        </p:nvSpPr>
        <p:spPr>
          <a:xfrm>
            <a:off x="1014984" y="4562856"/>
            <a:ext cx="2990088" cy="457200"/>
          </a:xfrm>
          <a:prstGeom prst="rect">
            <a:avLst/>
          </a:prstGeom>
          <a:noFill/>
        </p:spPr>
        <p:txBody>
          <a:bodyPr wrap="square" lIns="0" tIns="0" rIns="0" bIns="0">
            <a:spAutoFit/>
          </a:bodyPr>
          <a:lstStyle/>
          <a:p>
            <a:pPr>
              <a:lnSpc>
                <a:spcPts val="1800"/>
              </a:lnSpc>
            </a:pPr>
            <a:r>
              <a:rPr sz="1300" b="0">
                <a:solidFill>
                  <a:srgbClr val="3E4A5C"/>
                </a:solidFill>
                <a:latin typeface="IBM Plex Sans"/>
              </a:rPr>
              <a:t>Les compétences se développent-elles ?</a:t>
            </a:r>
          </a:p>
        </p:txBody>
      </p:sp>
      <p:sp>
        <p:nvSpPr>
          <p:cNvPr id="49" name="TextBox 48"/>
          <p:cNvSpPr txBox="1"/>
          <p:nvPr/>
        </p:nvSpPr>
        <p:spPr>
          <a:xfrm>
            <a:off x="1014984" y="5074920"/>
            <a:ext cx="2990088" cy="411480"/>
          </a:xfrm>
          <a:prstGeom prst="rect">
            <a:avLst/>
          </a:prstGeom>
          <a:noFill/>
        </p:spPr>
        <p:txBody>
          <a:bodyPr wrap="square" lIns="0" tIns="0" rIns="0" bIns="0">
            <a:spAutoFit/>
          </a:bodyPr>
          <a:lstStyle/>
          <a:p>
            <a:pPr>
              <a:lnSpc>
                <a:spcPts val="1700"/>
              </a:lnSpc>
            </a:pPr>
            <a:r>
              <a:rPr sz="1200" b="0">
                <a:solidFill>
                  <a:srgbClr val="2F5DA8"/>
                </a:solidFill>
                <a:latin typeface="IBM Plex Sans"/>
              </a:rPr>
              <a:t>Couverture, formations par employé, niveaux</a:t>
            </a:r>
          </a:p>
        </p:txBody>
      </p:sp>
      <p:sp>
        <p:nvSpPr>
          <p:cNvPr id="50" name="Card OM5"/>
          <p:cNvSpPr/>
          <p:nvPr/>
        </p:nvSpPr>
        <p:spPr>
          <a:xfrm>
            <a:off x="4389120" y="3794760"/>
            <a:ext cx="3392424" cy="1874520"/>
          </a:xfrm>
          <a:prstGeom prst="roundRect">
            <a:avLst>
              <a:gd name="adj" fmla="val 4960"/>
            </a:avLst>
          </a:prstGeom>
          <a:solidFill>
            <a:srgbClr val="FDFCFA"/>
          </a:solidFill>
          <a:ln w="6350">
            <a:solidFill>
              <a:srgbClr val="DAD6CC"/>
            </a:solidFill>
          </a:ln>
        </p:spPr>
        <p:txBody>
          <a:bodyPr rtlCol="0" anchor="ctr"/>
          <a:lstStyle/>
          <a:p>
            <a:pPr algn="ctr"/>
            <a:endParaRPr/>
          </a:p>
        </p:txBody>
      </p:sp>
      <p:sp>
        <p:nvSpPr>
          <p:cNvPr id="51" name="TextBox 50"/>
          <p:cNvSpPr txBox="1"/>
          <p:nvPr/>
        </p:nvSpPr>
        <p:spPr>
          <a:xfrm>
            <a:off x="4590288" y="3959352"/>
            <a:ext cx="2990088" cy="237744"/>
          </a:xfrm>
          <a:prstGeom prst="rect">
            <a:avLst/>
          </a:prstGeom>
          <a:noFill/>
        </p:spPr>
        <p:txBody>
          <a:bodyPr wrap="square" lIns="0" tIns="0" rIns="0" bIns="0">
            <a:spAutoFit/>
          </a:bodyPr>
          <a:lstStyle/>
          <a:p>
            <a:pPr>
              <a:lnSpc>
                <a:spcPts val="1700"/>
              </a:lnSpc>
            </a:pPr>
            <a:r>
              <a:rPr sz="1200" b="1">
                <a:solidFill>
                  <a:srgbClr val="B4531A"/>
                </a:solidFill>
                <a:latin typeface="IBM Plex Sans"/>
              </a:rPr>
              <a:t>OM5</a:t>
            </a:r>
          </a:p>
        </p:txBody>
      </p:sp>
      <p:sp>
        <p:nvSpPr>
          <p:cNvPr id="52" name="TextBox 51"/>
          <p:cNvSpPr txBox="1"/>
          <p:nvPr/>
        </p:nvSpPr>
        <p:spPr>
          <a:xfrm>
            <a:off x="4590288" y="4215384"/>
            <a:ext cx="2990088" cy="274320"/>
          </a:xfrm>
          <a:prstGeom prst="rect">
            <a:avLst/>
          </a:prstGeom>
          <a:noFill/>
        </p:spPr>
        <p:txBody>
          <a:bodyPr wrap="square" lIns="0" tIns="0" rIns="0" bIns="0">
            <a:spAutoFit/>
          </a:bodyPr>
          <a:lstStyle/>
          <a:p>
            <a:pPr>
              <a:lnSpc>
                <a:spcPts val="2100"/>
              </a:lnSpc>
            </a:pPr>
            <a:r>
              <a:rPr sz="1500" b="1">
                <a:solidFill>
                  <a:srgbClr val="14213D"/>
                </a:solidFill>
                <a:latin typeface="Space Grotesk"/>
              </a:rPr>
              <a:t>Maîtriser les congés</a:t>
            </a:r>
          </a:p>
        </p:txBody>
      </p:sp>
      <p:sp>
        <p:nvSpPr>
          <p:cNvPr id="53" name="TextBox 52"/>
          <p:cNvSpPr txBox="1"/>
          <p:nvPr/>
        </p:nvSpPr>
        <p:spPr>
          <a:xfrm>
            <a:off x="4590288" y="4562856"/>
            <a:ext cx="2990088" cy="457200"/>
          </a:xfrm>
          <a:prstGeom prst="rect">
            <a:avLst/>
          </a:prstGeom>
          <a:noFill/>
        </p:spPr>
        <p:txBody>
          <a:bodyPr wrap="square" lIns="0" tIns="0" rIns="0" bIns="0">
            <a:spAutoFit/>
          </a:bodyPr>
          <a:lstStyle/>
          <a:p>
            <a:pPr>
              <a:lnSpc>
                <a:spcPts val="1800"/>
              </a:lnSpc>
            </a:pPr>
            <a:r>
              <a:rPr sz="1300" b="0">
                <a:solidFill>
                  <a:srgbClr val="3E4A5C"/>
                </a:solidFill>
                <a:latin typeface="IBM Plex Sans"/>
              </a:rPr>
              <a:t>Les congés sont-ils maîtrisés ?</a:t>
            </a:r>
          </a:p>
        </p:txBody>
      </p:sp>
      <p:sp>
        <p:nvSpPr>
          <p:cNvPr id="54" name="TextBox 53"/>
          <p:cNvSpPr txBox="1"/>
          <p:nvPr/>
        </p:nvSpPr>
        <p:spPr>
          <a:xfrm>
            <a:off x="4590288" y="5074920"/>
            <a:ext cx="2990088" cy="411480"/>
          </a:xfrm>
          <a:prstGeom prst="rect">
            <a:avLst/>
          </a:prstGeom>
          <a:noFill/>
        </p:spPr>
        <p:txBody>
          <a:bodyPr wrap="square" lIns="0" tIns="0" rIns="0" bIns="0">
            <a:spAutoFit/>
          </a:bodyPr>
          <a:lstStyle/>
          <a:p>
            <a:pPr>
              <a:lnSpc>
                <a:spcPts val="1700"/>
              </a:lnSpc>
            </a:pPr>
            <a:r>
              <a:rPr sz="1200" b="0">
                <a:solidFill>
                  <a:srgbClr val="2F5DA8"/>
                </a:solidFill>
                <a:latin typeface="IBM Plex Sans"/>
              </a:rPr>
              <a:t>Taux de consommation, solde, types de congé</a:t>
            </a:r>
          </a:p>
        </p:txBody>
      </p:sp>
      <p:sp>
        <p:nvSpPr>
          <p:cNvPr id="55" name="Card OM6"/>
          <p:cNvSpPr/>
          <p:nvPr/>
        </p:nvSpPr>
        <p:spPr>
          <a:xfrm>
            <a:off x="7964424" y="3794760"/>
            <a:ext cx="3392424" cy="1874520"/>
          </a:xfrm>
          <a:prstGeom prst="roundRect">
            <a:avLst>
              <a:gd name="adj" fmla="val 4960"/>
            </a:avLst>
          </a:prstGeom>
          <a:solidFill>
            <a:srgbClr val="FDFCFA"/>
          </a:solidFill>
          <a:ln w="6350">
            <a:solidFill>
              <a:srgbClr val="DAD6CC"/>
            </a:solidFill>
          </a:ln>
        </p:spPr>
        <p:txBody>
          <a:bodyPr rtlCol="0" anchor="ctr"/>
          <a:lstStyle/>
          <a:p>
            <a:pPr algn="ctr"/>
            <a:endParaRPr/>
          </a:p>
        </p:txBody>
      </p:sp>
      <p:sp>
        <p:nvSpPr>
          <p:cNvPr id="56" name="TextBox 55"/>
          <p:cNvSpPr txBox="1"/>
          <p:nvPr/>
        </p:nvSpPr>
        <p:spPr>
          <a:xfrm>
            <a:off x="8165592" y="3959352"/>
            <a:ext cx="2990088" cy="237744"/>
          </a:xfrm>
          <a:prstGeom prst="rect">
            <a:avLst/>
          </a:prstGeom>
          <a:noFill/>
        </p:spPr>
        <p:txBody>
          <a:bodyPr wrap="square" lIns="0" tIns="0" rIns="0" bIns="0">
            <a:spAutoFit/>
          </a:bodyPr>
          <a:lstStyle/>
          <a:p>
            <a:pPr>
              <a:lnSpc>
                <a:spcPts val="1700"/>
              </a:lnSpc>
            </a:pPr>
            <a:r>
              <a:rPr sz="1200" b="1">
                <a:solidFill>
                  <a:srgbClr val="B4531A"/>
                </a:solidFill>
                <a:latin typeface="IBM Plex Sans"/>
              </a:rPr>
              <a:t>OM6</a:t>
            </a:r>
          </a:p>
        </p:txBody>
      </p:sp>
      <p:sp>
        <p:nvSpPr>
          <p:cNvPr id="57" name="TextBox 56"/>
          <p:cNvSpPr txBox="1"/>
          <p:nvPr/>
        </p:nvSpPr>
        <p:spPr>
          <a:xfrm>
            <a:off x="8165592" y="4215384"/>
            <a:ext cx="2990088" cy="274320"/>
          </a:xfrm>
          <a:prstGeom prst="rect">
            <a:avLst/>
          </a:prstGeom>
          <a:noFill/>
        </p:spPr>
        <p:txBody>
          <a:bodyPr wrap="square" lIns="0" tIns="0" rIns="0" bIns="0">
            <a:spAutoFit/>
          </a:bodyPr>
          <a:lstStyle/>
          <a:p>
            <a:pPr>
              <a:lnSpc>
                <a:spcPts val="2100"/>
              </a:lnSpc>
            </a:pPr>
            <a:r>
              <a:rPr sz="1500" b="1">
                <a:solidFill>
                  <a:srgbClr val="14213D"/>
                </a:solidFill>
                <a:latin typeface="Space Grotesk"/>
              </a:rPr>
              <a:t>Anticiper les échéances</a:t>
            </a:r>
          </a:p>
        </p:txBody>
      </p:sp>
      <p:sp>
        <p:nvSpPr>
          <p:cNvPr id="58" name="TextBox 57"/>
          <p:cNvSpPr txBox="1"/>
          <p:nvPr/>
        </p:nvSpPr>
        <p:spPr>
          <a:xfrm>
            <a:off x="8165592" y="4562856"/>
            <a:ext cx="2990088" cy="457200"/>
          </a:xfrm>
          <a:prstGeom prst="rect">
            <a:avLst/>
          </a:prstGeom>
          <a:noFill/>
        </p:spPr>
        <p:txBody>
          <a:bodyPr wrap="square" lIns="0" tIns="0" rIns="0" bIns="0">
            <a:spAutoFit/>
          </a:bodyPr>
          <a:lstStyle/>
          <a:p>
            <a:pPr>
              <a:lnSpc>
                <a:spcPts val="1800"/>
              </a:lnSpc>
            </a:pPr>
            <a:r>
              <a:rPr sz="1300" b="0">
                <a:solidFill>
                  <a:srgbClr val="3E4A5C"/>
                </a:solidFill>
                <a:latin typeface="IBM Plex Sans"/>
              </a:rPr>
              <a:t>Quelles échéances anticiper, sur quelles données ?</a:t>
            </a:r>
          </a:p>
        </p:txBody>
      </p:sp>
      <p:sp>
        <p:nvSpPr>
          <p:cNvPr id="59" name="TextBox 58"/>
          <p:cNvSpPr txBox="1"/>
          <p:nvPr/>
        </p:nvSpPr>
        <p:spPr>
          <a:xfrm>
            <a:off x="8165592" y="5074920"/>
            <a:ext cx="2990088" cy="411480"/>
          </a:xfrm>
          <a:prstGeom prst="rect">
            <a:avLst/>
          </a:prstGeom>
          <a:noFill/>
        </p:spPr>
        <p:txBody>
          <a:bodyPr wrap="square" lIns="0" tIns="0" rIns="0" bIns="0">
            <a:spAutoFit/>
          </a:bodyPr>
          <a:lstStyle/>
          <a:p>
            <a:pPr>
              <a:lnSpc>
                <a:spcPts val="1700"/>
              </a:lnSpc>
            </a:pPr>
            <a:r>
              <a:rPr sz="1200" b="0">
                <a:solidFill>
                  <a:srgbClr val="2F5DA8"/>
                </a:solidFill>
                <a:latin typeface="IBM Plex Sans"/>
              </a:rPr>
              <a:t>Échéances à 90 jours, anomalies de contrat</a:t>
            </a:r>
          </a:p>
        </p:txBody>
      </p:sp>
      <p:sp>
        <p:nvSpPr>
          <p:cNvPr id="60" name="Note"/>
          <p:cNvSpPr txBox="1"/>
          <p:nvPr/>
        </p:nvSpPr>
        <p:spPr>
          <a:xfrm>
            <a:off x="813816" y="5806440"/>
            <a:ext cx="10881360" cy="274320"/>
          </a:xfrm>
          <a:prstGeom prst="rect">
            <a:avLst/>
          </a:prstGeom>
          <a:noFill/>
        </p:spPr>
        <p:txBody>
          <a:bodyPr wrap="square" lIns="0" tIns="0" rIns="0" bIns="0">
            <a:spAutoFit/>
          </a:bodyPr>
          <a:lstStyle/>
          <a:p>
            <a:pPr>
              <a:lnSpc>
                <a:spcPts val="1700"/>
              </a:lnSpc>
            </a:pPr>
            <a:r>
              <a:rPr sz="1200" b="0">
                <a:solidFill>
                  <a:srgbClr val="3E4A5C"/>
                </a:solidFill>
                <a:latin typeface="IBM Plex Sans"/>
              </a:rPr>
              <a:t>Chaque objectif est relié à des OBI (objectifs BI) et à des KPI : voir la matrice de traçabilité, page suivante.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CEAE3"/>
        </a:solidFill>
        <a:effectLst/>
      </p:bgPr>
    </p:bg>
    <p:spTree>
      <p:nvGrpSpPr>
        <p:cNvPr id="1" name=""/>
        <p:cNvGrpSpPr/>
        <p:nvPr/>
      </p:nvGrpSpPr>
      <p:grpSpPr>
        <a:xfrm>
          <a:off x="0" y="0"/>
          <a:ext cx="0" cy="0"/>
          <a:chOff x="0" y="0"/>
          <a:chExt cx="0" cy="0"/>
        </a:xfrm>
      </p:grpSpPr>
      <p:sp>
        <p:nvSpPr>
          <p:cNvPr id="2" name="Kicker"/>
          <p:cNvSpPr txBox="1"/>
          <p:nvPr/>
        </p:nvSpPr>
        <p:spPr>
          <a:xfrm>
            <a:off x="813816" y="813816"/>
            <a:ext cx="10881360" cy="237744"/>
          </a:xfrm>
          <a:prstGeom prst="rect">
            <a:avLst/>
          </a:prstGeom>
          <a:noFill/>
        </p:spPr>
        <p:txBody>
          <a:bodyPr wrap="square" lIns="0" tIns="0" rIns="0" bIns="0">
            <a:spAutoFit/>
          </a:bodyPr>
          <a:lstStyle/>
          <a:p>
            <a:pPr>
              <a:lnSpc>
                <a:spcPts val="1700"/>
              </a:lnSpc>
            </a:pPr>
            <a:r>
              <a:rPr sz="1200" b="1" spc="100">
                <a:solidFill>
                  <a:srgbClr val="B4531A"/>
                </a:solidFill>
                <a:latin typeface="IBM Plex Sans"/>
              </a:rPr>
              <a:t>TRAÇABILITÉ</a:t>
            </a:r>
          </a:p>
        </p:txBody>
      </p:sp>
      <p:sp>
        <p:nvSpPr>
          <p:cNvPr id="3" name="Title"/>
          <p:cNvSpPr txBox="1"/>
          <p:nvPr/>
        </p:nvSpPr>
        <p:spPr>
          <a:xfrm>
            <a:off x="813816" y="1106424"/>
            <a:ext cx="10881360" cy="475488"/>
          </a:xfrm>
          <a:prstGeom prst="rect">
            <a:avLst/>
          </a:prstGeom>
          <a:noFill/>
        </p:spPr>
        <p:txBody>
          <a:bodyPr wrap="square" lIns="0" tIns="0" rIns="0" bIns="0">
            <a:spAutoFit/>
          </a:bodyPr>
          <a:lstStyle/>
          <a:p>
            <a:pPr>
              <a:lnSpc>
                <a:spcPts val="3500"/>
              </a:lnSpc>
            </a:pPr>
            <a:r>
              <a:rPr sz="3200" b="1">
                <a:solidFill>
                  <a:srgbClr val="14213D"/>
                </a:solidFill>
                <a:latin typeface="Space Grotesk"/>
              </a:rPr>
              <a:t>Une matrice relie objectifs, OBI et KPI</a:t>
            </a:r>
          </a:p>
        </p:txBody>
      </p:sp>
      <p:graphicFrame>
        <p:nvGraphicFramePr>
          <p:cNvPr id="4" name="Table"/>
          <p:cNvGraphicFramePr>
            <a:graphicFrameLocks noGrp="1"/>
          </p:cNvGraphicFramePr>
          <p:nvPr>
            <p:extLst>
              <p:ext uri="{D42A27DB-BD31-4B8C-83A1-F6EECF244321}">
                <p14:modId xmlns:p14="http://schemas.microsoft.com/office/powerpoint/2010/main" val="364355367"/>
              </p:ext>
            </p:extLst>
          </p:nvPr>
        </p:nvGraphicFramePr>
        <p:xfrm>
          <a:off x="813816" y="1737360"/>
          <a:ext cx="10552176" cy="3859022"/>
        </p:xfrm>
        <a:graphic>
          <a:graphicData uri="http://schemas.openxmlformats.org/drawingml/2006/table">
            <a:tbl>
              <a:tblPr/>
              <a:tblGrid>
                <a:gridCol w="182880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283464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gridCol w="1773936">
                  <a:extLst>
                    <a:ext uri="{9D8B030D-6E8A-4147-A177-3AD203B41FA5}">
                      <a16:colId xmlns:a16="http://schemas.microsoft.com/office/drawing/2014/main" val="20004"/>
                    </a:ext>
                  </a:extLst>
                </a:gridCol>
              </a:tblGrid>
              <a:tr h="329184">
                <a:tc>
                  <a:txBody>
                    <a:bodyPr/>
                    <a:lstStyle/>
                    <a:p>
                      <a:pPr>
                        <a:lnSpc>
                          <a:spcPts val="1400"/>
                        </a:lnSpc>
                      </a:pPr>
                      <a:r>
                        <a:rPr sz="1100" b="1">
                          <a:solidFill>
                            <a:srgbClr val="14213D"/>
                          </a:solidFill>
                          <a:latin typeface="IBM Plex Sans"/>
                        </a:rPr>
                        <a:t>Objectif métier</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solidFill>
                      <a:srgbClr val="DDDFE4"/>
                    </a:solidFill>
                  </a:tcPr>
                </a:tc>
                <a:tc>
                  <a:txBody>
                    <a:bodyPr/>
                    <a:lstStyle/>
                    <a:p>
                      <a:pPr>
                        <a:lnSpc>
                          <a:spcPts val="1400"/>
                        </a:lnSpc>
                      </a:pPr>
                      <a:r>
                        <a:rPr sz="1100" b="1">
                          <a:solidFill>
                            <a:srgbClr val="14213D"/>
                          </a:solidFill>
                          <a:latin typeface="IBM Plex Sans"/>
                        </a:rPr>
                        <a:t>Objectifs BI (OBI)</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solidFill>
                      <a:srgbClr val="DDDFE4"/>
                    </a:solidFill>
                  </a:tcPr>
                </a:tc>
                <a:tc>
                  <a:txBody>
                    <a:bodyPr/>
                    <a:lstStyle/>
                    <a:p>
                      <a:pPr>
                        <a:lnSpc>
                          <a:spcPts val="1400"/>
                        </a:lnSpc>
                      </a:pPr>
                      <a:r>
                        <a:rPr sz="1100" b="1">
                          <a:solidFill>
                            <a:srgbClr val="14213D"/>
                          </a:solidFill>
                          <a:latin typeface="IBM Plex Sans"/>
                        </a:rPr>
                        <a:t>KPI</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solidFill>
                      <a:srgbClr val="DDDFE4"/>
                    </a:solidFill>
                  </a:tcPr>
                </a:tc>
                <a:tc>
                  <a:txBody>
                    <a:bodyPr/>
                    <a:lstStyle/>
                    <a:p>
                      <a:pPr>
                        <a:lnSpc>
                          <a:spcPts val="1400"/>
                        </a:lnSpc>
                      </a:pPr>
                      <a:r>
                        <a:rPr sz="1100" b="1">
                          <a:solidFill>
                            <a:srgbClr val="14213D"/>
                          </a:solidFill>
                          <a:latin typeface="IBM Plex Sans"/>
                        </a:rPr>
                        <a:t>Faisabilité</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solidFill>
                      <a:srgbClr val="DDDFE4"/>
                    </a:solidFill>
                  </a:tcPr>
                </a:tc>
                <a:tc>
                  <a:txBody>
                    <a:bodyPr/>
                    <a:lstStyle/>
                    <a:p>
                      <a:pPr>
                        <a:lnSpc>
                          <a:spcPts val="1400"/>
                        </a:lnSpc>
                      </a:pPr>
                      <a:r>
                        <a:rPr sz="1100" b="1">
                          <a:solidFill>
                            <a:srgbClr val="14213D"/>
                          </a:solidFill>
                          <a:latin typeface="IBM Plex Sans"/>
                        </a:rPr>
                        <a:t>Cible chiffrée</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solidFill>
                      <a:srgbClr val="DDDFE4"/>
                    </a:solidFill>
                  </a:tcPr>
                </a:tc>
                <a:extLst>
                  <a:ext uri="{0D108BD9-81ED-4DB2-BD59-A6C34878D82A}">
                    <a16:rowId xmlns:a16="http://schemas.microsoft.com/office/drawing/2014/main" val="10000"/>
                  </a:ext>
                </a:extLst>
              </a:tr>
              <a:tr h="566928">
                <a:tc>
                  <a:txBody>
                    <a:bodyPr/>
                    <a:lstStyle/>
                    <a:p>
                      <a:pPr>
                        <a:lnSpc>
                          <a:spcPts val="1400"/>
                        </a:lnSpc>
                      </a:pPr>
                      <a:r>
                        <a:rPr sz="1100" b="1" dirty="0">
                          <a:solidFill>
                            <a:srgbClr val="B4531A"/>
                          </a:solidFill>
                          <a:latin typeface="IBM Plex Sans"/>
                        </a:rPr>
                        <a:t>OM1 </a:t>
                      </a:r>
                      <a:r>
                        <a:rPr sz="1100" b="1" dirty="0">
                          <a:solidFill>
                            <a:srgbClr val="14213D"/>
                          </a:solidFill>
                          <a:latin typeface="IBM Plex Sans"/>
                        </a:rPr>
                        <a:t>Aligner </a:t>
                      </a:r>
                      <a:r>
                        <a:rPr sz="1100" b="1" dirty="0" err="1">
                          <a:solidFill>
                            <a:srgbClr val="14213D"/>
                          </a:solidFill>
                          <a:latin typeface="IBM Plex Sans"/>
                        </a:rPr>
                        <a:t>effectif</a:t>
                      </a:r>
                      <a:r>
                        <a:rPr sz="1100" b="1" dirty="0">
                          <a:solidFill>
                            <a:srgbClr val="14213D"/>
                          </a:solidFill>
                          <a:latin typeface="IBM Plex Sans"/>
                        </a:rPr>
                        <a:t> et </a:t>
                      </a:r>
                      <a:r>
                        <a:rPr sz="1100" b="1" dirty="0" err="1">
                          <a:solidFill>
                            <a:srgbClr val="14213D"/>
                          </a:solidFill>
                          <a:latin typeface="IBM Plex Sans"/>
                        </a:rPr>
                        <a:t>capacité</a:t>
                      </a:r>
                      <a:endParaRPr sz="1100" b="1" dirty="0">
                        <a:solidFill>
                          <a:srgbClr val="14213D"/>
                        </a:solidFill>
                        <a:latin typeface="IBM Plex Sans"/>
                      </a:endParaRP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400"/>
                        </a:lnSpc>
                      </a:pPr>
                      <a:r>
                        <a:rPr sz="1100" b="0">
                          <a:solidFill>
                            <a:srgbClr val="3E4A5C"/>
                          </a:solidFill>
                          <a:latin typeface="IBM Plex Sans"/>
                        </a:rPr>
                        <a:t>OBI1 Suivre l’occupation des départements
OBI2 Suivre la structure et les entrées</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400"/>
                        </a:lnSpc>
                      </a:pPr>
                      <a:r>
                        <a:rPr sz="1100" b="0">
                          <a:solidFill>
                            <a:srgbClr val="3E4A5C"/>
                          </a:solidFill>
                          <a:latin typeface="IBM Plex Sans"/>
                        </a:rPr>
                        <a:t>KPI1.1 à 1.4 : occupation, contrats courts, ancienneté, entrées par canal</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400"/>
                        </a:lnSpc>
                      </a:pPr>
                      <a:r>
                        <a:rPr sz="1100" b="1">
                          <a:solidFill>
                            <a:srgbClr val="B4531A"/>
                          </a:solidFill>
                          <a:latin typeface="IBM Plex Sans"/>
                        </a:rPr>
                        <a:t>Partielle</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400"/>
                        </a:lnSpc>
                      </a:pPr>
                      <a:r>
                        <a:rPr sz="1100" b="0">
                          <a:solidFill>
                            <a:srgbClr val="3E4A5C"/>
                          </a:solidFill>
                          <a:latin typeface="IBM Plex Sans"/>
                        </a:rPr>
                        <a:t>À définir et à valider</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extLst>
                  <a:ext uri="{0D108BD9-81ED-4DB2-BD59-A6C34878D82A}">
                    <a16:rowId xmlns:a16="http://schemas.microsoft.com/office/drawing/2014/main" val="10001"/>
                  </a:ext>
                </a:extLst>
              </a:tr>
              <a:tr h="566928">
                <a:tc>
                  <a:txBody>
                    <a:bodyPr/>
                    <a:lstStyle/>
                    <a:p>
                      <a:pPr>
                        <a:lnSpc>
                          <a:spcPct val="100000"/>
                        </a:lnSpc>
                      </a:pPr>
                      <a:r>
                        <a:rPr sz="1100" b="1" dirty="0">
                          <a:solidFill>
                            <a:srgbClr val="B4531A"/>
                          </a:solidFill>
                          <a:latin typeface="IBM Plex Sans"/>
                        </a:rPr>
                        <a:t>OM2 </a:t>
                      </a:r>
                      <a:r>
                        <a:rPr lang="fr-FR" sz="1100" b="1" kern="1200" dirty="0">
                          <a:solidFill>
                            <a:srgbClr val="14213D"/>
                          </a:solidFill>
                          <a:latin typeface="IBM Plex Sans"/>
                          <a:ea typeface="+mn-ea"/>
                          <a:cs typeface="+mn-cs"/>
                        </a:rPr>
                        <a:t>Assurer l'équité salariale à coût maîtrisé</a:t>
                      </a:r>
                      <a:endParaRPr sz="1100" b="1" kern="1200" dirty="0">
                        <a:solidFill>
                          <a:srgbClr val="14213D"/>
                        </a:solidFill>
                        <a:latin typeface="IBM Plex Sans"/>
                        <a:ea typeface="+mn-ea"/>
                        <a:cs typeface="+mn-cs"/>
                      </a:endParaRP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400"/>
                        </a:lnSpc>
                      </a:pPr>
                      <a:r>
                        <a:rPr sz="1100" b="0">
                          <a:solidFill>
                            <a:srgbClr val="3E4A5C"/>
                          </a:solidFill>
                          <a:latin typeface="IBM Plex Sans"/>
                        </a:rPr>
                        <a:t>OBI3 Calculer et ventiler le coût du personnel
OBI4 Contrôler l’équité</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400"/>
                        </a:lnSpc>
                      </a:pPr>
                      <a:r>
                        <a:rPr sz="1100" b="0">
                          <a:solidFill>
                            <a:srgbClr val="3E4A5C"/>
                          </a:solidFill>
                          <a:latin typeface="IBM Plex Sans"/>
                        </a:rPr>
                        <a:t>KPI2.1 à 2.5 : masse salariale, heures sup, coût par heure, salaire médian, écart H/F</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400"/>
                        </a:lnSpc>
                      </a:pPr>
                      <a:r>
                        <a:rPr sz="1100" b="1">
                          <a:solidFill>
                            <a:srgbClr val="B4531A"/>
                          </a:solidFill>
                          <a:latin typeface="IBM Plex Sans"/>
                        </a:rPr>
                        <a:t>Partielle</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400"/>
                        </a:lnSpc>
                      </a:pPr>
                      <a:r>
                        <a:rPr sz="1100" b="0">
                          <a:solidFill>
                            <a:srgbClr val="3E4A5C"/>
                          </a:solidFill>
                          <a:latin typeface="IBM Plex Sans"/>
                        </a:rPr>
                        <a:t>Écart H/F ≤ 2 % ; autres à définir</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extLst>
                  <a:ext uri="{0D108BD9-81ED-4DB2-BD59-A6C34878D82A}">
                    <a16:rowId xmlns:a16="http://schemas.microsoft.com/office/drawing/2014/main" val="10002"/>
                  </a:ext>
                </a:extLst>
              </a:tr>
              <a:tr h="566928">
                <a:tc>
                  <a:txBody>
                    <a:bodyPr/>
                    <a:lstStyle/>
                    <a:p>
                      <a:pPr>
                        <a:lnSpc>
                          <a:spcPts val="1400"/>
                        </a:lnSpc>
                      </a:pPr>
                      <a:r>
                        <a:rPr sz="1100" b="1" dirty="0">
                          <a:solidFill>
                            <a:srgbClr val="B4531A"/>
                          </a:solidFill>
                          <a:latin typeface="IBM Plex Sans"/>
                        </a:rPr>
                        <a:t>OM3 </a:t>
                      </a:r>
                      <a:r>
                        <a:rPr sz="1100" b="1" dirty="0" err="1">
                          <a:solidFill>
                            <a:srgbClr val="14213D"/>
                          </a:solidFill>
                          <a:latin typeface="IBM Plex Sans"/>
                        </a:rPr>
                        <a:t>Mesurer</a:t>
                      </a:r>
                      <a:r>
                        <a:rPr sz="1100" b="1" dirty="0">
                          <a:solidFill>
                            <a:srgbClr val="14213D"/>
                          </a:solidFill>
                          <a:latin typeface="IBM Plex Sans"/>
                        </a:rPr>
                        <a:t> le temps </a:t>
                      </a:r>
                      <a:r>
                        <a:rPr sz="1100" b="1" dirty="0" err="1">
                          <a:solidFill>
                            <a:srgbClr val="14213D"/>
                          </a:solidFill>
                          <a:latin typeface="IBM Plex Sans"/>
                        </a:rPr>
                        <a:t>travaillé</a:t>
                      </a:r>
                      <a:endParaRPr sz="1100" b="1" dirty="0">
                        <a:solidFill>
                          <a:srgbClr val="14213D"/>
                        </a:solidFill>
                        <a:latin typeface="IBM Plex Sans"/>
                      </a:endParaRP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400"/>
                        </a:lnSpc>
                      </a:pPr>
                      <a:r>
                        <a:rPr sz="1100" b="0">
                          <a:solidFill>
                            <a:srgbClr val="3E4A5C"/>
                          </a:solidFill>
                          <a:latin typeface="IBM Plex Sans"/>
                        </a:rPr>
                        <a:t>OBI5 Mesurer temps travaillé et ponctualité
OBI6 Détecter surcharge et irrégularité</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400"/>
                        </a:lnSpc>
                      </a:pPr>
                      <a:r>
                        <a:rPr sz="1100" b="0">
                          <a:solidFill>
                            <a:srgbClr val="3E4A5C"/>
                          </a:solidFill>
                          <a:latin typeface="IBM Plex Sans"/>
                        </a:rPr>
                        <a:t>KPI3.1 à 3.5 : heures par jour, retard, présence, jours &gt; 8 h, régularité</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400"/>
                        </a:lnSpc>
                      </a:pPr>
                      <a:r>
                        <a:rPr sz="1100" b="1">
                          <a:solidFill>
                            <a:srgbClr val="2F5DA8"/>
                          </a:solidFill>
                          <a:latin typeface="IBM Plex Sans"/>
                        </a:rPr>
                        <a:t>Oui</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400"/>
                        </a:lnSpc>
                      </a:pPr>
                      <a:r>
                        <a:rPr sz="1100" b="0">
                          <a:solidFill>
                            <a:srgbClr val="3E4A5C"/>
                          </a:solidFill>
                          <a:latin typeface="IBM Plex Sans"/>
                        </a:rPr>
                        <a:t>À définir et à valider</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extLst>
                  <a:ext uri="{0D108BD9-81ED-4DB2-BD59-A6C34878D82A}">
                    <a16:rowId xmlns:a16="http://schemas.microsoft.com/office/drawing/2014/main" val="10003"/>
                  </a:ext>
                </a:extLst>
              </a:tr>
              <a:tr h="566928">
                <a:tc>
                  <a:txBody>
                    <a:bodyPr/>
                    <a:lstStyle/>
                    <a:p>
                      <a:pPr>
                        <a:lnSpc>
                          <a:spcPts val="1400"/>
                        </a:lnSpc>
                      </a:pPr>
                      <a:r>
                        <a:rPr sz="1100" b="1" dirty="0">
                          <a:solidFill>
                            <a:srgbClr val="B4531A"/>
                          </a:solidFill>
                          <a:latin typeface="IBM Plex Sans"/>
                        </a:rPr>
                        <a:t>OM4 </a:t>
                      </a:r>
                      <a:r>
                        <a:rPr sz="1100" b="1" dirty="0" err="1">
                          <a:solidFill>
                            <a:srgbClr val="14213D"/>
                          </a:solidFill>
                          <a:latin typeface="IBM Plex Sans"/>
                        </a:rPr>
                        <a:t>Renforcer</a:t>
                      </a:r>
                      <a:r>
                        <a:rPr sz="1100" b="1" dirty="0">
                          <a:solidFill>
                            <a:srgbClr val="14213D"/>
                          </a:solidFill>
                          <a:latin typeface="IBM Plex Sans"/>
                        </a:rPr>
                        <a:t> les </a:t>
                      </a:r>
                      <a:r>
                        <a:rPr sz="1100" b="1" dirty="0" err="1">
                          <a:solidFill>
                            <a:srgbClr val="14213D"/>
                          </a:solidFill>
                          <a:latin typeface="IBM Plex Sans"/>
                        </a:rPr>
                        <a:t>compétences</a:t>
                      </a:r>
                      <a:endParaRPr sz="1100" b="1" dirty="0">
                        <a:solidFill>
                          <a:srgbClr val="14213D"/>
                        </a:solidFill>
                        <a:latin typeface="IBM Plex Sans"/>
                      </a:endParaRP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400"/>
                        </a:lnSpc>
                      </a:pPr>
                      <a:r>
                        <a:rPr sz="1100" b="0">
                          <a:solidFill>
                            <a:srgbClr val="3E4A5C"/>
                          </a:solidFill>
                          <a:latin typeface="IBM Plex Sans"/>
                        </a:rPr>
                        <a:t>OBI7 Suivre couverture et intensité
OBI8 Mesurer l’adéquation aux métiers</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400"/>
                        </a:lnSpc>
                      </a:pPr>
                      <a:r>
                        <a:rPr sz="1100" b="0">
                          <a:solidFill>
                            <a:srgbClr val="3E4A5C"/>
                          </a:solidFill>
                          <a:latin typeface="IBM Plex Sans"/>
                        </a:rPr>
                        <a:t>KPI4.1 à 4.5 : couverture, formations par employé, catalogue, niveaux, alignement</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400"/>
                        </a:lnSpc>
                      </a:pPr>
                      <a:r>
                        <a:rPr sz="1100" b="1">
                          <a:solidFill>
                            <a:srgbClr val="B4531A"/>
                          </a:solidFill>
                          <a:latin typeface="IBM Plex Sans"/>
                        </a:rPr>
                        <a:t>Partielle</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400"/>
                        </a:lnSpc>
                      </a:pPr>
                      <a:r>
                        <a:rPr sz="1100" b="0">
                          <a:solidFill>
                            <a:srgbClr val="3E4A5C"/>
                          </a:solidFill>
                          <a:latin typeface="IBM Plex Sans"/>
                        </a:rPr>
                        <a:t>Couverture ≥ 95 % (techniques) ; autres à définir</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extLst>
                  <a:ext uri="{0D108BD9-81ED-4DB2-BD59-A6C34878D82A}">
                    <a16:rowId xmlns:a16="http://schemas.microsoft.com/office/drawing/2014/main" val="10004"/>
                  </a:ext>
                </a:extLst>
              </a:tr>
              <a:tr h="566928">
                <a:tc>
                  <a:txBody>
                    <a:bodyPr/>
                    <a:lstStyle/>
                    <a:p>
                      <a:pPr>
                        <a:lnSpc>
                          <a:spcPct val="100000"/>
                        </a:lnSpc>
                      </a:pPr>
                      <a:r>
                        <a:rPr sz="1100" b="1" dirty="0">
                          <a:solidFill>
                            <a:srgbClr val="B4531A"/>
                          </a:solidFill>
                          <a:latin typeface="IBM Plex Sans"/>
                        </a:rPr>
                        <a:t>OM5 </a:t>
                      </a:r>
                      <a:r>
                        <a:rPr lang="fr-FR" sz="1100" b="1" kern="1200" dirty="0">
                          <a:solidFill>
                            <a:srgbClr val="14213D"/>
                          </a:solidFill>
                          <a:latin typeface="IBM Plex Sans"/>
                          <a:ea typeface="+mn-ea"/>
                          <a:cs typeface="+mn-cs"/>
                        </a:rPr>
                        <a:t>Optimiser la planification des congés</a:t>
                      </a:r>
                      <a:endParaRPr sz="1100" b="1" kern="1200" dirty="0">
                        <a:solidFill>
                          <a:srgbClr val="14213D"/>
                        </a:solidFill>
                        <a:latin typeface="IBM Plex Sans"/>
                        <a:ea typeface="+mn-ea"/>
                        <a:cs typeface="+mn-cs"/>
                      </a:endParaRP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400"/>
                        </a:lnSpc>
                      </a:pPr>
                      <a:r>
                        <a:rPr sz="1100" b="0">
                          <a:solidFill>
                            <a:srgbClr val="3E4A5C"/>
                          </a:solidFill>
                          <a:latin typeface="IBM Plex Sans"/>
                        </a:rPr>
                        <a:t>OBI9 Suivre consommation et soldes
OBI10 Suivre types de congé et absentéisme (proxy)</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400"/>
                        </a:lnSpc>
                      </a:pPr>
                      <a:r>
                        <a:rPr sz="1100" b="0">
                          <a:solidFill>
                            <a:srgbClr val="3E4A5C"/>
                          </a:solidFill>
                          <a:latin typeface="IBM Plex Sans"/>
                        </a:rPr>
                        <a:t>KPI5.1 à 5.3 : consommation, solde, types de congé</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400"/>
                        </a:lnSpc>
                      </a:pPr>
                      <a:r>
                        <a:rPr sz="1100" b="1">
                          <a:solidFill>
                            <a:srgbClr val="B4531A"/>
                          </a:solidFill>
                          <a:latin typeface="IBM Plex Sans"/>
                        </a:rPr>
                        <a:t>Partielle</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400"/>
                        </a:lnSpc>
                      </a:pPr>
                      <a:r>
                        <a:rPr sz="1100" b="0">
                          <a:solidFill>
                            <a:srgbClr val="3E4A5C"/>
                          </a:solidFill>
                          <a:latin typeface="IBM Plex Sans"/>
                        </a:rPr>
                        <a:t>À définir et à valider</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extLst>
                  <a:ext uri="{0D108BD9-81ED-4DB2-BD59-A6C34878D82A}">
                    <a16:rowId xmlns:a16="http://schemas.microsoft.com/office/drawing/2014/main" val="10005"/>
                  </a:ext>
                </a:extLst>
              </a:tr>
              <a:tr h="566928">
                <a:tc>
                  <a:txBody>
                    <a:bodyPr/>
                    <a:lstStyle/>
                    <a:p>
                      <a:pPr>
                        <a:lnSpc>
                          <a:spcPts val="1400"/>
                        </a:lnSpc>
                      </a:pPr>
                      <a:r>
                        <a:rPr sz="1100" b="1">
                          <a:solidFill>
                            <a:srgbClr val="B4531A"/>
                          </a:solidFill>
                          <a:latin typeface="IBM Plex Sans"/>
                        </a:rPr>
                        <a:t>OM6 </a:t>
                      </a:r>
                      <a:r>
                        <a:rPr sz="1100" b="1">
                          <a:solidFill>
                            <a:srgbClr val="14213D"/>
                          </a:solidFill>
                          <a:latin typeface="IBM Plex Sans"/>
                        </a:rPr>
                        <a:t>Anticiper les échéances</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400"/>
                        </a:lnSpc>
                      </a:pPr>
                      <a:r>
                        <a:rPr sz="1100" b="0">
                          <a:solidFill>
                            <a:srgbClr val="3E4A5C"/>
                          </a:solidFill>
                          <a:latin typeface="IBM Plex Sans"/>
                        </a:rPr>
                        <a:t>OBI11 Anticiper échéances et rotation
OBI12 Fiabiliser les données contractuelles</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400"/>
                        </a:lnSpc>
                      </a:pPr>
                      <a:r>
                        <a:rPr sz="1100" b="0">
                          <a:solidFill>
                            <a:srgbClr val="3E4A5C"/>
                          </a:solidFill>
                          <a:latin typeface="IBM Plex Sans"/>
                        </a:rPr>
                        <a:t>KPI6.1 à 6.3 : échéances, rotation, anomalies de contrat</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400"/>
                        </a:lnSpc>
                      </a:pPr>
                      <a:r>
                        <a:rPr sz="1100" b="1">
                          <a:solidFill>
                            <a:srgbClr val="B4531A"/>
                          </a:solidFill>
                          <a:latin typeface="IBM Plex Sans"/>
                        </a:rPr>
                        <a:t>Partielle</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400"/>
                        </a:lnSpc>
                      </a:pPr>
                      <a:r>
                        <a:rPr sz="1100" b="0" dirty="0">
                          <a:solidFill>
                            <a:srgbClr val="3E4A5C"/>
                          </a:solidFill>
                          <a:latin typeface="IBM Plex Sans"/>
                        </a:rPr>
                        <a:t>0 </a:t>
                      </a:r>
                      <a:r>
                        <a:rPr sz="1100" b="0" dirty="0" err="1">
                          <a:solidFill>
                            <a:srgbClr val="3E4A5C"/>
                          </a:solidFill>
                          <a:latin typeface="IBM Plex Sans"/>
                        </a:rPr>
                        <a:t>anomalie</a:t>
                      </a:r>
                      <a:r>
                        <a:rPr sz="1100" b="0" dirty="0">
                          <a:solidFill>
                            <a:srgbClr val="3E4A5C"/>
                          </a:solidFill>
                          <a:latin typeface="IBM Plex Sans"/>
                        </a:rPr>
                        <a:t> ; horizon à valider</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extLst>
                  <a:ext uri="{0D108BD9-81ED-4DB2-BD59-A6C34878D82A}">
                    <a16:rowId xmlns:a16="http://schemas.microsoft.com/office/drawing/2014/main" val="10006"/>
                  </a:ext>
                </a:extLst>
              </a:tr>
            </a:tbl>
          </a:graphicData>
        </a:graphic>
      </p:graphicFrame>
      <p:sp>
        <p:nvSpPr>
          <p:cNvPr id="5" name="TextBox 4"/>
          <p:cNvSpPr txBox="1"/>
          <p:nvPr/>
        </p:nvSpPr>
        <p:spPr>
          <a:xfrm>
            <a:off x="813816" y="5870448"/>
            <a:ext cx="10515600" cy="274320"/>
          </a:xfrm>
          <a:prstGeom prst="rect">
            <a:avLst/>
          </a:prstGeom>
          <a:noFill/>
        </p:spPr>
        <p:txBody>
          <a:bodyPr wrap="square" lIns="0" tIns="0" rIns="0" bIns="0">
            <a:spAutoFit/>
          </a:bodyPr>
          <a:lstStyle/>
          <a:p>
            <a:pPr>
              <a:lnSpc>
                <a:spcPts val="1700"/>
              </a:lnSpc>
            </a:pPr>
            <a:r>
              <a:rPr sz="1200" b="0">
                <a:solidFill>
                  <a:srgbClr val="3E4A5C"/>
                </a:solidFill>
                <a:latin typeface="IBM Plex Sans"/>
              </a:rPr>
              <a:t>OBI13 (transversal) : centraliser les KPI en un tableau de bord unique. Détail des KPI, fichiers et colonnes en annexe.</a:t>
            </a:r>
          </a:p>
        </p:txBody>
      </p:sp>
      <p:sp>
        <p:nvSpPr>
          <p:cNvPr id="6" name="Footer"/>
          <p:cNvSpPr txBox="1"/>
          <p:nvPr/>
        </p:nvSpPr>
        <p:spPr>
          <a:xfrm>
            <a:off x="813816" y="6236208"/>
            <a:ext cx="10881360" cy="237744"/>
          </a:xfrm>
          <a:prstGeom prst="rect">
            <a:avLst/>
          </a:prstGeom>
          <a:noFill/>
        </p:spPr>
        <p:txBody>
          <a:bodyPr wrap="square" lIns="0" tIns="0" rIns="0" bIns="0">
            <a:spAutoFit/>
          </a:bodyPr>
          <a:lstStyle/>
          <a:p>
            <a:pPr>
              <a:lnSpc>
                <a:spcPts val="1700"/>
              </a:lnSpc>
            </a:pPr>
            <a:r>
              <a:rPr sz="1200" b="0">
                <a:solidFill>
                  <a:srgbClr val="6B7280"/>
                </a:solidFill>
                <a:latin typeface="IBM Plex Sans"/>
              </a:rPr>
              <a:t>Pilotage RH par la donnée · 15 · </a:t>
            </a:r>
            <a:r>
              <a:rPr sz="1200" b="0">
                <a:solidFill>
                  <a:srgbClr val="2F5DA8"/>
                </a:solidFill>
                <a:latin typeface="IBM Plex Sans"/>
              </a:rPr>
              <a:t>Code : KPI de départ en cellule [8], section 7 · détail en annexe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EF1F6"/>
        </a:solidFill>
        <a:effectLst/>
      </p:bgPr>
    </p:bg>
    <p:spTree>
      <p:nvGrpSpPr>
        <p:cNvPr id="1" name=""/>
        <p:cNvGrpSpPr/>
        <p:nvPr/>
      </p:nvGrpSpPr>
      <p:grpSpPr>
        <a:xfrm>
          <a:off x="0" y="0"/>
          <a:ext cx="0" cy="0"/>
          <a:chOff x="0" y="0"/>
          <a:chExt cx="0" cy="0"/>
        </a:xfrm>
      </p:grpSpPr>
      <p:sp>
        <p:nvSpPr>
          <p:cNvPr id="2" name="Kicker"/>
          <p:cNvSpPr txBox="1"/>
          <p:nvPr/>
        </p:nvSpPr>
        <p:spPr>
          <a:xfrm>
            <a:off x="813816" y="813816"/>
            <a:ext cx="10881360" cy="237744"/>
          </a:xfrm>
          <a:prstGeom prst="rect">
            <a:avLst/>
          </a:prstGeom>
          <a:noFill/>
        </p:spPr>
        <p:txBody>
          <a:bodyPr wrap="square" lIns="0" tIns="0" rIns="0" bIns="0">
            <a:spAutoFit/>
          </a:bodyPr>
          <a:lstStyle/>
          <a:p>
            <a:pPr>
              <a:lnSpc>
                <a:spcPts val="1700"/>
              </a:lnSpc>
            </a:pPr>
            <a:r>
              <a:rPr sz="1200" b="1" spc="100">
                <a:solidFill>
                  <a:srgbClr val="B4531A"/>
                </a:solidFill>
                <a:latin typeface="IBM Plex Sans"/>
              </a:rPr>
              <a:t>ANNEXE · MATRICE DÉTAILLÉE 1/4</a:t>
            </a:r>
          </a:p>
        </p:txBody>
      </p:sp>
      <p:sp>
        <p:nvSpPr>
          <p:cNvPr id="3" name="Title"/>
          <p:cNvSpPr txBox="1"/>
          <p:nvPr/>
        </p:nvSpPr>
        <p:spPr>
          <a:xfrm>
            <a:off x="813816" y="1106424"/>
            <a:ext cx="10881360" cy="475488"/>
          </a:xfrm>
          <a:prstGeom prst="rect">
            <a:avLst/>
          </a:prstGeom>
          <a:noFill/>
        </p:spPr>
        <p:txBody>
          <a:bodyPr wrap="square" lIns="0" tIns="0" rIns="0" bIns="0">
            <a:spAutoFit/>
          </a:bodyPr>
          <a:lstStyle/>
          <a:p>
            <a:pPr>
              <a:lnSpc>
                <a:spcPts val="3500"/>
              </a:lnSpc>
            </a:pPr>
            <a:r>
              <a:rPr sz="3200" b="1">
                <a:solidFill>
                  <a:srgbClr val="14213D"/>
                </a:solidFill>
                <a:latin typeface="Space Grotesk"/>
              </a:rPr>
              <a:t>OM1 et OM2 : sources, colonnes et faisabilité</a:t>
            </a:r>
          </a:p>
        </p:txBody>
      </p:sp>
      <p:graphicFrame>
        <p:nvGraphicFramePr>
          <p:cNvPr id="4" name="Table"/>
          <p:cNvGraphicFramePr>
            <a:graphicFrameLocks noGrp="1"/>
          </p:cNvGraphicFramePr>
          <p:nvPr/>
        </p:nvGraphicFramePr>
        <p:xfrm>
          <a:off x="813816" y="1737360"/>
          <a:ext cx="10552176" cy="3941508"/>
        </p:xfrm>
        <a:graphic>
          <a:graphicData uri="http://schemas.openxmlformats.org/drawingml/2006/table">
            <a:tbl>
              <a:tblPr/>
              <a:tblGrid>
                <a:gridCol w="100584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gridCol w="2103120">
                  <a:extLst>
                    <a:ext uri="{9D8B030D-6E8A-4147-A177-3AD203B41FA5}">
                      <a16:colId xmlns:a16="http://schemas.microsoft.com/office/drawing/2014/main" val="20003"/>
                    </a:ext>
                  </a:extLst>
                </a:gridCol>
                <a:gridCol w="1773936">
                  <a:extLst>
                    <a:ext uri="{9D8B030D-6E8A-4147-A177-3AD203B41FA5}">
                      <a16:colId xmlns:a16="http://schemas.microsoft.com/office/drawing/2014/main" val="20004"/>
                    </a:ext>
                  </a:extLst>
                </a:gridCol>
              </a:tblGrid>
              <a:tr h="329184">
                <a:tc>
                  <a:txBody>
                    <a:bodyPr/>
                    <a:lstStyle/>
                    <a:p>
                      <a:pPr>
                        <a:lnSpc>
                          <a:spcPts val="1300"/>
                        </a:lnSpc>
                      </a:pPr>
                      <a:r>
                        <a:rPr sz="1000" b="1">
                          <a:solidFill>
                            <a:srgbClr val="14213D"/>
                          </a:solidFill>
                          <a:latin typeface="IBM Plex Sans"/>
                        </a:rPr>
                        <a:t>OM · OBI</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solidFill>
                      <a:srgbClr val="DDDFE4"/>
                    </a:solidFill>
                  </a:tcPr>
                </a:tc>
                <a:tc>
                  <a:txBody>
                    <a:bodyPr/>
                    <a:lstStyle/>
                    <a:p>
                      <a:pPr>
                        <a:lnSpc>
                          <a:spcPts val="1300"/>
                        </a:lnSpc>
                      </a:pPr>
                      <a:r>
                        <a:rPr sz="1000" b="1">
                          <a:solidFill>
                            <a:srgbClr val="14213D"/>
                          </a:solidFill>
                          <a:latin typeface="IBM Plex Sans"/>
                        </a:rPr>
                        <a:t>KPI</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solidFill>
                      <a:srgbClr val="DDDFE4"/>
                    </a:solidFill>
                  </a:tcPr>
                </a:tc>
                <a:tc>
                  <a:txBody>
                    <a:bodyPr/>
                    <a:lstStyle/>
                    <a:p>
                      <a:pPr>
                        <a:lnSpc>
                          <a:spcPts val="1300"/>
                        </a:lnSpc>
                      </a:pPr>
                      <a:r>
                        <a:rPr sz="1000" b="1">
                          <a:solidFill>
                            <a:srgbClr val="14213D"/>
                          </a:solidFill>
                          <a:latin typeface="IBM Plex Sans"/>
                        </a:rPr>
                        <a:t>Fichiers → colonnes</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solidFill>
                      <a:srgbClr val="DDDFE4"/>
                    </a:solidFill>
                  </a:tcPr>
                </a:tc>
                <a:tc>
                  <a:txBody>
                    <a:bodyPr/>
                    <a:lstStyle/>
                    <a:p>
                      <a:pPr>
                        <a:lnSpc>
                          <a:spcPts val="1300"/>
                        </a:lnSpc>
                      </a:pPr>
                      <a:r>
                        <a:rPr sz="1000" b="1">
                          <a:solidFill>
                            <a:srgbClr val="14213D"/>
                          </a:solidFill>
                          <a:latin typeface="IBM Plex Sans"/>
                        </a:rPr>
                        <a:t>Faisabilité</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solidFill>
                      <a:srgbClr val="DDDFE4"/>
                    </a:solidFill>
                  </a:tcPr>
                </a:tc>
                <a:tc>
                  <a:txBody>
                    <a:bodyPr/>
                    <a:lstStyle/>
                    <a:p>
                      <a:pPr>
                        <a:lnSpc>
                          <a:spcPts val="1300"/>
                        </a:lnSpc>
                      </a:pPr>
                      <a:r>
                        <a:rPr sz="1000" b="1">
                          <a:solidFill>
                            <a:srgbClr val="14213D"/>
                          </a:solidFill>
                          <a:latin typeface="IBM Plex Sans"/>
                        </a:rPr>
                        <a:t>Cible</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solidFill>
                      <a:srgbClr val="DDDFE4"/>
                    </a:solidFill>
                  </a:tcPr>
                </a:tc>
                <a:extLst>
                  <a:ext uri="{0D108BD9-81ED-4DB2-BD59-A6C34878D82A}">
                    <a16:rowId xmlns:a16="http://schemas.microsoft.com/office/drawing/2014/main" val="10000"/>
                  </a:ext>
                </a:extLst>
              </a:tr>
              <a:tr h="365760">
                <a:tc>
                  <a:txBody>
                    <a:bodyPr/>
                    <a:lstStyle/>
                    <a:p>
                      <a:pPr>
                        <a:lnSpc>
                          <a:spcPts val="1300"/>
                        </a:lnSpc>
                      </a:pPr>
                      <a:r>
                        <a:rPr sz="1000" b="1">
                          <a:solidFill>
                            <a:srgbClr val="14213D"/>
                          </a:solidFill>
                          <a:latin typeface="IBM Plex Sans"/>
                        </a:rPr>
                        <a:t>OM1 · OBI1</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KPI1.1 Taux d'occupation par département</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emp_data, administration_data → DEP_ID · departments → ID_DEP, CAPACITY</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1">
                          <a:solidFill>
                            <a:srgbClr val="2F5DA8"/>
                          </a:solidFill>
                          <a:latin typeface="IBM Plex Sans"/>
                        </a:rPr>
                        <a:t>Oui</a:t>
                      </a:r>
                      <a:r>
                        <a:rPr sz="1000" b="0">
                          <a:solidFill>
                            <a:srgbClr val="3E4A5C"/>
                          </a:solidFill>
                          <a:latin typeface="IBM Plex Sans"/>
                        </a:rPr>
                        <a:t> · capacité Admin douteuse</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À définir et à valider</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extLst>
                  <a:ext uri="{0D108BD9-81ED-4DB2-BD59-A6C34878D82A}">
                    <a16:rowId xmlns:a16="http://schemas.microsoft.com/office/drawing/2014/main" val="10001"/>
                  </a:ext>
                </a:extLst>
              </a:tr>
              <a:tr h="365760">
                <a:tc>
                  <a:txBody>
                    <a:bodyPr/>
                    <a:lstStyle/>
                    <a:p>
                      <a:pPr>
                        <a:lnSpc>
                          <a:spcPts val="1300"/>
                        </a:lnSpc>
                      </a:pPr>
                      <a:r>
                        <a:rPr sz="1000" b="1">
                          <a:solidFill>
                            <a:srgbClr val="14213D"/>
                          </a:solidFill>
                          <a:latin typeface="IBM Plex Sans"/>
                        </a:rPr>
                        <a:t>OM1 · OBI2</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KPI1.2 Part de contrats courts (CDD + CIVP)</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emp_data, administration_data → TYPE_CONTRACT</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1">
                          <a:solidFill>
                            <a:srgbClr val="2F5DA8"/>
                          </a:solidFill>
                          <a:latin typeface="IBM Plex Sans"/>
                        </a:rPr>
                        <a:t>Oui</a:t>
                      </a:r>
                      <a:r>
                        <a:rPr sz="1000" b="0">
                          <a:solidFill>
                            <a:srgbClr val="3E4A5C"/>
                          </a:solidFill>
                          <a:latin typeface="IBM Plex Sans"/>
                        </a:rPr>
                        <a:t> · 67 % chez les techniques</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À définir et à valider</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extLst>
                  <a:ext uri="{0D108BD9-81ED-4DB2-BD59-A6C34878D82A}">
                    <a16:rowId xmlns:a16="http://schemas.microsoft.com/office/drawing/2014/main" val="10002"/>
                  </a:ext>
                </a:extLst>
              </a:tr>
              <a:tr h="365760">
                <a:tc>
                  <a:txBody>
                    <a:bodyPr/>
                    <a:lstStyle/>
                    <a:p>
                      <a:pPr>
                        <a:lnSpc>
                          <a:spcPts val="1300"/>
                        </a:lnSpc>
                      </a:pPr>
                      <a:r>
                        <a:rPr sz="1000" b="1">
                          <a:solidFill>
                            <a:srgbClr val="14213D"/>
                          </a:solidFill>
                          <a:latin typeface="IBM Plex Sans"/>
                        </a:rPr>
                        <a:t>OM1 · OBI2</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KPI1.3 Ancienneté moyenne et part &lt; 1 an</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STARTING_DATE (TENURE est binaire, insuffisant)</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1">
                          <a:solidFill>
                            <a:srgbClr val="2F5DA8"/>
                          </a:solidFill>
                          <a:latin typeface="IBM Plex Sans"/>
                        </a:rPr>
                        <a:t>Oui</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À définir et à valider</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extLst>
                  <a:ext uri="{0D108BD9-81ED-4DB2-BD59-A6C34878D82A}">
                    <a16:rowId xmlns:a16="http://schemas.microsoft.com/office/drawing/2014/main" val="10003"/>
                  </a:ext>
                </a:extLst>
              </a:tr>
              <a:tr h="365760">
                <a:tc>
                  <a:txBody>
                    <a:bodyPr/>
                    <a:lstStyle/>
                    <a:p>
                      <a:pPr>
                        <a:lnSpc>
                          <a:spcPts val="1300"/>
                        </a:lnSpc>
                      </a:pPr>
                      <a:r>
                        <a:rPr sz="1000" b="1">
                          <a:solidFill>
                            <a:srgbClr val="14213D"/>
                          </a:solidFill>
                          <a:latin typeface="IBM Plex Sans"/>
                        </a:rPr>
                        <a:t>OM1 · OBI2</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KPI1.4 Entrées par période et par canal</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STARTING_DATE, SOURCE_of_employment</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1">
                          <a:solidFill>
                            <a:srgbClr val="B4531A"/>
                          </a:solidFill>
                          <a:latin typeface="IBM Plex Sans"/>
                        </a:rPr>
                        <a:t>Partielle</a:t>
                      </a:r>
                      <a:r>
                        <a:rPr sz="1000" b="0">
                          <a:solidFill>
                            <a:srgbClr val="3E4A5C"/>
                          </a:solidFill>
                          <a:latin typeface="IBM Plex Sans"/>
                        </a:rPr>
                        <a:t> · entrées seules, pas de sorties</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À définir et à valider</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extLst>
                  <a:ext uri="{0D108BD9-81ED-4DB2-BD59-A6C34878D82A}">
                    <a16:rowId xmlns:a16="http://schemas.microsoft.com/office/drawing/2014/main" val="10004"/>
                  </a:ext>
                </a:extLst>
              </a:tr>
              <a:tr h="365760">
                <a:tc>
                  <a:txBody>
                    <a:bodyPr/>
                    <a:lstStyle/>
                    <a:p>
                      <a:pPr>
                        <a:lnSpc>
                          <a:spcPts val="1300"/>
                        </a:lnSpc>
                      </a:pPr>
                      <a:r>
                        <a:rPr sz="1000" b="1">
                          <a:solidFill>
                            <a:srgbClr val="14213D"/>
                          </a:solidFill>
                          <a:latin typeface="IBM Plex Sans"/>
                        </a:rPr>
                        <a:t>OM2 · OBI3</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KPI2.1 Masse salariale mensuelle par composante et département</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emp_data → SALARY, HOURS, POSITION, DEP_ID · administration_data → SALARY, extra_hour · extrainfos (35, 25, 22 €/h)</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1">
                          <a:solidFill>
                            <a:srgbClr val="B4531A"/>
                          </a:solidFill>
                          <a:latin typeface="IBM Plex Sans"/>
                        </a:rPr>
                        <a:t>Partielle</a:t>
                      </a:r>
                      <a:r>
                        <a:rPr sz="1000" b="0">
                          <a:solidFill>
                            <a:srgbClr val="3E4A5C"/>
                          </a:solidFill>
                          <a:latin typeface="IBM Plex Sans"/>
                        </a:rPr>
                        <a:t> · période et devise à confirmer</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À définir et à valider (pas de budget)</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extLst>
                  <a:ext uri="{0D108BD9-81ED-4DB2-BD59-A6C34878D82A}">
                    <a16:rowId xmlns:a16="http://schemas.microsoft.com/office/drawing/2014/main" val="10005"/>
                  </a:ext>
                </a:extLst>
              </a:tr>
              <a:tr h="365760">
                <a:tc>
                  <a:txBody>
                    <a:bodyPr/>
                    <a:lstStyle/>
                    <a:p>
                      <a:pPr>
                        <a:lnSpc>
                          <a:spcPts val="1300"/>
                        </a:lnSpc>
                      </a:pPr>
                      <a:r>
                        <a:rPr sz="1000" b="1">
                          <a:solidFill>
                            <a:srgbClr val="14213D"/>
                          </a:solidFill>
                          <a:latin typeface="IBM Plex Sans"/>
                        </a:rPr>
                        <a:t>OM2 · OBI3</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KPI2.2 Part des heures sup dans le coût total</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extra_hour × 22 (admin) · heures &gt; 8 h des pointages × 25 (permanents techniques)</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1">
                          <a:solidFill>
                            <a:srgbClr val="B4531A"/>
                          </a:solidFill>
                          <a:latin typeface="IBM Plex Sans"/>
                        </a:rPr>
                        <a:t>Partielle</a:t>
                      </a:r>
                      <a:r>
                        <a:rPr sz="1000" b="0">
                          <a:solidFill>
                            <a:srgbClr val="3E4A5C"/>
                          </a:solidFill>
                          <a:latin typeface="IBM Plex Sans"/>
                        </a:rPr>
                        <a:t> · heures sup techniques non chiffrées</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À définir et à valider</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extLst>
                  <a:ext uri="{0D108BD9-81ED-4DB2-BD59-A6C34878D82A}">
                    <a16:rowId xmlns:a16="http://schemas.microsoft.com/office/drawing/2014/main" val="10006"/>
                  </a:ext>
                </a:extLst>
              </a:tr>
              <a:tr h="365760">
                <a:tc>
                  <a:txBody>
                    <a:bodyPr/>
                    <a:lstStyle/>
                    <a:p>
                      <a:pPr>
                        <a:lnSpc>
                          <a:spcPts val="1300"/>
                        </a:lnSpc>
                      </a:pPr>
                      <a:r>
                        <a:rPr sz="1000" b="1">
                          <a:solidFill>
                            <a:srgbClr val="14213D"/>
                          </a:solidFill>
                          <a:latin typeface="IBM Plex Sans"/>
                        </a:rPr>
                        <a:t>OM2 · OBI3</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KPI2.3 Coût par heure travaillée (proxy d’efficience)</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coût du KPI2.1 ÷ heures calculées des pointages</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1">
                          <a:solidFill>
                            <a:srgbClr val="B4531A"/>
                          </a:solidFill>
                          <a:latin typeface="IBM Plex Sans"/>
                        </a:rPr>
                        <a:t>Partielle</a:t>
                      </a:r>
                      <a:r>
                        <a:rPr sz="1000" b="0">
                          <a:solidFill>
                            <a:srgbClr val="3E4A5C"/>
                          </a:solidFill>
                          <a:latin typeface="IBM Plex Sans"/>
                        </a:rPr>
                        <a:t> · périodes différentes</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À définir et à valider</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extLst>
                  <a:ext uri="{0D108BD9-81ED-4DB2-BD59-A6C34878D82A}">
                    <a16:rowId xmlns:a16="http://schemas.microsoft.com/office/drawing/2014/main" val="10007"/>
                  </a:ext>
                </a:extLst>
              </a:tr>
              <a:tr h="365760">
                <a:tc>
                  <a:txBody>
                    <a:bodyPr/>
                    <a:lstStyle/>
                    <a:p>
                      <a:pPr>
                        <a:lnSpc>
                          <a:spcPts val="1300"/>
                        </a:lnSpc>
                      </a:pPr>
                      <a:r>
                        <a:rPr sz="1000" b="1">
                          <a:solidFill>
                            <a:srgbClr val="14213D"/>
                          </a:solidFill>
                          <a:latin typeface="IBM Plex Sans"/>
                        </a:rPr>
                        <a:t>OM2 · OBI4</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KPI2.4 Salaire médian par département, grade, contrat</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SALARY, DEP_ID, GRADE, TYPE_CONTRACT</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1">
                          <a:solidFill>
                            <a:srgbClr val="2F5DA8"/>
                          </a:solidFill>
                          <a:latin typeface="IBM Plex Sans"/>
                        </a:rPr>
                        <a:t>Oui</a:t>
                      </a:r>
                      <a:r>
                        <a:rPr sz="1000" b="0">
                          <a:solidFill>
                            <a:srgbClr val="3E4A5C"/>
                          </a:solidFill>
                          <a:latin typeface="IBM Plex Sans"/>
                        </a:rPr>
                        <a:t> · 744 permanents techniques + admin</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À définir et à valider</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extLst>
                  <a:ext uri="{0D108BD9-81ED-4DB2-BD59-A6C34878D82A}">
                    <a16:rowId xmlns:a16="http://schemas.microsoft.com/office/drawing/2014/main" val="10008"/>
                  </a:ext>
                </a:extLst>
              </a:tr>
              <a:tr h="365760">
                <a:tc>
                  <a:txBody>
                    <a:bodyPr/>
                    <a:lstStyle/>
                    <a:p>
                      <a:pPr>
                        <a:lnSpc>
                          <a:spcPts val="1300"/>
                        </a:lnSpc>
                      </a:pPr>
                      <a:r>
                        <a:rPr sz="1000" b="1">
                          <a:solidFill>
                            <a:srgbClr val="14213D"/>
                          </a:solidFill>
                          <a:latin typeface="IBM Plex Sans"/>
                        </a:rPr>
                        <a:t>OM2 · OBI4</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KPI2.5 Écart H/F médian (brut, puis ajusté)</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GENDER, SALARY, GRADE, TYPE_DIPLOMA, EXP_YEARS</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1">
                          <a:solidFill>
                            <a:srgbClr val="2F5DA8"/>
                          </a:solidFill>
                          <a:latin typeface="IBM Plex Sans"/>
                        </a:rPr>
                        <a:t>Oui</a:t>
                      </a:r>
                      <a:r>
                        <a:rPr sz="1000" b="0">
                          <a:solidFill>
                            <a:srgbClr val="3E4A5C"/>
                          </a:solidFill>
                          <a:latin typeface="IBM Plex Sans"/>
                        </a:rPr>
                        <a:t> · 0,2 % tech, 0,6 % admin</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 2 % en continu ; seuil à valider</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extLst>
                  <a:ext uri="{0D108BD9-81ED-4DB2-BD59-A6C34878D82A}">
                    <a16:rowId xmlns:a16="http://schemas.microsoft.com/office/drawing/2014/main" val="10009"/>
                  </a:ext>
                </a:extLst>
              </a:tr>
            </a:tbl>
          </a:graphicData>
        </a:graphic>
      </p:graphicFrame>
      <p:sp>
        <p:nvSpPr>
          <p:cNvPr id="5" name="Legend"/>
          <p:cNvSpPr txBox="1"/>
          <p:nvPr/>
        </p:nvSpPr>
        <p:spPr>
          <a:xfrm>
            <a:off x="813816" y="5925312"/>
            <a:ext cx="10515600" cy="237744"/>
          </a:xfrm>
          <a:prstGeom prst="rect">
            <a:avLst/>
          </a:prstGeom>
          <a:noFill/>
        </p:spPr>
        <p:txBody>
          <a:bodyPr wrap="square" lIns="0" tIns="0" rIns="0" bIns="0">
            <a:spAutoFit/>
          </a:bodyPr>
          <a:lstStyle/>
          <a:p>
            <a:pPr>
              <a:lnSpc>
                <a:spcPts val="1500"/>
              </a:lnSpc>
            </a:pPr>
            <a:r>
              <a:rPr sz="1100" b="0">
                <a:solidFill>
                  <a:srgbClr val="6B7280"/>
                </a:solidFill>
                <a:latin typeface="IBM Plex Sans"/>
              </a:rPr>
              <a:t>Faisabilité : Oui = mesurable · Partielle = mesurable avec réserves · Non = impossible aujourd’hui.</a:t>
            </a:r>
          </a:p>
        </p:txBody>
      </p:sp>
      <p:sp>
        <p:nvSpPr>
          <p:cNvPr id="6" name="Footer"/>
          <p:cNvSpPr txBox="1"/>
          <p:nvPr/>
        </p:nvSpPr>
        <p:spPr>
          <a:xfrm>
            <a:off x="813816" y="6236208"/>
            <a:ext cx="10881360" cy="237744"/>
          </a:xfrm>
          <a:prstGeom prst="rect">
            <a:avLst/>
          </a:prstGeom>
          <a:noFill/>
        </p:spPr>
        <p:txBody>
          <a:bodyPr wrap="square" lIns="0" tIns="0" rIns="0" bIns="0">
            <a:spAutoFit/>
          </a:bodyPr>
          <a:lstStyle/>
          <a:p>
            <a:pPr>
              <a:lnSpc>
                <a:spcPts val="1700"/>
              </a:lnSpc>
            </a:pPr>
            <a:r>
              <a:rPr sz="1200" b="0">
                <a:solidFill>
                  <a:srgbClr val="6B7280"/>
                </a:solidFill>
                <a:latin typeface="IBM Plex Sans"/>
              </a:rPr>
              <a:t>Pilotage RH par la donnée · 16 · </a:t>
            </a:r>
            <a:r>
              <a:rPr sz="1200" b="0">
                <a:solidFill>
                  <a:srgbClr val="2F5DA8"/>
                </a:solidFill>
                <a:latin typeface="IBM Plex Sans"/>
              </a:rPr>
              <a:t>Code : colonnes des fichiers sources · cellules [1] à [7]</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EEF1F6"/>
        </a:solidFill>
        <a:effectLst/>
      </p:bgPr>
    </p:bg>
    <p:spTree>
      <p:nvGrpSpPr>
        <p:cNvPr id="1" name=""/>
        <p:cNvGrpSpPr/>
        <p:nvPr/>
      </p:nvGrpSpPr>
      <p:grpSpPr>
        <a:xfrm>
          <a:off x="0" y="0"/>
          <a:ext cx="0" cy="0"/>
          <a:chOff x="0" y="0"/>
          <a:chExt cx="0" cy="0"/>
        </a:xfrm>
      </p:grpSpPr>
      <p:sp>
        <p:nvSpPr>
          <p:cNvPr id="2" name="Kicker"/>
          <p:cNvSpPr txBox="1"/>
          <p:nvPr/>
        </p:nvSpPr>
        <p:spPr>
          <a:xfrm>
            <a:off x="813816" y="813816"/>
            <a:ext cx="10881360" cy="237744"/>
          </a:xfrm>
          <a:prstGeom prst="rect">
            <a:avLst/>
          </a:prstGeom>
          <a:noFill/>
        </p:spPr>
        <p:txBody>
          <a:bodyPr wrap="square" lIns="0" tIns="0" rIns="0" bIns="0">
            <a:spAutoFit/>
          </a:bodyPr>
          <a:lstStyle/>
          <a:p>
            <a:pPr>
              <a:lnSpc>
                <a:spcPts val="1700"/>
              </a:lnSpc>
            </a:pPr>
            <a:r>
              <a:rPr sz="1200" b="1" spc="100">
                <a:solidFill>
                  <a:srgbClr val="B4531A"/>
                </a:solidFill>
                <a:latin typeface="IBM Plex Sans"/>
              </a:rPr>
              <a:t>ANNEXE · MATRICE DÉTAILLÉE 2/4</a:t>
            </a:r>
          </a:p>
        </p:txBody>
      </p:sp>
      <p:sp>
        <p:nvSpPr>
          <p:cNvPr id="3" name="Title"/>
          <p:cNvSpPr txBox="1"/>
          <p:nvPr/>
        </p:nvSpPr>
        <p:spPr>
          <a:xfrm>
            <a:off x="813816" y="1106424"/>
            <a:ext cx="10881360" cy="475488"/>
          </a:xfrm>
          <a:prstGeom prst="rect">
            <a:avLst/>
          </a:prstGeom>
          <a:noFill/>
        </p:spPr>
        <p:txBody>
          <a:bodyPr wrap="square" lIns="0" tIns="0" rIns="0" bIns="0">
            <a:spAutoFit/>
          </a:bodyPr>
          <a:lstStyle/>
          <a:p>
            <a:pPr>
              <a:lnSpc>
                <a:spcPts val="3500"/>
              </a:lnSpc>
            </a:pPr>
            <a:r>
              <a:rPr sz="3200" b="1">
                <a:solidFill>
                  <a:srgbClr val="14213D"/>
                </a:solidFill>
                <a:latin typeface="Space Grotesk"/>
              </a:rPr>
              <a:t>OM3 : sources, colonnes et faisabilité</a:t>
            </a:r>
          </a:p>
        </p:txBody>
      </p:sp>
      <p:graphicFrame>
        <p:nvGraphicFramePr>
          <p:cNvPr id="4" name="Table"/>
          <p:cNvGraphicFramePr>
            <a:graphicFrameLocks noGrp="1"/>
          </p:cNvGraphicFramePr>
          <p:nvPr/>
        </p:nvGraphicFramePr>
        <p:xfrm>
          <a:off x="813816" y="1737360"/>
          <a:ext cx="10552176" cy="2843784"/>
        </p:xfrm>
        <a:graphic>
          <a:graphicData uri="http://schemas.openxmlformats.org/drawingml/2006/table">
            <a:tbl>
              <a:tblPr/>
              <a:tblGrid>
                <a:gridCol w="100584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gridCol w="2103120">
                  <a:extLst>
                    <a:ext uri="{9D8B030D-6E8A-4147-A177-3AD203B41FA5}">
                      <a16:colId xmlns:a16="http://schemas.microsoft.com/office/drawing/2014/main" val="20003"/>
                    </a:ext>
                  </a:extLst>
                </a:gridCol>
                <a:gridCol w="1773936">
                  <a:extLst>
                    <a:ext uri="{9D8B030D-6E8A-4147-A177-3AD203B41FA5}">
                      <a16:colId xmlns:a16="http://schemas.microsoft.com/office/drawing/2014/main" val="20004"/>
                    </a:ext>
                  </a:extLst>
                </a:gridCol>
              </a:tblGrid>
              <a:tr h="329184">
                <a:tc>
                  <a:txBody>
                    <a:bodyPr/>
                    <a:lstStyle/>
                    <a:p>
                      <a:pPr>
                        <a:lnSpc>
                          <a:spcPts val="1300"/>
                        </a:lnSpc>
                      </a:pPr>
                      <a:r>
                        <a:rPr sz="1000" b="1">
                          <a:solidFill>
                            <a:srgbClr val="14213D"/>
                          </a:solidFill>
                          <a:latin typeface="IBM Plex Sans"/>
                        </a:rPr>
                        <a:t>OM · OBI</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solidFill>
                      <a:srgbClr val="DDDFE4"/>
                    </a:solidFill>
                  </a:tcPr>
                </a:tc>
                <a:tc>
                  <a:txBody>
                    <a:bodyPr/>
                    <a:lstStyle/>
                    <a:p>
                      <a:pPr>
                        <a:lnSpc>
                          <a:spcPts val="1300"/>
                        </a:lnSpc>
                      </a:pPr>
                      <a:r>
                        <a:rPr sz="1000" b="1">
                          <a:solidFill>
                            <a:srgbClr val="14213D"/>
                          </a:solidFill>
                          <a:latin typeface="IBM Plex Sans"/>
                        </a:rPr>
                        <a:t>KPI</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solidFill>
                      <a:srgbClr val="DDDFE4"/>
                    </a:solidFill>
                  </a:tcPr>
                </a:tc>
                <a:tc>
                  <a:txBody>
                    <a:bodyPr/>
                    <a:lstStyle/>
                    <a:p>
                      <a:pPr>
                        <a:lnSpc>
                          <a:spcPts val="1300"/>
                        </a:lnSpc>
                      </a:pPr>
                      <a:r>
                        <a:rPr sz="1000" b="1">
                          <a:solidFill>
                            <a:srgbClr val="14213D"/>
                          </a:solidFill>
                          <a:latin typeface="IBM Plex Sans"/>
                        </a:rPr>
                        <a:t>Fichiers → colonnes</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solidFill>
                      <a:srgbClr val="DDDFE4"/>
                    </a:solidFill>
                  </a:tcPr>
                </a:tc>
                <a:tc>
                  <a:txBody>
                    <a:bodyPr/>
                    <a:lstStyle/>
                    <a:p>
                      <a:pPr>
                        <a:lnSpc>
                          <a:spcPts val="1300"/>
                        </a:lnSpc>
                      </a:pPr>
                      <a:r>
                        <a:rPr sz="1000" b="1">
                          <a:solidFill>
                            <a:srgbClr val="14213D"/>
                          </a:solidFill>
                          <a:latin typeface="IBM Plex Sans"/>
                        </a:rPr>
                        <a:t>Faisabilité</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solidFill>
                      <a:srgbClr val="DDDFE4"/>
                    </a:solidFill>
                  </a:tcPr>
                </a:tc>
                <a:tc>
                  <a:txBody>
                    <a:bodyPr/>
                    <a:lstStyle/>
                    <a:p>
                      <a:pPr>
                        <a:lnSpc>
                          <a:spcPts val="1300"/>
                        </a:lnSpc>
                      </a:pPr>
                      <a:r>
                        <a:rPr sz="1000" b="1">
                          <a:solidFill>
                            <a:srgbClr val="14213D"/>
                          </a:solidFill>
                          <a:latin typeface="IBM Plex Sans"/>
                        </a:rPr>
                        <a:t>Cible</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solidFill>
                      <a:srgbClr val="DDDFE4"/>
                    </a:solidFill>
                  </a:tcPr>
                </a:tc>
                <a:extLst>
                  <a:ext uri="{0D108BD9-81ED-4DB2-BD59-A6C34878D82A}">
                    <a16:rowId xmlns:a16="http://schemas.microsoft.com/office/drawing/2014/main" val="10000"/>
                  </a:ext>
                </a:extLst>
              </a:tr>
              <a:tr h="502920">
                <a:tc>
                  <a:txBody>
                    <a:bodyPr/>
                    <a:lstStyle/>
                    <a:p>
                      <a:pPr>
                        <a:lnSpc>
                          <a:spcPts val="1300"/>
                        </a:lnSpc>
                      </a:pPr>
                      <a:r>
                        <a:rPr sz="1000" b="1">
                          <a:solidFill>
                            <a:srgbClr val="14213D"/>
                          </a:solidFill>
                          <a:latin typeface="IBM Plex Sans"/>
                        </a:rPr>
                        <a:t>OM3 · OBI5</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KPI3.1 Heures travaillées par jour</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Pointages tech et admin → Date, StartTime, BreakTime, ResumeTime, EndTime</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1">
                          <a:solidFill>
                            <a:srgbClr val="2F5DA8"/>
                          </a:solidFill>
                          <a:latin typeface="IBM Plex Sans"/>
                        </a:rPr>
                        <a:t>Oui</a:t>
                      </a:r>
                      <a:r>
                        <a:rPr sz="1000" b="0">
                          <a:solidFill>
                            <a:srgbClr val="3E4A5C"/>
                          </a:solidFill>
                          <a:latin typeface="IBM Plex Sans"/>
                        </a:rPr>
                        <a:t> · 6,50 h tech, 5,99 h admin</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À définir et à valider</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extLst>
                  <a:ext uri="{0D108BD9-81ED-4DB2-BD59-A6C34878D82A}">
                    <a16:rowId xmlns:a16="http://schemas.microsoft.com/office/drawing/2014/main" val="10001"/>
                  </a:ext>
                </a:extLst>
              </a:tr>
              <a:tr h="502920">
                <a:tc>
                  <a:txBody>
                    <a:bodyPr/>
                    <a:lstStyle/>
                    <a:p>
                      <a:pPr>
                        <a:lnSpc>
                          <a:spcPts val="1300"/>
                        </a:lnSpc>
                      </a:pPr>
                      <a:r>
                        <a:rPr sz="1000" b="1">
                          <a:solidFill>
                            <a:srgbClr val="14213D"/>
                          </a:solidFill>
                          <a:latin typeface="IBM Plex Sans"/>
                        </a:rPr>
                        <a:t>OM3 · OBI5</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KPI3.2 Taux de retard</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StartTime (seuil 8h30)</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1">
                          <a:solidFill>
                            <a:srgbClr val="2F5DA8"/>
                          </a:solidFill>
                          <a:latin typeface="IBM Plex Sans"/>
                        </a:rPr>
                        <a:t>Oui</a:t>
                      </a:r>
                      <a:r>
                        <a:rPr sz="1000" b="0">
                          <a:solidFill>
                            <a:srgbClr val="3E4A5C"/>
                          </a:solidFill>
                          <a:latin typeface="IBM Plex Sans"/>
                        </a:rPr>
                        <a:t> · seuil à valider, 49 % partout</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À définir et à valider</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extLst>
                  <a:ext uri="{0D108BD9-81ED-4DB2-BD59-A6C34878D82A}">
                    <a16:rowId xmlns:a16="http://schemas.microsoft.com/office/drawing/2014/main" val="10002"/>
                  </a:ext>
                </a:extLst>
              </a:tr>
              <a:tr h="502920">
                <a:tc>
                  <a:txBody>
                    <a:bodyPr/>
                    <a:lstStyle/>
                    <a:p>
                      <a:pPr>
                        <a:lnSpc>
                          <a:spcPts val="1300"/>
                        </a:lnSpc>
                      </a:pPr>
                      <a:r>
                        <a:rPr sz="1000" b="1">
                          <a:solidFill>
                            <a:srgbClr val="14213D"/>
                          </a:solidFill>
                          <a:latin typeface="IBM Plex Sans"/>
                        </a:rPr>
                        <a:t>OM3 · OBI5</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KPI3.3 Taux de présence pointée (contrôle)</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Date comparée aux jours ouvrés</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1">
                          <a:solidFill>
                            <a:srgbClr val="2F5DA8"/>
                          </a:solidFill>
                          <a:latin typeface="IBM Plex Sans"/>
                        </a:rPr>
                        <a:t>Oui</a:t>
                      </a:r>
                      <a:r>
                        <a:rPr sz="1000" b="0">
                          <a:solidFill>
                            <a:srgbClr val="3E4A5C"/>
                          </a:solidFill>
                          <a:latin typeface="IBM Plex Sans"/>
                        </a:rPr>
                        <a:t> · non informatif, aucune absence</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Contrôle, sans cible</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extLst>
                  <a:ext uri="{0D108BD9-81ED-4DB2-BD59-A6C34878D82A}">
                    <a16:rowId xmlns:a16="http://schemas.microsoft.com/office/drawing/2014/main" val="10003"/>
                  </a:ext>
                </a:extLst>
              </a:tr>
              <a:tr h="502920">
                <a:tc>
                  <a:txBody>
                    <a:bodyPr/>
                    <a:lstStyle/>
                    <a:p>
                      <a:pPr>
                        <a:lnSpc>
                          <a:spcPts val="1300"/>
                        </a:lnSpc>
                      </a:pPr>
                      <a:r>
                        <a:rPr sz="1000" b="1">
                          <a:solidFill>
                            <a:srgbClr val="14213D"/>
                          </a:solidFill>
                          <a:latin typeface="IBM Plex Sans"/>
                        </a:rPr>
                        <a:t>OM3 · OBI6</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KPI3.4 Taux de jours en heures sup (&gt; 8 h)</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Heures travaillées calculées</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1">
                          <a:solidFill>
                            <a:srgbClr val="2F5DA8"/>
                          </a:solidFill>
                          <a:latin typeface="IBM Plex Sans"/>
                        </a:rPr>
                        <a:t>Oui</a:t>
                      </a:r>
                      <a:r>
                        <a:rPr sz="1000" b="0">
                          <a:solidFill>
                            <a:srgbClr val="3E4A5C"/>
                          </a:solidFill>
                          <a:latin typeface="IBM Plex Sans"/>
                        </a:rPr>
                        <a:t> · 2,1 % tech, 19,6 % admin</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À définir et à valider</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extLst>
                  <a:ext uri="{0D108BD9-81ED-4DB2-BD59-A6C34878D82A}">
                    <a16:rowId xmlns:a16="http://schemas.microsoft.com/office/drawing/2014/main" val="10004"/>
                  </a:ext>
                </a:extLst>
              </a:tr>
              <a:tr h="502920">
                <a:tc>
                  <a:txBody>
                    <a:bodyPr/>
                    <a:lstStyle/>
                    <a:p>
                      <a:pPr>
                        <a:lnSpc>
                          <a:spcPts val="1300"/>
                        </a:lnSpc>
                      </a:pPr>
                      <a:r>
                        <a:rPr sz="1000" b="1">
                          <a:solidFill>
                            <a:srgbClr val="14213D"/>
                          </a:solidFill>
                          <a:latin typeface="IBM Plex Sans"/>
                        </a:rPr>
                        <a:t>OM3 · OBI6</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KPI3.5 Régularité des horaires</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Heures travaillées calculées (écart-type, jours &lt; 4 h ou &gt; 10 h)</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1">
                          <a:solidFill>
                            <a:srgbClr val="2F5DA8"/>
                          </a:solidFill>
                          <a:latin typeface="IBM Plex Sans"/>
                        </a:rPr>
                        <a:t>Oui</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À définir et à valider</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extLst>
                  <a:ext uri="{0D108BD9-81ED-4DB2-BD59-A6C34878D82A}">
                    <a16:rowId xmlns:a16="http://schemas.microsoft.com/office/drawing/2014/main" val="10005"/>
                  </a:ext>
                </a:extLst>
              </a:tr>
            </a:tbl>
          </a:graphicData>
        </a:graphic>
      </p:graphicFrame>
      <p:sp>
        <p:nvSpPr>
          <p:cNvPr id="5" name="Legend"/>
          <p:cNvSpPr txBox="1"/>
          <p:nvPr/>
        </p:nvSpPr>
        <p:spPr>
          <a:xfrm>
            <a:off x="813816" y="5925312"/>
            <a:ext cx="10515600" cy="237744"/>
          </a:xfrm>
          <a:prstGeom prst="rect">
            <a:avLst/>
          </a:prstGeom>
          <a:noFill/>
        </p:spPr>
        <p:txBody>
          <a:bodyPr wrap="square" lIns="0" tIns="0" rIns="0" bIns="0">
            <a:spAutoFit/>
          </a:bodyPr>
          <a:lstStyle/>
          <a:p>
            <a:pPr>
              <a:lnSpc>
                <a:spcPts val="1500"/>
              </a:lnSpc>
            </a:pPr>
            <a:r>
              <a:rPr sz="1100" b="0">
                <a:solidFill>
                  <a:srgbClr val="6B7280"/>
                </a:solidFill>
                <a:latin typeface="IBM Plex Sans"/>
              </a:rPr>
              <a:t>Faisabilité : Oui = mesurable · Partielle = mesurable avec réserves · Non = impossible aujourd’hui.</a:t>
            </a:r>
          </a:p>
        </p:txBody>
      </p:sp>
      <p:sp>
        <p:nvSpPr>
          <p:cNvPr id="6" name="Footer"/>
          <p:cNvSpPr txBox="1"/>
          <p:nvPr/>
        </p:nvSpPr>
        <p:spPr>
          <a:xfrm>
            <a:off x="813816" y="6236208"/>
            <a:ext cx="10881360" cy="237744"/>
          </a:xfrm>
          <a:prstGeom prst="rect">
            <a:avLst/>
          </a:prstGeom>
          <a:noFill/>
        </p:spPr>
        <p:txBody>
          <a:bodyPr wrap="square" lIns="0" tIns="0" rIns="0" bIns="0">
            <a:spAutoFit/>
          </a:bodyPr>
          <a:lstStyle/>
          <a:p>
            <a:pPr>
              <a:lnSpc>
                <a:spcPts val="1700"/>
              </a:lnSpc>
            </a:pPr>
            <a:r>
              <a:rPr sz="1200" b="0">
                <a:solidFill>
                  <a:srgbClr val="6B7280"/>
                </a:solidFill>
                <a:latin typeface="IBM Plex Sans"/>
              </a:rPr>
              <a:t>Pilotage RH par la donnée · 17 · </a:t>
            </a:r>
            <a:r>
              <a:rPr sz="1200" b="0">
                <a:solidFill>
                  <a:srgbClr val="2F5DA8"/>
                </a:solidFill>
                <a:latin typeface="IBM Plex Sans"/>
              </a:rPr>
              <a:t>Code : colonnes des fichiers sources · cellules [1] à [7]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EEF1F6"/>
        </a:solidFill>
        <a:effectLst/>
      </p:bgPr>
    </p:bg>
    <p:spTree>
      <p:nvGrpSpPr>
        <p:cNvPr id="1" name=""/>
        <p:cNvGrpSpPr/>
        <p:nvPr/>
      </p:nvGrpSpPr>
      <p:grpSpPr>
        <a:xfrm>
          <a:off x="0" y="0"/>
          <a:ext cx="0" cy="0"/>
          <a:chOff x="0" y="0"/>
          <a:chExt cx="0" cy="0"/>
        </a:xfrm>
      </p:grpSpPr>
      <p:sp>
        <p:nvSpPr>
          <p:cNvPr id="2" name="Kicker"/>
          <p:cNvSpPr txBox="1"/>
          <p:nvPr/>
        </p:nvSpPr>
        <p:spPr>
          <a:xfrm>
            <a:off x="813816" y="813816"/>
            <a:ext cx="10881360" cy="237744"/>
          </a:xfrm>
          <a:prstGeom prst="rect">
            <a:avLst/>
          </a:prstGeom>
          <a:noFill/>
        </p:spPr>
        <p:txBody>
          <a:bodyPr wrap="square" lIns="0" tIns="0" rIns="0" bIns="0">
            <a:spAutoFit/>
          </a:bodyPr>
          <a:lstStyle/>
          <a:p>
            <a:pPr>
              <a:lnSpc>
                <a:spcPts val="1700"/>
              </a:lnSpc>
            </a:pPr>
            <a:r>
              <a:rPr sz="1200" b="1" spc="100">
                <a:solidFill>
                  <a:srgbClr val="B4531A"/>
                </a:solidFill>
                <a:latin typeface="IBM Plex Sans"/>
              </a:rPr>
              <a:t>ANNEXE · MATRICE DÉTAILLÉE 3/4</a:t>
            </a:r>
          </a:p>
        </p:txBody>
      </p:sp>
      <p:sp>
        <p:nvSpPr>
          <p:cNvPr id="3" name="Title"/>
          <p:cNvSpPr txBox="1"/>
          <p:nvPr/>
        </p:nvSpPr>
        <p:spPr>
          <a:xfrm>
            <a:off x="813816" y="1106424"/>
            <a:ext cx="10881360" cy="475488"/>
          </a:xfrm>
          <a:prstGeom prst="rect">
            <a:avLst/>
          </a:prstGeom>
          <a:noFill/>
        </p:spPr>
        <p:txBody>
          <a:bodyPr wrap="square" lIns="0" tIns="0" rIns="0" bIns="0">
            <a:spAutoFit/>
          </a:bodyPr>
          <a:lstStyle/>
          <a:p>
            <a:pPr>
              <a:lnSpc>
                <a:spcPts val="3500"/>
              </a:lnSpc>
            </a:pPr>
            <a:r>
              <a:rPr sz="3200" b="1">
                <a:solidFill>
                  <a:srgbClr val="14213D"/>
                </a:solidFill>
                <a:latin typeface="Space Grotesk"/>
              </a:rPr>
              <a:t>OM4 : sources, colonnes et faisabilité</a:t>
            </a:r>
          </a:p>
        </p:txBody>
      </p:sp>
      <p:graphicFrame>
        <p:nvGraphicFramePr>
          <p:cNvPr id="4" name="Table"/>
          <p:cNvGraphicFramePr>
            <a:graphicFrameLocks noGrp="1"/>
          </p:cNvGraphicFramePr>
          <p:nvPr/>
        </p:nvGraphicFramePr>
        <p:xfrm>
          <a:off x="813816" y="1737360"/>
          <a:ext cx="10552176" cy="2843784"/>
        </p:xfrm>
        <a:graphic>
          <a:graphicData uri="http://schemas.openxmlformats.org/drawingml/2006/table">
            <a:tbl>
              <a:tblPr/>
              <a:tblGrid>
                <a:gridCol w="100584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gridCol w="2103120">
                  <a:extLst>
                    <a:ext uri="{9D8B030D-6E8A-4147-A177-3AD203B41FA5}">
                      <a16:colId xmlns:a16="http://schemas.microsoft.com/office/drawing/2014/main" val="20003"/>
                    </a:ext>
                  </a:extLst>
                </a:gridCol>
                <a:gridCol w="1773936">
                  <a:extLst>
                    <a:ext uri="{9D8B030D-6E8A-4147-A177-3AD203B41FA5}">
                      <a16:colId xmlns:a16="http://schemas.microsoft.com/office/drawing/2014/main" val="20004"/>
                    </a:ext>
                  </a:extLst>
                </a:gridCol>
              </a:tblGrid>
              <a:tr h="329184">
                <a:tc>
                  <a:txBody>
                    <a:bodyPr/>
                    <a:lstStyle/>
                    <a:p>
                      <a:pPr>
                        <a:lnSpc>
                          <a:spcPts val="1300"/>
                        </a:lnSpc>
                      </a:pPr>
                      <a:r>
                        <a:rPr sz="1000" b="1">
                          <a:solidFill>
                            <a:srgbClr val="14213D"/>
                          </a:solidFill>
                          <a:latin typeface="IBM Plex Sans"/>
                        </a:rPr>
                        <a:t>OM · OBI</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solidFill>
                      <a:srgbClr val="DDDFE4"/>
                    </a:solidFill>
                  </a:tcPr>
                </a:tc>
                <a:tc>
                  <a:txBody>
                    <a:bodyPr/>
                    <a:lstStyle/>
                    <a:p>
                      <a:pPr>
                        <a:lnSpc>
                          <a:spcPts val="1300"/>
                        </a:lnSpc>
                      </a:pPr>
                      <a:r>
                        <a:rPr sz="1000" b="1">
                          <a:solidFill>
                            <a:srgbClr val="14213D"/>
                          </a:solidFill>
                          <a:latin typeface="IBM Plex Sans"/>
                        </a:rPr>
                        <a:t>KPI</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solidFill>
                      <a:srgbClr val="DDDFE4"/>
                    </a:solidFill>
                  </a:tcPr>
                </a:tc>
                <a:tc>
                  <a:txBody>
                    <a:bodyPr/>
                    <a:lstStyle/>
                    <a:p>
                      <a:pPr>
                        <a:lnSpc>
                          <a:spcPts val="1300"/>
                        </a:lnSpc>
                      </a:pPr>
                      <a:r>
                        <a:rPr sz="1000" b="1">
                          <a:solidFill>
                            <a:srgbClr val="14213D"/>
                          </a:solidFill>
                          <a:latin typeface="IBM Plex Sans"/>
                        </a:rPr>
                        <a:t>Fichiers → colonnes</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solidFill>
                      <a:srgbClr val="DDDFE4"/>
                    </a:solidFill>
                  </a:tcPr>
                </a:tc>
                <a:tc>
                  <a:txBody>
                    <a:bodyPr/>
                    <a:lstStyle/>
                    <a:p>
                      <a:pPr>
                        <a:lnSpc>
                          <a:spcPts val="1300"/>
                        </a:lnSpc>
                      </a:pPr>
                      <a:r>
                        <a:rPr sz="1000" b="1">
                          <a:solidFill>
                            <a:srgbClr val="14213D"/>
                          </a:solidFill>
                          <a:latin typeface="IBM Plex Sans"/>
                        </a:rPr>
                        <a:t>Faisabilité</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solidFill>
                      <a:srgbClr val="DDDFE4"/>
                    </a:solidFill>
                  </a:tcPr>
                </a:tc>
                <a:tc>
                  <a:txBody>
                    <a:bodyPr/>
                    <a:lstStyle/>
                    <a:p>
                      <a:pPr>
                        <a:lnSpc>
                          <a:spcPts val="1300"/>
                        </a:lnSpc>
                      </a:pPr>
                      <a:r>
                        <a:rPr sz="1000" b="1">
                          <a:solidFill>
                            <a:srgbClr val="14213D"/>
                          </a:solidFill>
                          <a:latin typeface="IBM Plex Sans"/>
                        </a:rPr>
                        <a:t>Cible</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solidFill>
                      <a:srgbClr val="DDDFE4"/>
                    </a:solidFill>
                  </a:tcPr>
                </a:tc>
                <a:extLst>
                  <a:ext uri="{0D108BD9-81ED-4DB2-BD59-A6C34878D82A}">
                    <a16:rowId xmlns:a16="http://schemas.microsoft.com/office/drawing/2014/main" val="10000"/>
                  </a:ext>
                </a:extLst>
              </a:tr>
              <a:tr h="502920">
                <a:tc>
                  <a:txBody>
                    <a:bodyPr/>
                    <a:lstStyle/>
                    <a:p>
                      <a:pPr>
                        <a:lnSpc>
                          <a:spcPts val="1300"/>
                        </a:lnSpc>
                      </a:pPr>
                      <a:r>
                        <a:rPr sz="1000" b="1">
                          <a:solidFill>
                            <a:srgbClr val="14213D"/>
                          </a:solidFill>
                          <a:latin typeface="IBM Plex Sans"/>
                        </a:rPr>
                        <a:t>OM4 · OBI7</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KPI4.1 Taux de couverture formation</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emp_data → ID_TRAINING</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1">
                          <a:solidFill>
                            <a:srgbClr val="2F5DA8"/>
                          </a:solidFill>
                          <a:latin typeface="IBM Plex Sans"/>
                        </a:rPr>
                        <a:t>Oui</a:t>
                      </a:r>
                      <a:r>
                        <a:rPr sz="1000" b="0">
                          <a:solidFill>
                            <a:srgbClr val="3E4A5C"/>
                          </a:solidFill>
                          <a:latin typeface="IBM Plex Sans"/>
                        </a:rPr>
                        <a:t> · techniques 99 % ; admin sans donnée</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 95 % techniques ; admin à définir</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extLst>
                  <a:ext uri="{0D108BD9-81ED-4DB2-BD59-A6C34878D82A}">
                    <a16:rowId xmlns:a16="http://schemas.microsoft.com/office/drawing/2014/main" val="10001"/>
                  </a:ext>
                </a:extLst>
              </a:tr>
              <a:tr h="502920">
                <a:tc>
                  <a:txBody>
                    <a:bodyPr/>
                    <a:lstStyle/>
                    <a:p>
                      <a:pPr>
                        <a:lnSpc>
                          <a:spcPts val="1300"/>
                        </a:lnSpc>
                      </a:pPr>
                      <a:r>
                        <a:rPr sz="1000" b="1">
                          <a:solidFill>
                            <a:srgbClr val="14213D"/>
                          </a:solidFill>
                          <a:latin typeface="IBM Plex Sans"/>
                        </a:rPr>
                        <a:t>OM4 · OBI7</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KPI4.2 Formations par employé (médiane)</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ID_TRAINING (liste à éclater)</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1">
                          <a:solidFill>
                            <a:srgbClr val="B4531A"/>
                          </a:solidFill>
                          <a:latin typeface="IBM Plex Sans"/>
                        </a:rPr>
                        <a:t>Partielle</a:t>
                      </a:r>
                      <a:r>
                        <a:rPr sz="1000" b="0">
                          <a:solidFill>
                            <a:srgbClr val="3E4A5C"/>
                          </a:solidFill>
                          <a:latin typeface="IBM Plex Sans"/>
                        </a:rPr>
                        <a:t> · sans date, médiane de 13</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À définir et à valider</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extLst>
                  <a:ext uri="{0D108BD9-81ED-4DB2-BD59-A6C34878D82A}">
                    <a16:rowId xmlns:a16="http://schemas.microsoft.com/office/drawing/2014/main" val="10002"/>
                  </a:ext>
                </a:extLst>
              </a:tr>
              <a:tr h="502920">
                <a:tc>
                  <a:txBody>
                    <a:bodyPr/>
                    <a:lstStyle/>
                    <a:p>
                      <a:pPr>
                        <a:lnSpc>
                          <a:spcPts val="1300"/>
                        </a:lnSpc>
                      </a:pPr>
                      <a:r>
                        <a:rPr sz="1000" b="1">
                          <a:solidFill>
                            <a:srgbClr val="14213D"/>
                          </a:solidFill>
                          <a:latin typeface="IBM Plex Sans"/>
                        </a:rPr>
                        <a:t>OM4 · OBI7</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KPI4.3 Taux d’utilisation du catalogue</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ID_TRAINING ↔ Coursera_trainings → course_id</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1">
                          <a:solidFill>
                            <a:srgbClr val="2F5DA8"/>
                          </a:solidFill>
                          <a:latin typeface="IBM Plex Sans"/>
                        </a:rPr>
                        <a:t>Oui</a:t>
                      </a:r>
                      <a:r>
                        <a:rPr sz="1000" b="0">
                          <a:solidFill>
                            <a:srgbClr val="3E4A5C"/>
                          </a:solidFill>
                          <a:latin typeface="IBM Plex Sans"/>
                        </a:rPr>
                        <a:t> · à calculer</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À définir et à valider</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extLst>
                  <a:ext uri="{0D108BD9-81ED-4DB2-BD59-A6C34878D82A}">
                    <a16:rowId xmlns:a16="http://schemas.microsoft.com/office/drawing/2014/main" val="10003"/>
                  </a:ext>
                </a:extLst>
              </a:tr>
              <a:tr h="502920">
                <a:tc>
                  <a:txBody>
                    <a:bodyPr/>
                    <a:lstStyle/>
                    <a:p>
                      <a:pPr>
                        <a:lnSpc>
                          <a:spcPts val="1300"/>
                        </a:lnSpc>
                      </a:pPr>
                      <a:r>
                        <a:rPr sz="1000" b="1">
                          <a:solidFill>
                            <a:srgbClr val="14213D"/>
                          </a:solidFill>
                          <a:latin typeface="IBM Plex Sans"/>
                        </a:rPr>
                        <a:t>OM4 · OBI8</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KPI4.4 Répartition par niveau de difficulté</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Coursera_trainings → Difficulty Level</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1">
                          <a:solidFill>
                            <a:srgbClr val="2F5DA8"/>
                          </a:solidFill>
                          <a:latin typeface="IBM Plex Sans"/>
                        </a:rPr>
                        <a:t>Oui</a:t>
                      </a:r>
                      <a:r>
                        <a:rPr sz="1000" b="0">
                          <a:solidFill>
                            <a:srgbClr val="3E4A5C"/>
                          </a:solidFill>
                          <a:latin typeface="IBM Plex Sans"/>
                        </a:rPr>
                        <a:t> · 41 % débutant, 28 % avancé</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À définir et à valider</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extLst>
                  <a:ext uri="{0D108BD9-81ED-4DB2-BD59-A6C34878D82A}">
                    <a16:rowId xmlns:a16="http://schemas.microsoft.com/office/drawing/2014/main" val="10004"/>
                  </a:ext>
                </a:extLst>
              </a:tr>
              <a:tr h="502920">
                <a:tc>
                  <a:txBody>
                    <a:bodyPr/>
                    <a:lstStyle/>
                    <a:p>
                      <a:pPr>
                        <a:lnSpc>
                          <a:spcPts val="1300"/>
                        </a:lnSpc>
                      </a:pPr>
                      <a:r>
                        <a:rPr sz="1000" b="1">
                          <a:solidFill>
                            <a:srgbClr val="14213D"/>
                          </a:solidFill>
                          <a:latin typeface="IBM Plex Sans"/>
                        </a:rPr>
                        <a:t>OM4 · OBI8</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KPI4.5 Alignement formations et technologies</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emp_data → TECHNOLOGIES, ACTIVITY · catalogue → Skills</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1">
                          <a:solidFill>
                            <a:srgbClr val="B4531A"/>
                          </a:solidFill>
                          <a:latin typeface="IBM Plex Sans"/>
                        </a:rPr>
                        <a:t>Partielle</a:t>
                      </a:r>
                      <a:r>
                        <a:rPr sz="1000" b="0">
                          <a:solidFill>
                            <a:srgbClr val="3E4A5C"/>
                          </a:solidFill>
                          <a:latin typeface="IBM Plex Sans"/>
                        </a:rPr>
                        <a:t> · table de correspondance à construire</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À définir et à valider</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extLst>
                  <a:ext uri="{0D108BD9-81ED-4DB2-BD59-A6C34878D82A}">
                    <a16:rowId xmlns:a16="http://schemas.microsoft.com/office/drawing/2014/main" val="10005"/>
                  </a:ext>
                </a:extLst>
              </a:tr>
            </a:tbl>
          </a:graphicData>
        </a:graphic>
      </p:graphicFrame>
      <p:sp>
        <p:nvSpPr>
          <p:cNvPr id="5" name="Legend"/>
          <p:cNvSpPr txBox="1"/>
          <p:nvPr/>
        </p:nvSpPr>
        <p:spPr>
          <a:xfrm>
            <a:off x="813816" y="5925312"/>
            <a:ext cx="10515600" cy="237744"/>
          </a:xfrm>
          <a:prstGeom prst="rect">
            <a:avLst/>
          </a:prstGeom>
          <a:noFill/>
        </p:spPr>
        <p:txBody>
          <a:bodyPr wrap="square" lIns="0" tIns="0" rIns="0" bIns="0">
            <a:spAutoFit/>
          </a:bodyPr>
          <a:lstStyle/>
          <a:p>
            <a:pPr>
              <a:lnSpc>
                <a:spcPts val="1500"/>
              </a:lnSpc>
            </a:pPr>
            <a:r>
              <a:rPr sz="1100" b="0">
                <a:solidFill>
                  <a:srgbClr val="6B7280"/>
                </a:solidFill>
                <a:latin typeface="IBM Plex Sans"/>
              </a:rPr>
              <a:t>Faisabilité : Oui = mesurable · Partielle = mesurable avec réserves · Non = impossible aujourd’hui.</a:t>
            </a:r>
          </a:p>
        </p:txBody>
      </p:sp>
      <p:sp>
        <p:nvSpPr>
          <p:cNvPr id="6" name="Footer"/>
          <p:cNvSpPr txBox="1"/>
          <p:nvPr/>
        </p:nvSpPr>
        <p:spPr>
          <a:xfrm>
            <a:off x="813816" y="6236208"/>
            <a:ext cx="10881360" cy="237744"/>
          </a:xfrm>
          <a:prstGeom prst="rect">
            <a:avLst/>
          </a:prstGeom>
          <a:noFill/>
        </p:spPr>
        <p:txBody>
          <a:bodyPr wrap="square" lIns="0" tIns="0" rIns="0" bIns="0">
            <a:spAutoFit/>
          </a:bodyPr>
          <a:lstStyle/>
          <a:p>
            <a:pPr>
              <a:lnSpc>
                <a:spcPts val="1700"/>
              </a:lnSpc>
            </a:pPr>
            <a:r>
              <a:rPr sz="1200" b="0">
                <a:solidFill>
                  <a:srgbClr val="6B7280"/>
                </a:solidFill>
                <a:latin typeface="IBM Plex Sans"/>
              </a:rPr>
              <a:t>Pilotage RH par la donnée · 18 · </a:t>
            </a:r>
            <a:r>
              <a:rPr sz="1200" b="0">
                <a:solidFill>
                  <a:srgbClr val="2F5DA8"/>
                </a:solidFill>
                <a:latin typeface="IBM Plex Sans"/>
              </a:rPr>
              <a:t>Code : colonnes des fichiers sources · cellules [1] à [7]</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EEF1F6"/>
        </a:solidFill>
        <a:effectLst/>
      </p:bgPr>
    </p:bg>
    <p:spTree>
      <p:nvGrpSpPr>
        <p:cNvPr id="1" name=""/>
        <p:cNvGrpSpPr/>
        <p:nvPr/>
      </p:nvGrpSpPr>
      <p:grpSpPr>
        <a:xfrm>
          <a:off x="0" y="0"/>
          <a:ext cx="0" cy="0"/>
          <a:chOff x="0" y="0"/>
          <a:chExt cx="0" cy="0"/>
        </a:xfrm>
      </p:grpSpPr>
      <p:sp>
        <p:nvSpPr>
          <p:cNvPr id="2" name="Kicker"/>
          <p:cNvSpPr txBox="1"/>
          <p:nvPr/>
        </p:nvSpPr>
        <p:spPr>
          <a:xfrm>
            <a:off x="813816" y="813816"/>
            <a:ext cx="10881360" cy="237744"/>
          </a:xfrm>
          <a:prstGeom prst="rect">
            <a:avLst/>
          </a:prstGeom>
          <a:noFill/>
        </p:spPr>
        <p:txBody>
          <a:bodyPr wrap="square" lIns="0" tIns="0" rIns="0" bIns="0">
            <a:spAutoFit/>
          </a:bodyPr>
          <a:lstStyle/>
          <a:p>
            <a:pPr>
              <a:lnSpc>
                <a:spcPts val="1700"/>
              </a:lnSpc>
            </a:pPr>
            <a:r>
              <a:rPr sz="1200" b="1" spc="100">
                <a:solidFill>
                  <a:srgbClr val="B4531A"/>
                </a:solidFill>
                <a:latin typeface="IBM Plex Sans"/>
              </a:rPr>
              <a:t>ANNEXE · MATRICE DÉTAILLÉE 4/4</a:t>
            </a:r>
          </a:p>
        </p:txBody>
      </p:sp>
      <p:sp>
        <p:nvSpPr>
          <p:cNvPr id="3" name="Title"/>
          <p:cNvSpPr txBox="1"/>
          <p:nvPr/>
        </p:nvSpPr>
        <p:spPr>
          <a:xfrm>
            <a:off x="813816" y="1106424"/>
            <a:ext cx="10881360" cy="475488"/>
          </a:xfrm>
          <a:prstGeom prst="rect">
            <a:avLst/>
          </a:prstGeom>
          <a:noFill/>
        </p:spPr>
        <p:txBody>
          <a:bodyPr wrap="square" lIns="0" tIns="0" rIns="0" bIns="0">
            <a:spAutoFit/>
          </a:bodyPr>
          <a:lstStyle/>
          <a:p>
            <a:pPr>
              <a:lnSpc>
                <a:spcPts val="3500"/>
              </a:lnSpc>
            </a:pPr>
            <a:r>
              <a:rPr sz="3200" b="1">
                <a:solidFill>
                  <a:srgbClr val="14213D"/>
                </a:solidFill>
                <a:latin typeface="Space Grotesk"/>
              </a:rPr>
              <a:t>OM5 et OM6 : sources, colonnes et faisabilité</a:t>
            </a:r>
          </a:p>
        </p:txBody>
      </p:sp>
      <p:graphicFrame>
        <p:nvGraphicFramePr>
          <p:cNvPr id="4" name="Table"/>
          <p:cNvGraphicFramePr>
            <a:graphicFrameLocks noGrp="1"/>
          </p:cNvGraphicFramePr>
          <p:nvPr/>
        </p:nvGraphicFramePr>
        <p:xfrm>
          <a:off x="813816" y="1737360"/>
          <a:ext cx="10552176" cy="3346704"/>
        </p:xfrm>
        <a:graphic>
          <a:graphicData uri="http://schemas.openxmlformats.org/drawingml/2006/table">
            <a:tbl>
              <a:tblPr/>
              <a:tblGrid>
                <a:gridCol w="100584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gridCol w="2103120">
                  <a:extLst>
                    <a:ext uri="{9D8B030D-6E8A-4147-A177-3AD203B41FA5}">
                      <a16:colId xmlns:a16="http://schemas.microsoft.com/office/drawing/2014/main" val="20003"/>
                    </a:ext>
                  </a:extLst>
                </a:gridCol>
                <a:gridCol w="1773936">
                  <a:extLst>
                    <a:ext uri="{9D8B030D-6E8A-4147-A177-3AD203B41FA5}">
                      <a16:colId xmlns:a16="http://schemas.microsoft.com/office/drawing/2014/main" val="20004"/>
                    </a:ext>
                  </a:extLst>
                </a:gridCol>
              </a:tblGrid>
              <a:tr h="329184">
                <a:tc>
                  <a:txBody>
                    <a:bodyPr/>
                    <a:lstStyle/>
                    <a:p>
                      <a:pPr>
                        <a:lnSpc>
                          <a:spcPts val="1300"/>
                        </a:lnSpc>
                      </a:pPr>
                      <a:r>
                        <a:rPr sz="1000" b="1">
                          <a:solidFill>
                            <a:srgbClr val="14213D"/>
                          </a:solidFill>
                          <a:latin typeface="IBM Plex Sans"/>
                        </a:rPr>
                        <a:t>OM · OBI</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solidFill>
                      <a:srgbClr val="DDDFE4"/>
                    </a:solidFill>
                  </a:tcPr>
                </a:tc>
                <a:tc>
                  <a:txBody>
                    <a:bodyPr/>
                    <a:lstStyle/>
                    <a:p>
                      <a:pPr>
                        <a:lnSpc>
                          <a:spcPts val="1300"/>
                        </a:lnSpc>
                      </a:pPr>
                      <a:r>
                        <a:rPr sz="1000" b="1">
                          <a:solidFill>
                            <a:srgbClr val="14213D"/>
                          </a:solidFill>
                          <a:latin typeface="IBM Plex Sans"/>
                        </a:rPr>
                        <a:t>KPI</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solidFill>
                      <a:srgbClr val="DDDFE4"/>
                    </a:solidFill>
                  </a:tcPr>
                </a:tc>
                <a:tc>
                  <a:txBody>
                    <a:bodyPr/>
                    <a:lstStyle/>
                    <a:p>
                      <a:pPr>
                        <a:lnSpc>
                          <a:spcPts val="1300"/>
                        </a:lnSpc>
                      </a:pPr>
                      <a:r>
                        <a:rPr sz="1000" b="1">
                          <a:solidFill>
                            <a:srgbClr val="14213D"/>
                          </a:solidFill>
                          <a:latin typeface="IBM Plex Sans"/>
                        </a:rPr>
                        <a:t>Fichiers → colonnes</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solidFill>
                      <a:srgbClr val="DDDFE4"/>
                    </a:solidFill>
                  </a:tcPr>
                </a:tc>
                <a:tc>
                  <a:txBody>
                    <a:bodyPr/>
                    <a:lstStyle/>
                    <a:p>
                      <a:pPr>
                        <a:lnSpc>
                          <a:spcPts val="1300"/>
                        </a:lnSpc>
                      </a:pPr>
                      <a:r>
                        <a:rPr sz="1000" b="1">
                          <a:solidFill>
                            <a:srgbClr val="14213D"/>
                          </a:solidFill>
                          <a:latin typeface="IBM Plex Sans"/>
                        </a:rPr>
                        <a:t>Faisabilité</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solidFill>
                      <a:srgbClr val="DDDFE4"/>
                    </a:solidFill>
                  </a:tcPr>
                </a:tc>
                <a:tc>
                  <a:txBody>
                    <a:bodyPr/>
                    <a:lstStyle/>
                    <a:p>
                      <a:pPr>
                        <a:lnSpc>
                          <a:spcPts val="1300"/>
                        </a:lnSpc>
                      </a:pPr>
                      <a:r>
                        <a:rPr sz="1000" b="1">
                          <a:solidFill>
                            <a:srgbClr val="14213D"/>
                          </a:solidFill>
                          <a:latin typeface="IBM Plex Sans"/>
                        </a:rPr>
                        <a:t>Cible</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solidFill>
                      <a:srgbClr val="DDDFE4"/>
                    </a:solidFill>
                  </a:tcPr>
                </a:tc>
                <a:extLst>
                  <a:ext uri="{0D108BD9-81ED-4DB2-BD59-A6C34878D82A}">
                    <a16:rowId xmlns:a16="http://schemas.microsoft.com/office/drawing/2014/main" val="10000"/>
                  </a:ext>
                </a:extLst>
              </a:tr>
              <a:tr h="502920">
                <a:tc>
                  <a:txBody>
                    <a:bodyPr/>
                    <a:lstStyle/>
                    <a:p>
                      <a:pPr>
                        <a:lnSpc>
                          <a:spcPts val="1300"/>
                        </a:lnSpc>
                      </a:pPr>
                      <a:r>
                        <a:rPr sz="1000" b="1">
                          <a:solidFill>
                            <a:srgbClr val="14213D"/>
                          </a:solidFill>
                          <a:latin typeface="IBM Plex Sans"/>
                        </a:rPr>
                        <a:t>OM5 · OBI9</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KPI5.1 Taux de consommation des congés</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LEAVE_CONSUMED, LEAVE_BALANCE (les deux fiches)</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1">
                          <a:solidFill>
                            <a:srgbClr val="2F5DA8"/>
                          </a:solidFill>
                          <a:latin typeface="IBM Plex Sans"/>
                        </a:rPr>
                        <a:t>Oui</a:t>
                      </a:r>
                      <a:r>
                        <a:rPr sz="1000" b="0">
                          <a:solidFill>
                            <a:srgbClr val="3E4A5C"/>
                          </a:solidFill>
                          <a:latin typeface="IBM Plex Sans"/>
                        </a:rPr>
                        <a:t> · instantané, environ 50 %</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À définir et à valider</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extLst>
                  <a:ext uri="{0D108BD9-81ED-4DB2-BD59-A6C34878D82A}">
                    <a16:rowId xmlns:a16="http://schemas.microsoft.com/office/drawing/2014/main" val="10001"/>
                  </a:ext>
                </a:extLst>
              </a:tr>
              <a:tr h="502920">
                <a:tc>
                  <a:txBody>
                    <a:bodyPr/>
                    <a:lstStyle/>
                    <a:p>
                      <a:pPr>
                        <a:lnSpc>
                          <a:spcPts val="1300"/>
                        </a:lnSpc>
                      </a:pPr>
                      <a:r>
                        <a:rPr sz="1000" b="1">
                          <a:solidFill>
                            <a:srgbClr val="14213D"/>
                          </a:solidFill>
                          <a:latin typeface="IBM Plex Sans"/>
                        </a:rPr>
                        <a:t>OM5 · OBI9</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KPI5.2 Solde moyen et part des soldes élevés</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LEAVE_BALANCE</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1">
                          <a:solidFill>
                            <a:srgbClr val="2F5DA8"/>
                          </a:solidFill>
                          <a:latin typeface="IBM Plex Sans"/>
                        </a:rPr>
                        <a:t>Oui</a:t>
                      </a:r>
                      <a:r>
                        <a:rPr sz="1000" b="0">
                          <a:solidFill>
                            <a:srgbClr val="3E4A5C"/>
                          </a:solidFill>
                          <a:latin typeface="IBM Plex Sans"/>
                        </a:rPr>
                        <a:t> · 14,8 j en moyenne</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À définir et à valider</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extLst>
                  <a:ext uri="{0D108BD9-81ED-4DB2-BD59-A6C34878D82A}">
                    <a16:rowId xmlns:a16="http://schemas.microsoft.com/office/drawing/2014/main" val="10002"/>
                  </a:ext>
                </a:extLst>
              </a:tr>
              <a:tr h="502920">
                <a:tc>
                  <a:txBody>
                    <a:bodyPr/>
                    <a:lstStyle/>
                    <a:p>
                      <a:pPr>
                        <a:lnSpc>
                          <a:spcPts val="1300"/>
                        </a:lnSpc>
                      </a:pPr>
                      <a:r>
                        <a:rPr sz="1000" b="1">
                          <a:solidFill>
                            <a:srgbClr val="14213D"/>
                          </a:solidFill>
                          <a:latin typeface="IBM Plex Sans"/>
                        </a:rPr>
                        <a:t>OM5 · OBI10</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KPI5.3 Types de congé, dont maladie (proxy d’absentéisme)</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LEAVE_TYPE (emp_data) · LAST_LEAVE_TYPE (administration_data)</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1">
                          <a:solidFill>
                            <a:srgbClr val="B4531A"/>
                          </a:solidFill>
                          <a:latin typeface="IBM Plex Sans"/>
                        </a:rPr>
                        <a:t>Partielle</a:t>
                      </a:r>
                      <a:r>
                        <a:rPr sz="1000" b="0">
                          <a:solidFill>
                            <a:srgbClr val="3E4A5C"/>
                          </a:solidFill>
                          <a:latin typeface="IBM Plex Sans"/>
                        </a:rPr>
                        <a:t> · dernier congé seulement, sans date ni durée</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À définir et à valider</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extLst>
                  <a:ext uri="{0D108BD9-81ED-4DB2-BD59-A6C34878D82A}">
                    <a16:rowId xmlns:a16="http://schemas.microsoft.com/office/drawing/2014/main" val="10003"/>
                  </a:ext>
                </a:extLst>
              </a:tr>
              <a:tr h="502920">
                <a:tc>
                  <a:txBody>
                    <a:bodyPr/>
                    <a:lstStyle/>
                    <a:p>
                      <a:pPr>
                        <a:lnSpc>
                          <a:spcPts val="1300"/>
                        </a:lnSpc>
                      </a:pPr>
                      <a:r>
                        <a:rPr sz="1000" b="1">
                          <a:solidFill>
                            <a:srgbClr val="14213D"/>
                          </a:solidFill>
                          <a:latin typeface="IBM Plex Sans"/>
                        </a:rPr>
                        <a:t>OM6 · OBI11</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KPI6.1 Échéances de contrat à 30, 90 et 180 jours</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CONTRACT_END, TYPE_CONTRACT, DEP_ID</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1">
                          <a:solidFill>
                            <a:srgbClr val="B4531A"/>
                          </a:solidFill>
                          <a:latin typeface="IBM Plex Sans"/>
                        </a:rPr>
                        <a:t>Partielle</a:t>
                      </a:r>
                      <a:r>
                        <a:rPr sz="1000" b="0">
                          <a:solidFill>
                            <a:srgbClr val="3E4A5C"/>
                          </a:solidFill>
                          <a:latin typeface="IBM Plex Sans"/>
                        </a:rPr>
                        <a:t> · 350 en 2023, fiables après nettoyage</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À définir et à valider</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extLst>
                  <a:ext uri="{0D108BD9-81ED-4DB2-BD59-A6C34878D82A}">
                    <a16:rowId xmlns:a16="http://schemas.microsoft.com/office/drawing/2014/main" val="10004"/>
                  </a:ext>
                </a:extLst>
              </a:tr>
              <a:tr h="502920">
                <a:tc>
                  <a:txBody>
                    <a:bodyPr/>
                    <a:lstStyle/>
                    <a:p>
                      <a:pPr>
                        <a:lnSpc>
                          <a:spcPts val="1300"/>
                        </a:lnSpc>
                      </a:pPr>
                      <a:r>
                        <a:rPr sz="1000" b="1">
                          <a:solidFill>
                            <a:srgbClr val="14213D"/>
                          </a:solidFill>
                          <a:latin typeface="IBM Plex Sans"/>
                        </a:rPr>
                        <a:t>OM6 · OBI11</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KPI6.2 Taux de rotation (turnover)</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aucune colonne disponible</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1">
                          <a:solidFill>
                            <a:srgbClr val="9B2226"/>
                          </a:solidFill>
                          <a:latin typeface="IBM Plex Sans"/>
                        </a:rPr>
                        <a:t>Non</a:t>
                      </a:r>
                      <a:r>
                        <a:rPr sz="1000" b="0">
                          <a:solidFill>
                            <a:srgbClr val="3E4A5C"/>
                          </a:solidFill>
                          <a:latin typeface="IBM Plex Sans"/>
                        </a:rPr>
                        <a:t> · pas d’historique de sorties</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À définir et à valider</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extLst>
                  <a:ext uri="{0D108BD9-81ED-4DB2-BD59-A6C34878D82A}">
                    <a16:rowId xmlns:a16="http://schemas.microsoft.com/office/drawing/2014/main" val="10005"/>
                  </a:ext>
                </a:extLst>
              </a:tr>
              <a:tr h="502920">
                <a:tc>
                  <a:txBody>
                    <a:bodyPr/>
                    <a:lstStyle/>
                    <a:p>
                      <a:pPr>
                        <a:lnSpc>
                          <a:spcPts val="1300"/>
                        </a:lnSpc>
                      </a:pPr>
                      <a:r>
                        <a:rPr sz="1000" b="1">
                          <a:solidFill>
                            <a:srgbClr val="14213D"/>
                          </a:solidFill>
                          <a:latin typeface="IBM Plex Sans"/>
                        </a:rPr>
                        <a:t>OM6 · OBI12</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KPI6.3 Taux d’anomalies contractuelles</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TYPE_CONTRACT, CONTRACT_END, POSITION, pointages</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1">
                          <a:solidFill>
                            <a:srgbClr val="2F5DA8"/>
                          </a:solidFill>
                          <a:latin typeface="IBM Plex Sans"/>
                        </a:rPr>
                        <a:t>Oui</a:t>
                      </a:r>
                      <a:r>
                        <a:rPr sz="1000" b="0">
                          <a:solidFill>
                            <a:srgbClr val="3E4A5C"/>
                          </a:solidFill>
                          <a:latin typeface="IBM Plex Sans"/>
                        </a:rPr>
                        <a:t> · 468 CDI datés, 663 échus pointés, 221 vacataires en CDI</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0 anomalie ; horizon à valider</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extLst>
                  <a:ext uri="{0D108BD9-81ED-4DB2-BD59-A6C34878D82A}">
                    <a16:rowId xmlns:a16="http://schemas.microsoft.com/office/drawing/2014/main" val="10006"/>
                  </a:ext>
                </a:extLst>
              </a:tr>
            </a:tbl>
          </a:graphicData>
        </a:graphic>
      </p:graphicFrame>
      <p:sp>
        <p:nvSpPr>
          <p:cNvPr id="5" name="Legend"/>
          <p:cNvSpPr txBox="1"/>
          <p:nvPr/>
        </p:nvSpPr>
        <p:spPr>
          <a:xfrm>
            <a:off x="813816" y="5925312"/>
            <a:ext cx="10515600" cy="237744"/>
          </a:xfrm>
          <a:prstGeom prst="rect">
            <a:avLst/>
          </a:prstGeom>
          <a:noFill/>
        </p:spPr>
        <p:txBody>
          <a:bodyPr wrap="square" lIns="0" tIns="0" rIns="0" bIns="0">
            <a:spAutoFit/>
          </a:bodyPr>
          <a:lstStyle/>
          <a:p>
            <a:pPr>
              <a:lnSpc>
                <a:spcPts val="1500"/>
              </a:lnSpc>
            </a:pPr>
            <a:r>
              <a:rPr sz="1100" b="0">
                <a:solidFill>
                  <a:srgbClr val="6B7280"/>
                </a:solidFill>
                <a:latin typeface="IBM Plex Sans"/>
              </a:rPr>
              <a:t>Faisabilité : Oui = mesurable · Partielle = mesurable avec réserves · Non = impossible aujourd’hui.</a:t>
            </a:r>
          </a:p>
        </p:txBody>
      </p:sp>
      <p:sp>
        <p:nvSpPr>
          <p:cNvPr id="6" name="Footer"/>
          <p:cNvSpPr txBox="1"/>
          <p:nvPr/>
        </p:nvSpPr>
        <p:spPr>
          <a:xfrm>
            <a:off x="813816" y="6236208"/>
            <a:ext cx="10881360" cy="237744"/>
          </a:xfrm>
          <a:prstGeom prst="rect">
            <a:avLst/>
          </a:prstGeom>
          <a:noFill/>
        </p:spPr>
        <p:txBody>
          <a:bodyPr wrap="square" lIns="0" tIns="0" rIns="0" bIns="0">
            <a:spAutoFit/>
          </a:bodyPr>
          <a:lstStyle/>
          <a:p>
            <a:pPr>
              <a:lnSpc>
                <a:spcPts val="1700"/>
              </a:lnSpc>
            </a:pPr>
            <a:r>
              <a:rPr sz="1200" b="0">
                <a:solidFill>
                  <a:srgbClr val="6B7280"/>
                </a:solidFill>
                <a:latin typeface="IBM Plex Sans"/>
              </a:rPr>
              <a:t>Pilotage RH par la donnée · 19 · </a:t>
            </a:r>
            <a:r>
              <a:rPr sz="1200" b="0">
                <a:solidFill>
                  <a:srgbClr val="2F5DA8"/>
                </a:solidFill>
                <a:latin typeface="IBM Plex Sans"/>
              </a:rPr>
              <a:t>Code : colonnes des fichiers sources · cellules [1] à [7]</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EEF1F6"/>
        </a:solidFill>
        <a:effectLst/>
      </p:bgPr>
    </p:bg>
    <p:spTree>
      <p:nvGrpSpPr>
        <p:cNvPr id="1" name=""/>
        <p:cNvGrpSpPr/>
        <p:nvPr/>
      </p:nvGrpSpPr>
      <p:grpSpPr>
        <a:xfrm>
          <a:off x="0" y="0"/>
          <a:ext cx="0" cy="0"/>
          <a:chOff x="0" y="0"/>
          <a:chExt cx="0" cy="0"/>
        </a:xfrm>
      </p:grpSpPr>
      <p:sp>
        <p:nvSpPr>
          <p:cNvPr id="2" name="Kicker"/>
          <p:cNvSpPr txBox="1"/>
          <p:nvPr/>
        </p:nvSpPr>
        <p:spPr>
          <a:xfrm>
            <a:off x="813816" y="813816"/>
            <a:ext cx="10881360" cy="237744"/>
          </a:xfrm>
          <a:prstGeom prst="rect">
            <a:avLst/>
          </a:prstGeom>
          <a:noFill/>
        </p:spPr>
        <p:txBody>
          <a:bodyPr wrap="square" lIns="0" tIns="0" rIns="0" bIns="0">
            <a:spAutoFit/>
          </a:bodyPr>
          <a:lstStyle/>
          <a:p>
            <a:pPr>
              <a:lnSpc>
                <a:spcPts val="1700"/>
              </a:lnSpc>
            </a:pPr>
            <a:r>
              <a:rPr sz="1200" b="1" spc="100">
                <a:solidFill>
                  <a:srgbClr val="B4531A"/>
                </a:solidFill>
                <a:latin typeface="IBM Plex Sans"/>
              </a:rPr>
              <a:t>ACTEURS · CONSOMMATEURS</a:t>
            </a:r>
          </a:p>
        </p:txBody>
      </p:sp>
      <p:sp>
        <p:nvSpPr>
          <p:cNvPr id="3" name="Title"/>
          <p:cNvSpPr txBox="1"/>
          <p:nvPr/>
        </p:nvSpPr>
        <p:spPr>
          <a:xfrm>
            <a:off x="813816" y="1106424"/>
            <a:ext cx="10881360" cy="475488"/>
          </a:xfrm>
          <a:prstGeom prst="rect">
            <a:avLst/>
          </a:prstGeom>
          <a:noFill/>
        </p:spPr>
        <p:txBody>
          <a:bodyPr wrap="square" lIns="0" tIns="0" rIns="0" bIns="0">
            <a:spAutoFit/>
          </a:bodyPr>
          <a:lstStyle/>
          <a:p>
            <a:pPr>
              <a:lnSpc>
                <a:spcPts val="3500"/>
              </a:lnSpc>
            </a:pPr>
            <a:r>
              <a:rPr sz="3200" b="1">
                <a:solidFill>
                  <a:srgbClr val="14213D"/>
                </a:solidFill>
                <a:latin typeface="Space Grotesk"/>
              </a:rPr>
              <a:t>Sept acteurs consomment les indicateurs</a:t>
            </a:r>
          </a:p>
        </p:txBody>
      </p:sp>
      <p:graphicFrame>
        <p:nvGraphicFramePr>
          <p:cNvPr id="4" name="Table"/>
          <p:cNvGraphicFramePr>
            <a:graphicFrameLocks noGrp="1"/>
          </p:cNvGraphicFramePr>
          <p:nvPr/>
        </p:nvGraphicFramePr>
        <p:xfrm>
          <a:off x="813816" y="1783080"/>
          <a:ext cx="10552176" cy="3273552"/>
        </p:xfrm>
        <a:graphic>
          <a:graphicData uri="http://schemas.openxmlformats.org/drawingml/2006/table">
            <a:tbl>
              <a:tblPr/>
              <a:tblGrid>
                <a:gridCol w="3200400">
                  <a:extLst>
                    <a:ext uri="{9D8B030D-6E8A-4147-A177-3AD203B41FA5}">
                      <a16:colId xmlns:a16="http://schemas.microsoft.com/office/drawing/2014/main" val="20000"/>
                    </a:ext>
                  </a:extLst>
                </a:gridCol>
                <a:gridCol w="658368">
                  <a:extLst>
                    <a:ext uri="{9D8B030D-6E8A-4147-A177-3AD203B41FA5}">
                      <a16:colId xmlns:a16="http://schemas.microsoft.com/office/drawing/2014/main" val="20001"/>
                    </a:ext>
                  </a:extLst>
                </a:gridCol>
                <a:gridCol w="658368">
                  <a:extLst>
                    <a:ext uri="{9D8B030D-6E8A-4147-A177-3AD203B41FA5}">
                      <a16:colId xmlns:a16="http://schemas.microsoft.com/office/drawing/2014/main" val="20002"/>
                    </a:ext>
                  </a:extLst>
                </a:gridCol>
                <a:gridCol w="658368">
                  <a:extLst>
                    <a:ext uri="{9D8B030D-6E8A-4147-A177-3AD203B41FA5}">
                      <a16:colId xmlns:a16="http://schemas.microsoft.com/office/drawing/2014/main" val="20003"/>
                    </a:ext>
                  </a:extLst>
                </a:gridCol>
                <a:gridCol w="658368">
                  <a:extLst>
                    <a:ext uri="{9D8B030D-6E8A-4147-A177-3AD203B41FA5}">
                      <a16:colId xmlns:a16="http://schemas.microsoft.com/office/drawing/2014/main" val="20004"/>
                    </a:ext>
                  </a:extLst>
                </a:gridCol>
                <a:gridCol w="658368">
                  <a:extLst>
                    <a:ext uri="{9D8B030D-6E8A-4147-A177-3AD203B41FA5}">
                      <a16:colId xmlns:a16="http://schemas.microsoft.com/office/drawing/2014/main" val="20005"/>
                    </a:ext>
                  </a:extLst>
                </a:gridCol>
                <a:gridCol w="658368">
                  <a:extLst>
                    <a:ext uri="{9D8B030D-6E8A-4147-A177-3AD203B41FA5}">
                      <a16:colId xmlns:a16="http://schemas.microsoft.com/office/drawing/2014/main" val="20006"/>
                    </a:ext>
                  </a:extLst>
                </a:gridCol>
                <a:gridCol w="3401568">
                  <a:extLst>
                    <a:ext uri="{9D8B030D-6E8A-4147-A177-3AD203B41FA5}">
                      <a16:colId xmlns:a16="http://schemas.microsoft.com/office/drawing/2014/main" val="20007"/>
                    </a:ext>
                  </a:extLst>
                </a:gridCol>
              </a:tblGrid>
              <a:tr h="329184">
                <a:tc>
                  <a:txBody>
                    <a:bodyPr/>
                    <a:lstStyle/>
                    <a:p>
                      <a:pPr>
                        <a:lnSpc>
                          <a:spcPts val="1600"/>
                        </a:lnSpc>
                      </a:pPr>
                      <a:r>
                        <a:rPr sz="1200" b="1">
                          <a:solidFill>
                            <a:srgbClr val="14213D"/>
                          </a:solidFill>
                          <a:latin typeface="IBM Plex Sans"/>
                        </a:rPr>
                        <a:t>Acteur</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solidFill>
                      <a:srgbClr val="DDDFE4"/>
                    </a:solidFill>
                  </a:tcPr>
                </a:tc>
                <a:tc>
                  <a:txBody>
                    <a:bodyPr/>
                    <a:lstStyle/>
                    <a:p>
                      <a:pPr algn="ctr">
                        <a:lnSpc>
                          <a:spcPts val="1600"/>
                        </a:lnSpc>
                      </a:pPr>
                      <a:r>
                        <a:rPr sz="1200" b="1">
                          <a:solidFill>
                            <a:srgbClr val="14213D"/>
                          </a:solidFill>
                          <a:latin typeface="IBM Plex Sans"/>
                        </a:rPr>
                        <a:t>OM1</a:t>
                      </a:r>
                    </a:p>
                  </a:txBody>
                  <a:tcPr marL="53340" marR="53340" marT="53340" marB="53340" anchor="ctr">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solidFill>
                      <a:srgbClr val="DDDFE4"/>
                    </a:solidFill>
                  </a:tcPr>
                </a:tc>
                <a:tc>
                  <a:txBody>
                    <a:bodyPr/>
                    <a:lstStyle/>
                    <a:p>
                      <a:pPr algn="ctr">
                        <a:lnSpc>
                          <a:spcPts val="1600"/>
                        </a:lnSpc>
                      </a:pPr>
                      <a:r>
                        <a:rPr sz="1200" b="1">
                          <a:solidFill>
                            <a:srgbClr val="14213D"/>
                          </a:solidFill>
                          <a:latin typeface="IBM Plex Sans"/>
                        </a:rPr>
                        <a:t>OM2</a:t>
                      </a:r>
                    </a:p>
                  </a:txBody>
                  <a:tcPr marL="53340" marR="53340" marT="53340" marB="53340" anchor="ctr">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solidFill>
                      <a:srgbClr val="DDDFE4"/>
                    </a:solidFill>
                  </a:tcPr>
                </a:tc>
                <a:tc>
                  <a:txBody>
                    <a:bodyPr/>
                    <a:lstStyle/>
                    <a:p>
                      <a:pPr algn="ctr">
                        <a:lnSpc>
                          <a:spcPts val="1600"/>
                        </a:lnSpc>
                      </a:pPr>
                      <a:r>
                        <a:rPr sz="1200" b="1">
                          <a:solidFill>
                            <a:srgbClr val="14213D"/>
                          </a:solidFill>
                          <a:latin typeface="IBM Plex Sans"/>
                        </a:rPr>
                        <a:t>OM3</a:t>
                      </a:r>
                    </a:p>
                  </a:txBody>
                  <a:tcPr marL="53340" marR="53340" marT="53340" marB="53340" anchor="ctr">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solidFill>
                      <a:srgbClr val="DDDFE4"/>
                    </a:solidFill>
                  </a:tcPr>
                </a:tc>
                <a:tc>
                  <a:txBody>
                    <a:bodyPr/>
                    <a:lstStyle/>
                    <a:p>
                      <a:pPr algn="ctr">
                        <a:lnSpc>
                          <a:spcPts val="1600"/>
                        </a:lnSpc>
                      </a:pPr>
                      <a:r>
                        <a:rPr sz="1200" b="1">
                          <a:solidFill>
                            <a:srgbClr val="14213D"/>
                          </a:solidFill>
                          <a:latin typeface="IBM Plex Sans"/>
                        </a:rPr>
                        <a:t>OM4</a:t>
                      </a:r>
                    </a:p>
                  </a:txBody>
                  <a:tcPr marL="53340" marR="53340" marT="53340" marB="53340" anchor="ctr">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solidFill>
                      <a:srgbClr val="DDDFE4"/>
                    </a:solidFill>
                  </a:tcPr>
                </a:tc>
                <a:tc>
                  <a:txBody>
                    <a:bodyPr/>
                    <a:lstStyle/>
                    <a:p>
                      <a:pPr algn="ctr">
                        <a:lnSpc>
                          <a:spcPts val="1600"/>
                        </a:lnSpc>
                      </a:pPr>
                      <a:r>
                        <a:rPr sz="1200" b="1">
                          <a:solidFill>
                            <a:srgbClr val="14213D"/>
                          </a:solidFill>
                          <a:latin typeface="IBM Plex Sans"/>
                        </a:rPr>
                        <a:t>OM5</a:t>
                      </a:r>
                    </a:p>
                  </a:txBody>
                  <a:tcPr marL="53340" marR="53340" marT="53340" marB="53340" anchor="ctr">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solidFill>
                      <a:srgbClr val="DDDFE4"/>
                    </a:solidFill>
                  </a:tcPr>
                </a:tc>
                <a:tc>
                  <a:txBody>
                    <a:bodyPr/>
                    <a:lstStyle/>
                    <a:p>
                      <a:pPr algn="ctr">
                        <a:lnSpc>
                          <a:spcPts val="1600"/>
                        </a:lnSpc>
                      </a:pPr>
                      <a:r>
                        <a:rPr sz="1200" b="1">
                          <a:solidFill>
                            <a:srgbClr val="14213D"/>
                          </a:solidFill>
                          <a:latin typeface="IBM Plex Sans"/>
                        </a:rPr>
                        <a:t>OM6</a:t>
                      </a:r>
                    </a:p>
                  </a:txBody>
                  <a:tcPr marL="53340" marR="53340" marT="53340" marB="53340" anchor="ctr">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solidFill>
                      <a:srgbClr val="DDDFE4"/>
                    </a:solidFill>
                  </a:tcPr>
                </a:tc>
                <a:tc>
                  <a:txBody>
                    <a:bodyPr/>
                    <a:lstStyle/>
                    <a:p>
                      <a:pPr>
                        <a:lnSpc>
                          <a:spcPts val="1600"/>
                        </a:lnSpc>
                      </a:pPr>
                      <a:r>
                        <a:rPr sz="1200" b="1">
                          <a:solidFill>
                            <a:srgbClr val="14213D"/>
                          </a:solidFill>
                          <a:latin typeface="IBM Plex Sans"/>
                        </a:rPr>
                        <a:t>Vue du tableau de bord</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solidFill>
                      <a:srgbClr val="DDDFE4"/>
                    </a:solidFill>
                  </a:tcPr>
                </a:tc>
                <a:extLst>
                  <a:ext uri="{0D108BD9-81ED-4DB2-BD59-A6C34878D82A}">
                    <a16:rowId xmlns:a16="http://schemas.microsoft.com/office/drawing/2014/main" val="10000"/>
                  </a:ext>
                </a:extLst>
              </a:tr>
              <a:tr h="420624">
                <a:tc>
                  <a:txBody>
                    <a:bodyPr/>
                    <a:lstStyle/>
                    <a:p>
                      <a:pPr>
                        <a:lnSpc>
                          <a:spcPts val="1600"/>
                        </a:lnSpc>
                      </a:pPr>
                      <a:r>
                        <a:rPr sz="1200" b="1">
                          <a:solidFill>
                            <a:srgbClr val="14213D"/>
                          </a:solidFill>
                          <a:latin typeface="IBM Plex Sans"/>
                        </a:rPr>
                        <a:t>Direction générale</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gn="ctr">
                        <a:lnSpc>
                          <a:spcPts val="1600"/>
                        </a:lnSpc>
                      </a:pPr>
                      <a:r>
                        <a:rPr sz="1200" b="1">
                          <a:solidFill>
                            <a:srgbClr val="2F5DA8"/>
                          </a:solidFill>
                          <a:latin typeface="IBM Plex Sans"/>
                        </a:rPr>
                        <a:t>●</a:t>
                      </a:r>
                    </a:p>
                  </a:txBody>
                  <a:tcPr marL="53340" marR="53340" marT="53340" marB="53340" anchor="ctr">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gn="ctr">
                        <a:lnSpc>
                          <a:spcPts val="1600"/>
                        </a:lnSpc>
                      </a:pPr>
                      <a:r>
                        <a:rPr sz="1200" b="1">
                          <a:solidFill>
                            <a:srgbClr val="2F5DA8"/>
                          </a:solidFill>
                          <a:latin typeface="IBM Plex Sans"/>
                        </a:rPr>
                        <a:t>●</a:t>
                      </a:r>
                    </a:p>
                  </a:txBody>
                  <a:tcPr marL="53340" marR="53340" marT="53340" marB="53340" anchor="ctr">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gn="ctr">
                        <a:lnSpc>
                          <a:spcPts val="1600"/>
                        </a:lnSpc>
                      </a:pPr>
                      <a:endParaRPr/>
                    </a:p>
                  </a:txBody>
                  <a:tcPr marL="53340" marR="53340" marT="53340" marB="53340" anchor="ctr">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gn="ctr">
                        <a:lnSpc>
                          <a:spcPts val="1600"/>
                        </a:lnSpc>
                      </a:pPr>
                      <a:endParaRPr/>
                    </a:p>
                  </a:txBody>
                  <a:tcPr marL="53340" marR="53340" marT="53340" marB="53340" anchor="ctr">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gn="ctr">
                        <a:lnSpc>
                          <a:spcPts val="1600"/>
                        </a:lnSpc>
                      </a:pPr>
                      <a:endParaRPr/>
                    </a:p>
                  </a:txBody>
                  <a:tcPr marL="53340" marR="53340" marT="53340" marB="53340" anchor="ctr">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gn="ctr">
                        <a:lnSpc>
                          <a:spcPts val="1600"/>
                        </a:lnSpc>
                      </a:pPr>
                      <a:r>
                        <a:rPr sz="1200" b="1">
                          <a:solidFill>
                            <a:srgbClr val="2F5DA8"/>
                          </a:solidFill>
                          <a:latin typeface="IBM Plex Sans"/>
                        </a:rPr>
                        <a:t>●</a:t>
                      </a:r>
                    </a:p>
                  </a:txBody>
                  <a:tcPr marL="53340" marR="53340" marT="53340" marB="53340" anchor="ctr">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600"/>
                        </a:lnSpc>
                      </a:pPr>
                      <a:r>
                        <a:rPr sz="1200" b="0">
                          <a:solidFill>
                            <a:srgbClr val="3E4A5C"/>
                          </a:solidFill>
                          <a:latin typeface="IBM Plex Sans"/>
                        </a:rPr>
                        <a:t>Vue consolidée, tous départements</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extLst>
                  <a:ext uri="{0D108BD9-81ED-4DB2-BD59-A6C34878D82A}">
                    <a16:rowId xmlns:a16="http://schemas.microsoft.com/office/drawing/2014/main" val="10001"/>
                  </a:ext>
                </a:extLst>
              </a:tr>
              <a:tr h="420624">
                <a:tc>
                  <a:txBody>
                    <a:bodyPr/>
                    <a:lstStyle/>
                    <a:p>
                      <a:pPr>
                        <a:lnSpc>
                          <a:spcPts val="1600"/>
                        </a:lnSpc>
                      </a:pPr>
                      <a:r>
                        <a:rPr sz="1200" b="1">
                          <a:solidFill>
                            <a:srgbClr val="14213D"/>
                          </a:solidFill>
                          <a:latin typeface="IBM Plex Sans"/>
                        </a:rPr>
                        <a:t>DRH</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gn="ctr">
                        <a:lnSpc>
                          <a:spcPts val="1600"/>
                        </a:lnSpc>
                      </a:pPr>
                      <a:r>
                        <a:rPr sz="1200" b="1">
                          <a:solidFill>
                            <a:srgbClr val="2F5DA8"/>
                          </a:solidFill>
                          <a:latin typeface="IBM Plex Sans"/>
                        </a:rPr>
                        <a:t>●</a:t>
                      </a:r>
                    </a:p>
                  </a:txBody>
                  <a:tcPr marL="53340" marR="53340" marT="53340" marB="53340" anchor="ctr">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gn="ctr">
                        <a:lnSpc>
                          <a:spcPts val="1600"/>
                        </a:lnSpc>
                      </a:pPr>
                      <a:r>
                        <a:rPr sz="1200" b="1">
                          <a:solidFill>
                            <a:srgbClr val="2F5DA8"/>
                          </a:solidFill>
                          <a:latin typeface="IBM Plex Sans"/>
                        </a:rPr>
                        <a:t>●</a:t>
                      </a:r>
                    </a:p>
                  </a:txBody>
                  <a:tcPr marL="53340" marR="53340" marT="53340" marB="53340" anchor="ctr">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gn="ctr">
                        <a:lnSpc>
                          <a:spcPts val="1600"/>
                        </a:lnSpc>
                      </a:pPr>
                      <a:r>
                        <a:rPr sz="1200" b="1">
                          <a:solidFill>
                            <a:srgbClr val="2F5DA8"/>
                          </a:solidFill>
                          <a:latin typeface="IBM Plex Sans"/>
                        </a:rPr>
                        <a:t>●</a:t>
                      </a:r>
                    </a:p>
                  </a:txBody>
                  <a:tcPr marL="53340" marR="53340" marT="53340" marB="53340" anchor="ctr">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gn="ctr">
                        <a:lnSpc>
                          <a:spcPts val="1600"/>
                        </a:lnSpc>
                      </a:pPr>
                      <a:r>
                        <a:rPr sz="1200" b="1">
                          <a:solidFill>
                            <a:srgbClr val="2F5DA8"/>
                          </a:solidFill>
                          <a:latin typeface="IBM Plex Sans"/>
                        </a:rPr>
                        <a:t>●</a:t>
                      </a:r>
                    </a:p>
                  </a:txBody>
                  <a:tcPr marL="53340" marR="53340" marT="53340" marB="53340" anchor="ctr">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gn="ctr">
                        <a:lnSpc>
                          <a:spcPts val="1600"/>
                        </a:lnSpc>
                      </a:pPr>
                      <a:r>
                        <a:rPr sz="1200" b="1">
                          <a:solidFill>
                            <a:srgbClr val="2F5DA8"/>
                          </a:solidFill>
                          <a:latin typeface="IBM Plex Sans"/>
                        </a:rPr>
                        <a:t>●</a:t>
                      </a:r>
                    </a:p>
                  </a:txBody>
                  <a:tcPr marL="53340" marR="53340" marT="53340" marB="53340" anchor="ctr">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gn="ctr">
                        <a:lnSpc>
                          <a:spcPts val="1600"/>
                        </a:lnSpc>
                      </a:pPr>
                      <a:r>
                        <a:rPr sz="1200" b="1">
                          <a:solidFill>
                            <a:srgbClr val="2F5DA8"/>
                          </a:solidFill>
                          <a:latin typeface="IBM Plex Sans"/>
                        </a:rPr>
                        <a:t>●</a:t>
                      </a:r>
                    </a:p>
                  </a:txBody>
                  <a:tcPr marL="53340" marR="53340" marT="53340" marB="53340" anchor="ctr">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600"/>
                        </a:lnSpc>
                      </a:pPr>
                      <a:r>
                        <a:rPr sz="1200" b="0">
                          <a:solidFill>
                            <a:srgbClr val="3E4A5C"/>
                          </a:solidFill>
                          <a:latin typeface="IBM Plex Sans"/>
                        </a:rPr>
                        <a:t>Complète</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extLst>
                  <a:ext uri="{0D108BD9-81ED-4DB2-BD59-A6C34878D82A}">
                    <a16:rowId xmlns:a16="http://schemas.microsoft.com/office/drawing/2014/main" val="10002"/>
                  </a:ext>
                </a:extLst>
              </a:tr>
              <a:tr h="420624">
                <a:tc>
                  <a:txBody>
                    <a:bodyPr/>
                    <a:lstStyle/>
                    <a:p>
                      <a:pPr>
                        <a:lnSpc>
                          <a:spcPts val="1600"/>
                        </a:lnSpc>
                      </a:pPr>
                      <a:r>
                        <a:rPr sz="1200" b="1">
                          <a:solidFill>
                            <a:srgbClr val="14213D"/>
                          </a:solidFill>
                          <a:latin typeface="IBM Plex Sans"/>
                        </a:rPr>
                        <a:t>Contrôle de gestion et paie</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gn="ctr">
                        <a:lnSpc>
                          <a:spcPts val="1600"/>
                        </a:lnSpc>
                      </a:pPr>
                      <a:endParaRPr/>
                    </a:p>
                  </a:txBody>
                  <a:tcPr marL="53340" marR="53340" marT="53340" marB="53340" anchor="ctr">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gn="ctr">
                        <a:lnSpc>
                          <a:spcPts val="1600"/>
                        </a:lnSpc>
                      </a:pPr>
                      <a:r>
                        <a:rPr sz="1200" b="1">
                          <a:solidFill>
                            <a:srgbClr val="2F5DA8"/>
                          </a:solidFill>
                          <a:latin typeface="IBM Plex Sans"/>
                        </a:rPr>
                        <a:t>●</a:t>
                      </a:r>
                    </a:p>
                  </a:txBody>
                  <a:tcPr marL="53340" marR="53340" marT="53340" marB="53340" anchor="ctr">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gn="ctr">
                        <a:lnSpc>
                          <a:spcPts val="1600"/>
                        </a:lnSpc>
                      </a:pPr>
                      <a:r>
                        <a:rPr sz="1200" b="1">
                          <a:solidFill>
                            <a:srgbClr val="2F5DA8"/>
                          </a:solidFill>
                          <a:latin typeface="IBM Plex Sans"/>
                        </a:rPr>
                        <a:t>●</a:t>
                      </a:r>
                    </a:p>
                  </a:txBody>
                  <a:tcPr marL="53340" marR="53340" marT="53340" marB="53340" anchor="ctr">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gn="ctr">
                        <a:lnSpc>
                          <a:spcPts val="1600"/>
                        </a:lnSpc>
                      </a:pPr>
                      <a:endParaRPr/>
                    </a:p>
                  </a:txBody>
                  <a:tcPr marL="53340" marR="53340" marT="53340" marB="53340" anchor="ctr">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gn="ctr">
                        <a:lnSpc>
                          <a:spcPts val="1600"/>
                        </a:lnSpc>
                      </a:pPr>
                      <a:endParaRPr/>
                    </a:p>
                  </a:txBody>
                  <a:tcPr marL="53340" marR="53340" marT="53340" marB="53340" anchor="ctr">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gn="ctr">
                        <a:lnSpc>
                          <a:spcPts val="1600"/>
                        </a:lnSpc>
                      </a:pPr>
                      <a:endParaRPr/>
                    </a:p>
                  </a:txBody>
                  <a:tcPr marL="53340" marR="53340" marT="53340" marB="53340" anchor="ctr">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600"/>
                        </a:lnSpc>
                      </a:pPr>
                      <a:r>
                        <a:rPr sz="1200" b="0">
                          <a:solidFill>
                            <a:srgbClr val="3E4A5C"/>
                          </a:solidFill>
                          <a:latin typeface="IBM Plex Sans"/>
                        </a:rPr>
                        <a:t>Complète sur OM2 et OM3</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extLst>
                  <a:ext uri="{0D108BD9-81ED-4DB2-BD59-A6C34878D82A}">
                    <a16:rowId xmlns:a16="http://schemas.microsoft.com/office/drawing/2014/main" val="10003"/>
                  </a:ext>
                </a:extLst>
              </a:tr>
              <a:tr h="420624">
                <a:tc>
                  <a:txBody>
                    <a:bodyPr/>
                    <a:lstStyle/>
                    <a:p>
                      <a:pPr>
                        <a:lnSpc>
                          <a:spcPts val="1600"/>
                        </a:lnSpc>
                      </a:pPr>
                      <a:r>
                        <a:rPr sz="1200" b="1">
                          <a:solidFill>
                            <a:srgbClr val="14213D"/>
                          </a:solidFill>
                          <a:latin typeface="IBM Plex Sans"/>
                        </a:rPr>
                        <a:t>Resp. administration du personnel</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gn="ctr">
                        <a:lnSpc>
                          <a:spcPts val="1600"/>
                        </a:lnSpc>
                      </a:pPr>
                      <a:endParaRPr/>
                    </a:p>
                  </a:txBody>
                  <a:tcPr marL="53340" marR="53340" marT="53340" marB="53340" anchor="ctr">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gn="ctr">
                        <a:lnSpc>
                          <a:spcPts val="1600"/>
                        </a:lnSpc>
                      </a:pPr>
                      <a:endParaRPr/>
                    </a:p>
                  </a:txBody>
                  <a:tcPr marL="53340" marR="53340" marT="53340" marB="53340" anchor="ctr">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gn="ctr">
                        <a:lnSpc>
                          <a:spcPts val="1600"/>
                        </a:lnSpc>
                      </a:pPr>
                      <a:endParaRPr/>
                    </a:p>
                  </a:txBody>
                  <a:tcPr marL="53340" marR="53340" marT="53340" marB="53340" anchor="ctr">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gn="ctr">
                        <a:lnSpc>
                          <a:spcPts val="1600"/>
                        </a:lnSpc>
                      </a:pPr>
                      <a:endParaRPr/>
                    </a:p>
                  </a:txBody>
                  <a:tcPr marL="53340" marR="53340" marT="53340" marB="53340" anchor="ctr">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gn="ctr">
                        <a:lnSpc>
                          <a:spcPts val="1600"/>
                        </a:lnSpc>
                      </a:pPr>
                      <a:r>
                        <a:rPr sz="1200" b="1">
                          <a:solidFill>
                            <a:srgbClr val="2F5DA8"/>
                          </a:solidFill>
                          <a:latin typeface="IBM Plex Sans"/>
                        </a:rPr>
                        <a:t>●</a:t>
                      </a:r>
                    </a:p>
                  </a:txBody>
                  <a:tcPr marL="53340" marR="53340" marT="53340" marB="53340" anchor="ctr">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gn="ctr">
                        <a:lnSpc>
                          <a:spcPts val="1600"/>
                        </a:lnSpc>
                      </a:pPr>
                      <a:r>
                        <a:rPr sz="1200" b="1">
                          <a:solidFill>
                            <a:srgbClr val="2F5DA8"/>
                          </a:solidFill>
                          <a:latin typeface="IBM Plex Sans"/>
                        </a:rPr>
                        <a:t>●</a:t>
                      </a:r>
                    </a:p>
                  </a:txBody>
                  <a:tcPr marL="53340" marR="53340" marT="53340" marB="53340" anchor="ctr">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600"/>
                        </a:lnSpc>
                      </a:pPr>
                      <a:r>
                        <a:rPr sz="1200" b="0">
                          <a:solidFill>
                            <a:srgbClr val="3E4A5C"/>
                          </a:solidFill>
                          <a:latin typeface="IBM Plex Sans"/>
                        </a:rPr>
                        <a:t>Détail par employé</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extLst>
                  <a:ext uri="{0D108BD9-81ED-4DB2-BD59-A6C34878D82A}">
                    <a16:rowId xmlns:a16="http://schemas.microsoft.com/office/drawing/2014/main" val="10004"/>
                  </a:ext>
                </a:extLst>
              </a:tr>
              <a:tr h="420624">
                <a:tc>
                  <a:txBody>
                    <a:bodyPr/>
                    <a:lstStyle/>
                    <a:p>
                      <a:pPr>
                        <a:lnSpc>
                          <a:spcPts val="1600"/>
                        </a:lnSpc>
                      </a:pPr>
                      <a:r>
                        <a:rPr sz="1200" b="1">
                          <a:solidFill>
                            <a:srgbClr val="14213D"/>
                          </a:solidFill>
                          <a:latin typeface="IBM Plex Sans"/>
                        </a:rPr>
                        <a:t>Resp. formation</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gn="ctr">
                        <a:lnSpc>
                          <a:spcPts val="1600"/>
                        </a:lnSpc>
                      </a:pPr>
                      <a:endParaRPr/>
                    </a:p>
                  </a:txBody>
                  <a:tcPr marL="53340" marR="53340" marT="53340" marB="53340" anchor="ctr">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gn="ctr">
                        <a:lnSpc>
                          <a:spcPts val="1600"/>
                        </a:lnSpc>
                      </a:pPr>
                      <a:endParaRPr/>
                    </a:p>
                  </a:txBody>
                  <a:tcPr marL="53340" marR="53340" marT="53340" marB="53340" anchor="ctr">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gn="ctr">
                        <a:lnSpc>
                          <a:spcPts val="1600"/>
                        </a:lnSpc>
                      </a:pPr>
                      <a:endParaRPr/>
                    </a:p>
                  </a:txBody>
                  <a:tcPr marL="53340" marR="53340" marT="53340" marB="53340" anchor="ctr">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gn="ctr">
                        <a:lnSpc>
                          <a:spcPts val="1600"/>
                        </a:lnSpc>
                      </a:pPr>
                      <a:r>
                        <a:rPr sz="1200" b="1">
                          <a:solidFill>
                            <a:srgbClr val="2F5DA8"/>
                          </a:solidFill>
                          <a:latin typeface="IBM Plex Sans"/>
                        </a:rPr>
                        <a:t>●</a:t>
                      </a:r>
                    </a:p>
                  </a:txBody>
                  <a:tcPr marL="53340" marR="53340" marT="53340" marB="53340" anchor="ctr">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gn="ctr">
                        <a:lnSpc>
                          <a:spcPts val="1600"/>
                        </a:lnSpc>
                      </a:pPr>
                      <a:endParaRPr/>
                    </a:p>
                  </a:txBody>
                  <a:tcPr marL="53340" marR="53340" marT="53340" marB="53340" anchor="ctr">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gn="ctr">
                        <a:lnSpc>
                          <a:spcPts val="1600"/>
                        </a:lnSpc>
                      </a:pPr>
                      <a:endParaRPr/>
                    </a:p>
                  </a:txBody>
                  <a:tcPr marL="53340" marR="53340" marT="53340" marB="53340" anchor="ctr">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600"/>
                        </a:lnSpc>
                      </a:pPr>
                      <a:r>
                        <a:rPr sz="1200" b="0">
                          <a:solidFill>
                            <a:srgbClr val="3E4A5C"/>
                          </a:solidFill>
                          <a:latin typeface="IBM Plex Sans"/>
                        </a:rPr>
                        <a:t>Complète sur OM4</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extLst>
                  <a:ext uri="{0D108BD9-81ED-4DB2-BD59-A6C34878D82A}">
                    <a16:rowId xmlns:a16="http://schemas.microsoft.com/office/drawing/2014/main" val="10005"/>
                  </a:ext>
                </a:extLst>
              </a:tr>
              <a:tr h="420624">
                <a:tc>
                  <a:txBody>
                    <a:bodyPr/>
                    <a:lstStyle/>
                    <a:p>
                      <a:pPr>
                        <a:lnSpc>
                          <a:spcPts val="1600"/>
                        </a:lnSpc>
                      </a:pPr>
                      <a:r>
                        <a:rPr sz="1200" b="1">
                          <a:solidFill>
                            <a:srgbClr val="14213D"/>
                          </a:solidFill>
                          <a:latin typeface="IBM Plex Sans"/>
                        </a:rPr>
                        <a:t>Resp. recrutement</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gn="ctr">
                        <a:lnSpc>
                          <a:spcPts val="1600"/>
                        </a:lnSpc>
                      </a:pPr>
                      <a:r>
                        <a:rPr sz="1200" b="1">
                          <a:solidFill>
                            <a:srgbClr val="2F5DA8"/>
                          </a:solidFill>
                          <a:latin typeface="IBM Plex Sans"/>
                        </a:rPr>
                        <a:t>●</a:t>
                      </a:r>
                    </a:p>
                  </a:txBody>
                  <a:tcPr marL="53340" marR="53340" marT="53340" marB="53340" anchor="ctr">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gn="ctr">
                        <a:lnSpc>
                          <a:spcPts val="1600"/>
                        </a:lnSpc>
                      </a:pPr>
                      <a:endParaRPr/>
                    </a:p>
                  </a:txBody>
                  <a:tcPr marL="53340" marR="53340" marT="53340" marB="53340" anchor="ctr">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gn="ctr">
                        <a:lnSpc>
                          <a:spcPts val="1600"/>
                        </a:lnSpc>
                      </a:pPr>
                      <a:endParaRPr/>
                    </a:p>
                  </a:txBody>
                  <a:tcPr marL="53340" marR="53340" marT="53340" marB="53340" anchor="ctr">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gn="ctr">
                        <a:lnSpc>
                          <a:spcPts val="1600"/>
                        </a:lnSpc>
                      </a:pPr>
                      <a:endParaRPr/>
                    </a:p>
                  </a:txBody>
                  <a:tcPr marL="53340" marR="53340" marT="53340" marB="53340" anchor="ctr">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gn="ctr">
                        <a:lnSpc>
                          <a:spcPts val="1600"/>
                        </a:lnSpc>
                      </a:pPr>
                      <a:endParaRPr/>
                    </a:p>
                  </a:txBody>
                  <a:tcPr marL="53340" marR="53340" marT="53340" marB="53340" anchor="ctr">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gn="ctr">
                        <a:lnSpc>
                          <a:spcPts val="1600"/>
                        </a:lnSpc>
                      </a:pPr>
                      <a:endParaRPr/>
                    </a:p>
                  </a:txBody>
                  <a:tcPr marL="53340" marR="53340" marT="53340" marB="53340" anchor="ctr">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600"/>
                        </a:lnSpc>
                      </a:pPr>
                      <a:r>
                        <a:rPr sz="1200" b="0">
                          <a:solidFill>
                            <a:srgbClr val="3E4A5C"/>
                          </a:solidFill>
                          <a:latin typeface="IBM Plex Sans"/>
                        </a:rPr>
                        <a:t>Agrégée</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extLst>
                  <a:ext uri="{0D108BD9-81ED-4DB2-BD59-A6C34878D82A}">
                    <a16:rowId xmlns:a16="http://schemas.microsoft.com/office/drawing/2014/main" val="10006"/>
                  </a:ext>
                </a:extLst>
              </a:tr>
              <a:tr h="420624">
                <a:tc>
                  <a:txBody>
                    <a:bodyPr/>
                    <a:lstStyle/>
                    <a:p>
                      <a:pPr>
                        <a:lnSpc>
                          <a:spcPts val="1600"/>
                        </a:lnSpc>
                      </a:pPr>
                      <a:r>
                        <a:rPr sz="1200" b="1">
                          <a:solidFill>
                            <a:srgbClr val="14213D"/>
                          </a:solidFill>
                          <a:latin typeface="IBM Plex Sans"/>
                        </a:rPr>
                        <a:t>Managers de département</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gn="ctr">
                        <a:lnSpc>
                          <a:spcPts val="1600"/>
                        </a:lnSpc>
                      </a:pPr>
                      <a:r>
                        <a:rPr sz="1200" b="1">
                          <a:solidFill>
                            <a:srgbClr val="2F5DA8"/>
                          </a:solidFill>
                          <a:latin typeface="IBM Plex Sans"/>
                        </a:rPr>
                        <a:t>●</a:t>
                      </a:r>
                    </a:p>
                  </a:txBody>
                  <a:tcPr marL="53340" marR="53340" marT="53340" marB="53340" anchor="ctr">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gn="ctr">
                        <a:lnSpc>
                          <a:spcPts val="1600"/>
                        </a:lnSpc>
                      </a:pPr>
                      <a:endParaRPr/>
                    </a:p>
                  </a:txBody>
                  <a:tcPr marL="53340" marR="53340" marT="53340" marB="53340" anchor="ctr">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gn="ctr">
                        <a:lnSpc>
                          <a:spcPts val="1600"/>
                        </a:lnSpc>
                      </a:pPr>
                      <a:r>
                        <a:rPr sz="1200" b="1">
                          <a:solidFill>
                            <a:srgbClr val="2F5DA8"/>
                          </a:solidFill>
                          <a:latin typeface="IBM Plex Sans"/>
                        </a:rPr>
                        <a:t>●</a:t>
                      </a:r>
                    </a:p>
                  </a:txBody>
                  <a:tcPr marL="53340" marR="53340" marT="53340" marB="53340" anchor="ctr">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gn="ctr">
                        <a:lnSpc>
                          <a:spcPts val="1600"/>
                        </a:lnSpc>
                      </a:pPr>
                      <a:endParaRPr/>
                    </a:p>
                  </a:txBody>
                  <a:tcPr marL="53340" marR="53340" marT="53340" marB="53340" anchor="ctr">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gn="ctr">
                        <a:lnSpc>
                          <a:spcPts val="1600"/>
                        </a:lnSpc>
                      </a:pPr>
                      <a:r>
                        <a:rPr sz="1200" b="1">
                          <a:solidFill>
                            <a:srgbClr val="2F5DA8"/>
                          </a:solidFill>
                          <a:latin typeface="IBM Plex Sans"/>
                        </a:rPr>
                        <a:t>●</a:t>
                      </a:r>
                    </a:p>
                  </a:txBody>
                  <a:tcPr marL="53340" marR="53340" marT="53340" marB="53340" anchor="ctr">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gn="ctr">
                        <a:lnSpc>
                          <a:spcPts val="1600"/>
                        </a:lnSpc>
                      </a:pPr>
                      <a:r>
                        <a:rPr sz="1200" b="1">
                          <a:solidFill>
                            <a:srgbClr val="2F5DA8"/>
                          </a:solidFill>
                          <a:latin typeface="IBM Plex Sans"/>
                        </a:rPr>
                        <a:t>●</a:t>
                      </a:r>
                    </a:p>
                  </a:txBody>
                  <a:tcPr marL="53340" marR="53340" marT="53340" marB="53340" anchor="ctr">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600"/>
                        </a:lnSpc>
                      </a:pPr>
                      <a:r>
                        <a:rPr sz="1200" b="0">
                          <a:solidFill>
                            <a:srgbClr val="3E4A5C"/>
                          </a:solidFill>
                          <a:latin typeface="IBM Plex Sans"/>
                        </a:rPr>
                        <a:t>Limitée à leur département</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extLst>
                  <a:ext uri="{0D108BD9-81ED-4DB2-BD59-A6C34878D82A}">
                    <a16:rowId xmlns:a16="http://schemas.microsoft.com/office/drawing/2014/main" val="10007"/>
                  </a:ext>
                </a:extLst>
              </a:tr>
            </a:tbl>
          </a:graphicData>
        </a:graphic>
      </p:graphicFrame>
      <p:sp>
        <p:nvSpPr>
          <p:cNvPr id="5" name="TextBox 4"/>
          <p:cNvSpPr txBox="1"/>
          <p:nvPr/>
        </p:nvSpPr>
        <p:spPr>
          <a:xfrm>
            <a:off x="813816" y="5257800"/>
            <a:ext cx="10515600" cy="640080"/>
          </a:xfrm>
          <a:prstGeom prst="rect">
            <a:avLst/>
          </a:prstGeom>
          <a:noFill/>
        </p:spPr>
        <p:txBody>
          <a:bodyPr wrap="square" lIns="0" tIns="0" rIns="0" bIns="0">
            <a:spAutoFit/>
          </a:bodyPr>
          <a:lstStyle/>
          <a:p>
            <a:pPr>
              <a:lnSpc>
                <a:spcPts val="1700"/>
              </a:lnSpc>
            </a:pPr>
            <a:r>
              <a:rPr sz="1200" b="0">
                <a:solidFill>
                  <a:srgbClr val="3E4A5C"/>
                </a:solidFill>
                <a:latin typeface="IBM Plex Sans"/>
              </a:rPr>
              <a:t>● usage principal. Les managers sont ceux de l’Informatique, du Télécom, de la Communication et de l’Administration. Seuls les acteurs consommateurs sont retenus : les producteurs de données (DSI, équipe BI) ne sont pas décrits ici.</a:t>
            </a:r>
          </a:p>
        </p:txBody>
      </p:sp>
      <p:sp>
        <p:nvSpPr>
          <p:cNvPr id="6" name="Footer"/>
          <p:cNvSpPr txBox="1"/>
          <p:nvPr/>
        </p:nvSpPr>
        <p:spPr>
          <a:xfrm>
            <a:off x="813816" y="6236208"/>
            <a:ext cx="10881360" cy="237744"/>
          </a:xfrm>
          <a:prstGeom prst="rect">
            <a:avLst/>
          </a:prstGeom>
          <a:noFill/>
        </p:spPr>
        <p:txBody>
          <a:bodyPr wrap="square" lIns="0" tIns="0" rIns="0" bIns="0">
            <a:spAutoFit/>
          </a:bodyPr>
          <a:lstStyle/>
          <a:p>
            <a:pPr>
              <a:lnSpc>
                <a:spcPts val="1700"/>
              </a:lnSpc>
            </a:pPr>
            <a:r>
              <a:rPr sz="1200" b="0">
                <a:solidFill>
                  <a:srgbClr val="6B7280"/>
                </a:solidFill>
                <a:latin typeface="IBM Plex Sans"/>
              </a:rPr>
              <a:t>Pilotage RH par la donnée · 20 · </a:t>
            </a:r>
            <a:r>
              <a:rPr sz="1200" b="0">
                <a:solidFill>
                  <a:srgbClr val="2F5DA8"/>
                </a:solidFill>
                <a:latin typeface="IBM Plex Sans"/>
              </a:rPr>
              <a:t>Code : aucun (analyse des acteurs consommateurs)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EEF1F6"/>
        </a:solidFill>
        <a:effectLst/>
      </p:bgPr>
    </p:bg>
    <p:spTree>
      <p:nvGrpSpPr>
        <p:cNvPr id="1" name=""/>
        <p:cNvGrpSpPr/>
        <p:nvPr/>
      </p:nvGrpSpPr>
      <p:grpSpPr>
        <a:xfrm>
          <a:off x="0" y="0"/>
          <a:ext cx="0" cy="0"/>
          <a:chOff x="0" y="0"/>
          <a:chExt cx="0" cy="0"/>
        </a:xfrm>
      </p:grpSpPr>
      <p:sp>
        <p:nvSpPr>
          <p:cNvPr id="2" name="Kicker"/>
          <p:cNvSpPr txBox="1"/>
          <p:nvPr/>
        </p:nvSpPr>
        <p:spPr>
          <a:xfrm>
            <a:off x="813816" y="813816"/>
            <a:ext cx="10881360" cy="237744"/>
          </a:xfrm>
          <a:prstGeom prst="rect">
            <a:avLst/>
          </a:prstGeom>
          <a:noFill/>
        </p:spPr>
        <p:txBody>
          <a:bodyPr wrap="square" lIns="0" tIns="0" rIns="0" bIns="0">
            <a:spAutoFit/>
          </a:bodyPr>
          <a:lstStyle/>
          <a:p>
            <a:pPr>
              <a:lnSpc>
                <a:spcPts val="1700"/>
              </a:lnSpc>
            </a:pPr>
            <a:r>
              <a:rPr sz="1200" b="1" spc="100">
                <a:solidFill>
                  <a:srgbClr val="B4531A"/>
                </a:solidFill>
                <a:latin typeface="IBM Plex Sans"/>
              </a:rPr>
              <a:t>ACTEURS · LIMITES</a:t>
            </a:r>
          </a:p>
        </p:txBody>
      </p:sp>
      <p:sp>
        <p:nvSpPr>
          <p:cNvPr id="3" name="Title"/>
          <p:cNvSpPr txBox="1"/>
          <p:nvPr/>
        </p:nvSpPr>
        <p:spPr>
          <a:xfrm>
            <a:off x="813816" y="1106424"/>
            <a:ext cx="10881360" cy="475488"/>
          </a:xfrm>
          <a:prstGeom prst="rect">
            <a:avLst/>
          </a:prstGeom>
          <a:noFill/>
        </p:spPr>
        <p:txBody>
          <a:bodyPr wrap="square" lIns="0" tIns="0" rIns="0" bIns="0">
            <a:spAutoFit/>
          </a:bodyPr>
          <a:lstStyle/>
          <a:p>
            <a:pPr>
              <a:lnSpc>
                <a:spcPts val="3500"/>
              </a:lnSpc>
            </a:pPr>
            <a:r>
              <a:rPr sz="3200" b="1">
                <a:solidFill>
                  <a:srgbClr val="14213D"/>
                </a:solidFill>
                <a:latin typeface="Space Grotesk"/>
              </a:rPr>
              <a:t>Décisions possibles et limites par acteur</a:t>
            </a:r>
          </a:p>
        </p:txBody>
      </p:sp>
      <p:graphicFrame>
        <p:nvGraphicFramePr>
          <p:cNvPr id="4" name="Table"/>
          <p:cNvGraphicFramePr>
            <a:graphicFrameLocks noGrp="1"/>
          </p:cNvGraphicFramePr>
          <p:nvPr/>
        </p:nvGraphicFramePr>
        <p:xfrm>
          <a:off x="813816" y="1783080"/>
          <a:ext cx="10552176" cy="4041648"/>
        </p:xfrm>
        <a:graphic>
          <a:graphicData uri="http://schemas.openxmlformats.org/drawingml/2006/table">
            <a:tbl>
              <a:tblPr/>
              <a:tblGrid>
                <a:gridCol w="2331720">
                  <a:extLst>
                    <a:ext uri="{9D8B030D-6E8A-4147-A177-3AD203B41FA5}">
                      <a16:colId xmlns:a16="http://schemas.microsoft.com/office/drawing/2014/main" val="20000"/>
                    </a:ext>
                  </a:extLst>
                </a:gridCol>
                <a:gridCol w="2834640">
                  <a:extLst>
                    <a:ext uri="{9D8B030D-6E8A-4147-A177-3AD203B41FA5}">
                      <a16:colId xmlns:a16="http://schemas.microsoft.com/office/drawing/2014/main" val="20001"/>
                    </a:ext>
                  </a:extLst>
                </a:gridCol>
                <a:gridCol w="5385816">
                  <a:extLst>
                    <a:ext uri="{9D8B030D-6E8A-4147-A177-3AD203B41FA5}">
                      <a16:colId xmlns:a16="http://schemas.microsoft.com/office/drawing/2014/main" val="20002"/>
                    </a:ext>
                  </a:extLst>
                </a:gridCol>
              </a:tblGrid>
              <a:tr h="329184">
                <a:tc>
                  <a:txBody>
                    <a:bodyPr/>
                    <a:lstStyle/>
                    <a:p>
                      <a:pPr>
                        <a:lnSpc>
                          <a:spcPts val="1400"/>
                        </a:lnSpc>
                      </a:pPr>
                      <a:r>
                        <a:rPr sz="1100" b="1">
                          <a:solidFill>
                            <a:srgbClr val="14213D"/>
                          </a:solidFill>
                          <a:latin typeface="IBM Plex Sans"/>
                        </a:rPr>
                        <a:t>Acteur</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solidFill>
                      <a:srgbClr val="DDDFE4"/>
                    </a:solidFill>
                  </a:tcPr>
                </a:tc>
                <a:tc>
                  <a:txBody>
                    <a:bodyPr/>
                    <a:lstStyle/>
                    <a:p>
                      <a:pPr>
                        <a:lnSpc>
                          <a:spcPts val="1400"/>
                        </a:lnSpc>
                      </a:pPr>
                      <a:r>
                        <a:rPr sz="1100" b="1">
                          <a:solidFill>
                            <a:srgbClr val="14213D"/>
                          </a:solidFill>
                          <a:latin typeface="IBM Plex Sans"/>
                        </a:rPr>
                        <a:t>Il peut décider</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solidFill>
                      <a:srgbClr val="DDDFE4"/>
                    </a:solidFill>
                  </a:tcPr>
                </a:tc>
                <a:tc>
                  <a:txBody>
                    <a:bodyPr/>
                    <a:lstStyle/>
                    <a:p>
                      <a:pPr>
                        <a:lnSpc>
                          <a:spcPts val="1400"/>
                        </a:lnSpc>
                      </a:pPr>
                      <a:r>
                        <a:rPr sz="1100" b="1">
                          <a:solidFill>
                            <a:srgbClr val="14213D"/>
                          </a:solidFill>
                          <a:latin typeface="IBM Plex Sans"/>
                        </a:rPr>
                        <a:t>Ses limites</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solidFill>
                      <a:srgbClr val="DDDFE4"/>
                    </a:solidFill>
                  </a:tcPr>
                </a:tc>
                <a:extLst>
                  <a:ext uri="{0D108BD9-81ED-4DB2-BD59-A6C34878D82A}">
                    <a16:rowId xmlns:a16="http://schemas.microsoft.com/office/drawing/2014/main" val="10000"/>
                  </a:ext>
                </a:extLst>
              </a:tr>
              <a:tr h="530352">
                <a:tc>
                  <a:txBody>
                    <a:bodyPr/>
                    <a:lstStyle/>
                    <a:p>
                      <a:pPr>
                        <a:lnSpc>
                          <a:spcPts val="1400"/>
                        </a:lnSpc>
                      </a:pPr>
                      <a:r>
                        <a:rPr sz="1100" b="1">
                          <a:solidFill>
                            <a:srgbClr val="14213D"/>
                          </a:solidFill>
                          <a:latin typeface="IBM Plex Sans"/>
                        </a:rPr>
                        <a:t>Direction générale</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400"/>
                        </a:lnSpc>
                      </a:pPr>
                      <a:r>
                        <a:rPr sz="1100" b="0">
                          <a:solidFill>
                            <a:srgbClr val="3E4A5C"/>
                          </a:solidFill>
                          <a:latin typeface="IBM Plex Sans"/>
                        </a:rPr>
                        <a:t>Arbitrer budget et capacités entre départements</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400"/>
                        </a:lnSpc>
                      </a:pPr>
                      <a:r>
                        <a:rPr sz="1100" b="0">
                          <a:solidFill>
                            <a:srgbClr val="3E4A5C"/>
                          </a:solidFill>
                          <a:latin typeface="IBM Plex Sans"/>
                        </a:rPr>
                        <a:t>Chiffres indicatifs : ni budget ni cible, capacité de l’Administration douteuse (640 %), aucune mesure de performance.</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extLst>
                  <a:ext uri="{0D108BD9-81ED-4DB2-BD59-A6C34878D82A}">
                    <a16:rowId xmlns:a16="http://schemas.microsoft.com/office/drawing/2014/main" val="10001"/>
                  </a:ext>
                </a:extLst>
              </a:tr>
              <a:tr h="530352">
                <a:tc>
                  <a:txBody>
                    <a:bodyPr/>
                    <a:lstStyle/>
                    <a:p>
                      <a:pPr>
                        <a:lnSpc>
                          <a:spcPts val="1400"/>
                        </a:lnSpc>
                      </a:pPr>
                      <a:r>
                        <a:rPr sz="1100" b="1">
                          <a:solidFill>
                            <a:srgbClr val="14213D"/>
                          </a:solidFill>
                          <a:latin typeface="IBM Plex Sans"/>
                        </a:rPr>
                        <a:t>DRH</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400"/>
                        </a:lnSpc>
                      </a:pPr>
                      <a:r>
                        <a:rPr sz="1100" b="0">
                          <a:solidFill>
                            <a:srgbClr val="3E4A5C"/>
                          </a:solidFill>
                          <a:latin typeface="IBM Plex Sans"/>
                        </a:rPr>
                        <a:t>Fixer les priorités RH sur les six objectifs</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400"/>
                        </a:lnSpc>
                      </a:pPr>
                      <a:r>
                        <a:rPr sz="1100" b="0">
                          <a:solidFill>
                            <a:srgbClr val="3E4A5C"/>
                          </a:solidFill>
                          <a:latin typeface="IBM Plex Sans"/>
                        </a:rPr>
                        <a:t>Une seule photo, donc pas de tendance ; turnover non mesurable ; données synthétiques : écarts structurels seulement.</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extLst>
                  <a:ext uri="{0D108BD9-81ED-4DB2-BD59-A6C34878D82A}">
                    <a16:rowId xmlns:a16="http://schemas.microsoft.com/office/drawing/2014/main" val="10002"/>
                  </a:ext>
                </a:extLst>
              </a:tr>
              <a:tr h="530352">
                <a:tc>
                  <a:txBody>
                    <a:bodyPr/>
                    <a:lstStyle/>
                    <a:p>
                      <a:pPr>
                        <a:lnSpc>
                          <a:spcPts val="1400"/>
                        </a:lnSpc>
                      </a:pPr>
                      <a:r>
                        <a:rPr sz="1100" b="1">
                          <a:solidFill>
                            <a:srgbClr val="14213D"/>
                          </a:solidFill>
                          <a:latin typeface="IBM Plex Sans"/>
                        </a:rPr>
                        <a:t>Contrôle de gestion et paie</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400"/>
                        </a:lnSpc>
                      </a:pPr>
                      <a:r>
                        <a:rPr sz="1100" b="0">
                          <a:solidFill>
                            <a:srgbClr val="3E4A5C"/>
                          </a:solidFill>
                          <a:latin typeface="IBM Plex Sans"/>
                        </a:rPr>
                        <a:t>Suivre la masse salariale et les heures sup</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400"/>
                        </a:lnSpc>
                      </a:pPr>
                      <a:r>
                        <a:rPr sz="1100" b="0">
                          <a:solidFill>
                            <a:srgbClr val="3E4A5C"/>
                          </a:solidFill>
                          <a:latin typeface="IBM Plex Sans"/>
                        </a:rPr>
                        <a:t>Coût estimé sous hypothèses (période, devise) ; heures sup techniques non chiffrées ; charges et primes absentes.</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extLst>
                  <a:ext uri="{0D108BD9-81ED-4DB2-BD59-A6C34878D82A}">
                    <a16:rowId xmlns:a16="http://schemas.microsoft.com/office/drawing/2014/main" val="10003"/>
                  </a:ext>
                </a:extLst>
              </a:tr>
              <a:tr h="530352">
                <a:tc>
                  <a:txBody>
                    <a:bodyPr/>
                    <a:lstStyle/>
                    <a:p>
                      <a:pPr>
                        <a:lnSpc>
                          <a:spcPts val="1400"/>
                        </a:lnSpc>
                      </a:pPr>
                      <a:r>
                        <a:rPr sz="1100" b="1">
                          <a:solidFill>
                            <a:srgbClr val="14213D"/>
                          </a:solidFill>
                          <a:latin typeface="IBM Plex Sans"/>
                        </a:rPr>
                        <a:t>Resp. administration du personnel</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400"/>
                        </a:lnSpc>
                      </a:pPr>
                      <a:r>
                        <a:rPr sz="1100" b="0">
                          <a:solidFill>
                            <a:srgbClr val="3E4A5C"/>
                          </a:solidFill>
                          <a:latin typeface="IBM Plex Sans"/>
                        </a:rPr>
                        <a:t>Corriger les contrats, suivre échéances et congés</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400"/>
                        </a:lnSpc>
                      </a:pPr>
                      <a:r>
                        <a:rPr sz="1100" b="0">
                          <a:solidFill>
                            <a:srgbClr val="3E4A5C"/>
                          </a:solidFill>
                          <a:latin typeface="IBM Plex Sans"/>
                        </a:rPr>
                        <a:t>Dates de fin peu fiables (663 contrats échus, 468 CDI datés) ; congés connus par le dernier congé seulement.</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extLst>
                  <a:ext uri="{0D108BD9-81ED-4DB2-BD59-A6C34878D82A}">
                    <a16:rowId xmlns:a16="http://schemas.microsoft.com/office/drawing/2014/main" val="10004"/>
                  </a:ext>
                </a:extLst>
              </a:tr>
              <a:tr h="530352">
                <a:tc>
                  <a:txBody>
                    <a:bodyPr/>
                    <a:lstStyle/>
                    <a:p>
                      <a:pPr>
                        <a:lnSpc>
                          <a:spcPts val="1400"/>
                        </a:lnSpc>
                      </a:pPr>
                      <a:r>
                        <a:rPr sz="1100" b="1">
                          <a:solidFill>
                            <a:srgbClr val="14213D"/>
                          </a:solidFill>
                          <a:latin typeface="IBM Plex Sans"/>
                        </a:rPr>
                        <a:t>Resp. formation</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400"/>
                        </a:lnSpc>
                      </a:pPr>
                      <a:r>
                        <a:rPr sz="1100" b="0">
                          <a:solidFill>
                            <a:srgbClr val="3E4A5C"/>
                          </a:solidFill>
                          <a:latin typeface="IBM Plex Sans"/>
                        </a:rPr>
                        <a:t>Orienter les parcours par métier</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400"/>
                        </a:lnSpc>
                      </a:pPr>
                      <a:r>
                        <a:rPr sz="1100" b="0">
                          <a:solidFill>
                            <a:srgbClr val="3E4A5C"/>
                          </a:solidFill>
                          <a:latin typeface="IBM Plex Sans"/>
                        </a:rPr>
                        <a:t>Ni date, ni coût, ni réussite des formations ; administratifs non couverts ; table de correspondance compétences à construire.</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extLst>
                  <a:ext uri="{0D108BD9-81ED-4DB2-BD59-A6C34878D82A}">
                    <a16:rowId xmlns:a16="http://schemas.microsoft.com/office/drawing/2014/main" val="10005"/>
                  </a:ext>
                </a:extLst>
              </a:tr>
              <a:tr h="530352">
                <a:tc>
                  <a:txBody>
                    <a:bodyPr/>
                    <a:lstStyle/>
                    <a:p>
                      <a:pPr>
                        <a:lnSpc>
                          <a:spcPts val="1400"/>
                        </a:lnSpc>
                      </a:pPr>
                      <a:r>
                        <a:rPr sz="1100" b="1">
                          <a:solidFill>
                            <a:srgbClr val="14213D"/>
                          </a:solidFill>
                          <a:latin typeface="IBM Plex Sans"/>
                        </a:rPr>
                        <a:t>Resp. recrutement</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400"/>
                        </a:lnSpc>
                      </a:pPr>
                      <a:r>
                        <a:rPr sz="1100" b="0">
                          <a:solidFill>
                            <a:srgbClr val="3E4A5C"/>
                          </a:solidFill>
                          <a:latin typeface="IBM Plex Sans"/>
                        </a:rPr>
                        <a:t>Choisir les canaux de recrutement</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400"/>
                        </a:lnSpc>
                      </a:pPr>
                      <a:r>
                        <a:rPr sz="1100" b="0">
                          <a:solidFill>
                            <a:srgbClr val="3E4A5C"/>
                          </a:solidFill>
                          <a:latin typeface="IBM Plex Sans"/>
                        </a:rPr>
                        <a:t>Entrées seules, sans sorties ; ni coût ni qualité par canal.</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extLst>
                  <a:ext uri="{0D108BD9-81ED-4DB2-BD59-A6C34878D82A}">
                    <a16:rowId xmlns:a16="http://schemas.microsoft.com/office/drawing/2014/main" val="10006"/>
                  </a:ext>
                </a:extLst>
              </a:tr>
              <a:tr h="530352">
                <a:tc>
                  <a:txBody>
                    <a:bodyPr/>
                    <a:lstStyle/>
                    <a:p>
                      <a:pPr>
                        <a:lnSpc>
                          <a:spcPts val="1400"/>
                        </a:lnSpc>
                      </a:pPr>
                      <a:r>
                        <a:rPr sz="1100" b="1">
                          <a:solidFill>
                            <a:srgbClr val="14213D"/>
                          </a:solidFill>
                          <a:latin typeface="IBM Plex Sans"/>
                        </a:rPr>
                        <a:t>Managers de département</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400"/>
                        </a:lnSpc>
                      </a:pPr>
                      <a:r>
                        <a:rPr sz="1100" b="0">
                          <a:solidFill>
                            <a:srgbClr val="3E4A5C"/>
                          </a:solidFill>
                          <a:latin typeface="IBM Plex Sans"/>
                        </a:rPr>
                        <a:t>Piloter charge, assiduité, congés et échéances de leur équipe</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400"/>
                        </a:lnSpc>
                      </a:pPr>
                      <a:r>
                        <a:rPr sz="1100" b="0">
                          <a:solidFill>
                            <a:srgbClr val="3E4A5C"/>
                          </a:solidFill>
                          <a:latin typeface="IBM Plex Sans"/>
                        </a:rPr>
                        <a:t>Accès limité à leur département ; pointages admin sur 3 mois ; seuil de retard (8h30) non validé ; aucun motif d’absence.</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extLst>
                  <a:ext uri="{0D108BD9-81ED-4DB2-BD59-A6C34878D82A}">
                    <a16:rowId xmlns:a16="http://schemas.microsoft.com/office/drawing/2014/main" val="10007"/>
                  </a:ext>
                </a:extLst>
              </a:tr>
            </a:tbl>
          </a:graphicData>
        </a:graphic>
      </p:graphicFrame>
      <p:sp>
        <p:nvSpPr>
          <p:cNvPr id="5" name="Footer"/>
          <p:cNvSpPr txBox="1"/>
          <p:nvPr/>
        </p:nvSpPr>
        <p:spPr>
          <a:xfrm>
            <a:off x="813816" y="6236208"/>
            <a:ext cx="10881360" cy="237744"/>
          </a:xfrm>
          <a:prstGeom prst="rect">
            <a:avLst/>
          </a:prstGeom>
          <a:noFill/>
        </p:spPr>
        <p:txBody>
          <a:bodyPr wrap="square" lIns="0" tIns="0" rIns="0" bIns="0">
            <a:spAutoFit/>
          </a:bodyPr>
          <a:lstStyle/>
          <a:p>
            <a:pPr>
              <a:lnSpc>
                <a:spcPts val="1700"/>
              </a:lnSpc>
            </a:pPr>
            <a:r>
              <a:rPr sz="1200" b="0">
                <a:solidFill>
                  <a:srgbClr val="6B7280"/>
                </a:solidFill>
                <a:latin typeface="IBM Plex Sans"/>
              </a:rPr>
              <a:t>Pilotage RH par la donnée · 21 · </a:t>
            </a:r>
            <a:r>
              <a:rPr sz="1200" b="0">
                <a:solidFill>
                  <a:srgbClr val="2F5DA8"/>
                </a:solidFill>
                <a:latin typeface="IBM Plex Sans"/>
              </a:rPr>
              <a:t>Code : aucun (analyse des acteurs consommateurs)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EEF1F6"/>
        </a:solidFill>
        <a:effectLst/>
      </p:bgPr>
    </p:bg>
    <p:spTree>
      <p:nvGrpSpPr>
        <p:cNvPr id="1" name=""/>
        <p:cNvGrpSpPr/>
        <p:nvPr/>
      </p:nvGrpSpPr>
      <p:grpSpPr>
        <a:xfrm>
          <a:off x="0" y="0"/>
          <a:ext cx="0" cy="0"/>
          <a:chOff x="0" y="0"/>
          <a:chExt cx="0" cy="0"/>
        </a:xfrm>
      </p:grpSpPr>
      <p:sp>
        <p:nvSpPr>
          <p:cNvPr id="2" name="Kicker"/>
          <p:cNvSpPr txBox="1"/>
          <p:nvPr/>
        </p:nvSpPr>
        <p:spPr>
          <a:xfrm>
            <a:off x="813816" y="813816"/>
            <a:ext cx="10881360" cy="237744"/>
          </a:xfrm>
          <a:prstGeom prst="rect">
            <a:avLst/>
          </a:prstGeom>
          <a:noFill/>
        </p:spPr>
        <p:txBody>
          <a:bodyPr wrap="square" lIns="0" tIns="0" rIns="0" bIns="0">
            <a:spAutoFit/>
          </a:bodyPr>
          <a:lstStyle/>
          <a:p>
            <a:pPr>
              <a:lnSpc>
                <a:spcPts val="1700"/>
              </a:lnSpc>
            </a:pPr>
            <a:r>
              <a:rPr sz="1200" b="1" spc="100">
                <a:solidFill>
                  <a:srgbClr val="B4531A"/>
                </a:solidFill>
                <a:latin typeface="IBM Plex Sans"/>
              </a:rPr>
              <a:t>ACTEURS · CONDITIONS D’USAGE</a:t>
            </a:r>
          </a:p>
        </p:txBody>
      </p:sp>
      <p:sp>
        <p:nvSpPr>
          <p:cNvPr id="3" name="Title"/>
          <p:cNvSpPr txBox="1"/>
          <p:nvPr/>
        </p:nvSpPr>
        <p:spPr>
          <a:xfrm>
            <a:off x="813816" y="1106424"/>
            <a:ext cx="10881360" cy="475488"/>
          </a:xfrm>
          <a:prstGeom prst="rect">
            <a:avLst/>
          </a:prstGeom>
          <a:noFill/>
        </p:spPr>
        <p:txBody>
          <a:bodyPr wrap="square" lIns="0" tIns="0" rIns="0" bIns="0">
            <a:spAutoFit/>
          </a:bodyPr>
          <a:lstStyle/>
          <a:p>
            <a:pPr>
              <a:lnSpc>
                <a:spcPts val="3500"/>
              </a:lnSpc>
            </a:pPr>
            <a:r>
              <a:rPr sz="3200" b="1">
                <a:solidFill>
                  <a:srgbClr val="14213D"/>
                </a:solidFill>
                <a:latin typeface="Space Grotesk"/>
              </a:rPr>
              <a:t>Trois conditions de lecture des indicateurs</a:t>
            </a:r>
          </a:p>
        </p:txBody>
      </p:sp>
      <p:sp>
        <p:nvSpPr>
          <p:cNvPr id="4" name="Rounded Rectangle 3"/>
          <p:cNvSpPr/>
          <p:nvPr/>
        </p:nvSpPr>
        <p:spPr>
          <a:xfrm>
            <a:off x="813816" y="1856232"/>
            <a:ext cx="3392424" cy="3154680"/>
          </a:xfrm>
          <a:prstGeom prst="roundRect">
            <a:avLst>
              <a:gd name="adj" fmla="val 4960"/>
            </a:avLst>
          </a:prstGeom>
          <a:solidFill>
            <a:srgbClr val="FDFCFA"/>
          </a:solidFill>
          <a:ln w="6350">
            <a:solidFill>
              <a:srgbClr val="DAD6CC"/>
            </a:solidFill>
          </a:ln>
        </p:spPr>
        <p:txBody>
          <a:bodyPr rtlCol="0" anchor="ctr"/>
          <a:lstStyle/>
          <a:p>
            <a:pPr algn="ctr"/>
            <a:endParaRPr/>
          </a:p>
        </p:txBody>
      </p:sp>
      <p:sp>
        <p:nvSpPr>
          <p:cNvPr id="5" name="TextBox 4"/>
          <p:cNvSpPr txBox="1"/>
          <p:nvPr/>
        </p:nvSpPr>
        <p:spPr>
          <a:xfrm>
            <a:off x="1024128" y="2057400"/>
            <a:ext cx="2926080" cy="384048"/>
          </a:xfrm>
          <a:prstGeom prst="rect">
            <a:avLst/>
          </a:prstGeom>
          <a:noFill/>
        </p:spPr>
        <p:txBody>
          <a:bodyPr wrap="square" lIns="0" tIns="0" rIns="0" bIns="0">
            <a:spAutoFit/>
          </a:bodyPr>
          <a:lstStyle/>
          <a:p>
            <a:pPr>
              <a:lnSpc>
                <a:spcPts val="2200"/>
              </a:lnSpc>
            </a:pPr>
            <a:r>
              <a:rPr sz="2000" b="1">
                <a:solidFill>
                  <a:srgbClr val="B4531A"/>
                </a:solidFill>
                <a:latin typeface="Space Grotesk"/>
              </a:rPr>
              <a:t>01</a:t>
            </a:r>
          </a:p>
        </p:txBody>
      </p:sp>
      <p:sp>
        <p:nvSpPr>
          <p:cNvPr id="6" name="TextBox 5"/>
          <p:cNvSpPr txBox="1"/>
          <p:nvPr/>
        </p:nvSpPr>
        <p:spPr>
          <a:xfrm>
            <a:off x="1024128" y="2514600"/>
            <a:ext cx="2971800" cy="292608"/>
          </a:xfrm>
          <a:prstGeom prst="rect">
            <a:avLst/>
          </a:prstGeom>
          <a:noFill/>
        </p:spPr>
        <p:txBody>
          <a:bodyPr wrap="square" lIns="0" tIns="0" rIns="0" bIns="0">
            <a:spAutoFit/>
          </a:bodyPr>
          <a:lstStyle/>
          <a:p>
            <a:pPr>
              <a:lnSpc>
                <a:spcPts val="1600"/>
              </a:lnSpc>
            </a:pPr>
            <a:r>
              <a:rPr sz="1500" b="1">
                <a:solidFill>
                  <a:srgbClr val="14213D"/>
                </a:solidFill>
                <a:latin typeface="Space Grotesk"/>
              </a:rPr>
              <a:t>Accès par département</a:t>
            </a:r>
          </a:p>
        </p:txBody>
      </p:sp>
      <p:sp>
        <p:nvSpPr>
          <p:cNvPr id="7" name="TextBox 6"/>
          <p:cNvSpPr txBox="1"/>
          <p:nvPr/>
        </p:nvSpPr>
        <p:spPr>
          <a:xfrm>
            <a:off x="1024128" y="2926080"/>
            <a:ext cx="2971800" cy="2468880"/>
          </a:xfrm>
          <a:prstGeom prst="rect">
            <a:avLst/>
          </a:prstGeom>
          <a:noFill/>
        </p:spPr>
        <p:txBody>
          <a:bodyPr wrap="square" lIns="0" tIns="0" rIns="0" bIns="0">
            <a:spAutoFit/>
          </a:bodyPr>
          <a:lstStyle/>
          <a:p>
            <a:pPr marL="171450" indent="-171450">
              <a:lnSpc>
                <a:spcPts val="1700"/>
              </a:lnSpc>
              <a:spcAft>
                <a:spcPts val="600"/>
              </a:spcAft>
              <a:buChar char="•"/>
            </a:pPr>
            <a:r>
              <a:rPr sz="1200" b="0">
                <a:solidFill>
                  <a:srgbClr val="3E4A5C"/>
                </a:solidFill>
                <a:latin typeface="IBM Plex Sans"/>
              </a:rPr>
              <a:t>Managers : leur département seulement (sécurité par ligne)</a:t>
            </a:r>
          </a:p>
          <a:p>
            <a:pPr marL="171450" indent="-171450">
              <a:lnSpc>
                <a:spcPts val="1700"/>
              </a:lnSpc>
              <a:spcAft>
                <a:spcPts val="600"/>
              </a:spcAft>
              <a:buChar char="•"/>
            </a:pPr>
            <a:r>
              <a:rPr sz="1200" b="0">
                <a:solidFill>
                  <a:srgbClr val="3E4A5C"/>
                </a:solidFill>
                <a:latin typeface="IBM Plex Sans"/>
              </a:rPr>
              <a:t>DRH : vue complète</a:t>
            </a:r>
          </a:p>
          <a:p>
            <a:pPr marL="171450" indent="-171450">
              <a:lnSpc>
                <a:spcPts val="1700"/>
              </a:lnSpc>
              <a:spcAft>
                <a:spcPts val="600"/>
              </a:spcAft>
              <a:buChar char="•"/>
            </a:pPr>
            <a:r>
              <a:rPr sz="1200" b="0">
                <a:solidFill>
                  <a:srgbClr val="3E4A5C"/>
                </a:solidFill>
                <a:latin typeface="IBM Plex Sans"/>
              </a:rPr>
              <a:t>Autres acteurs : vue agrégée ou limitée à leur objectif</a:t>
            </a:r>
          </a:p>
          <a:p>
            <a:pPr marL="171450" indent="-171450">
              <a:lnSpc>
                <a:spcPts val="1700"/>
              </a:lnSpc>
              <a:spcAft>
                <a:spcPts val="600"/>
              </a:spcAft>
              <a:buChar char="•"/>
            </a:pPr>
            <a:r>
              <a:rPr sz="1200" b="0">
                <a:solidFill>
                  <a:srgbClr val="3E4A5C"/>
                </a:solidFill>
                <a:latin typeface="IBM Plex Sans"/>
              </a:rPr>
              <a:t>Nom, e-mail et adresse exclus de l’analyse</a:t>
            </a:r>
          </a:p>
        </p:txBody>
      </p:sp>
      <p:sp>
        <p:nvSpPr>
          <p:cNvPr id="8" name="Rounded Rectangle 7"/>
          <p:cNvSpPr/>
          <p:nvPr/>
        </p:nvSpPr>
        <p:spPr>
          <a:xfrm>
            <a:off x="4389120" y="1856232"/>
            <a:ext cx="3392424" cy="3154680"/>
          </a:xfrm>
          <a:prstGeom prst="roundRect">
            <a:avLst>
              <a:gd name="adj" fmla="val 4960"/>
            </a:avLst>
          </a:prstGeom>
          <a:solidFill>
            <a:srgbClr val="FDFCFA"/>
          </a:solidFill>
          <a:ln w="6350">
            <a:solidFill>
              <a:srgbClr val="DAD6CC"/>
            </a:solidFill>
          </a:ln>
        </p:spPr>
        <p:txBody>
          <a:bodyPr rtlCol="0" anchor="ctr"/>
          <a:lstStyle/>
          <a:p>
            <a:pPr algn="ctr"/>
            <a:endParaRPr/>
          </a:p>
        </p:txBody>
      </p:sp>
      <p:sp>
        <p:nvSpPr>
          <p:cNvPr id="9" name="TextBox 8"/>
          <p:cNvSpPr txBox="1"/>
          <p:nvPr/>
        </p:nvSpPr>
        <p:spPr>
          <a:xfrm>
            <a:off x="4599432" y="2057400"/>
            <a:ext cx="2926080" cy="384048"/>
          </a:xfrm>
          <a:prstGeom prst="rect">
            <a:avLst/>
          </a:prstGeom>
          <a:noFill/>
        </p:spPr>
        <p:txBody>
          <a:bodyPr wrap="square" lIns="0" tIns="0" rIns="0" bIns="0">
            <a:spAutoFit/>
          </a:bodyPr>
          <a:lstStyle/>
          <a:p>
            <a:pPr>
              <a:lnSpc>
                <a:spcPts val="2200"/>
              </a:lnSpc>
            </a:pPr>
            <a:r>
              <a:rPr sz="2000" b="1">
                <a:solidFill>
                  <a:srgbClr val="B4531A"/>
                </a:solidFill>
                <a:latin typeface="Space Grotesk"/>
              </a:rPr>
              <a:t>02</a:t>
            </a:r>
          </a:p>
        </p:txBody>
      </p:sp>
      <p:sp>
        <p:nvSpPr>
          <p:cNvPr id="10" name="TextBox 9"/>
          <p:cNvSpPr txBox="1"/>
          <p:nvPr/>
        </p:nvSpPr>
        <p:spPr>
          <a:xfrm>
            <a:off x="4599432" y="2514600"/>
            <a:ext cx="2971800" cy="292608"/>
          </a:xfrm>
          <a:prstGeom prst="rect">
            <a:avLst/>
          </a:prstGeom>
          <a:noFill/>
        </p:spPr>
        <p:txBody>
          <a:bodyPr wrap="square" lIns="0" tIns="0" rIns="0" bIns="0">
            <a:spAutoFit/>
          </a:bodyPr>
          <a:lstStyle/>
          <a:p>
            <a:pPr>
              <a:lnSpc>
                <a:spcPts val="1600"/>
              </a:lnSpc>
            </a:pPr>
            <a:r>
              <a:rPr sz="1500" b="1">
                <a:solidFill>
                  <a:srgbClr val="14213D"/>
                </a:solidFill>
                <a:latin typeface="Space Grotesk"/>
              </a:rPr>
              <a:t>Lecture prudente</a:t>
            </a:r>
          </a:p>
        </p:txBody>
      </p:sp>
      <p:sp>
        <p:nvSpPr>
          <p:cNvPr id="11" name="TextBox 10"/>
          <p:cNvSpPr txBox="1"/>
          <p:nvPr/>
        </p:nvSpPr>
        <p:spPr>
          <a:xfrm>
            <a:off x="4599432" y="2926080"/>
            <a:ext cx="2971800" cy="2468880"/>
          </a:xfrm>
          <a:prstGeom prst="rect">
            <a:avLst/>
          </a:prstGeom>
          <a:noFill/>
        </p:spPr>
        <p:txBody>
          <a:bodyPr wrap="square" lIns="0" tIns="0" rIns="0" bIns="0">
            <a:spAutoFit/>
          </a:bodyPr>
          <a:lstStyle/>
          <a:p>
            <a:pPr marL="171450" indent="-171450">
              <a:lnSpc>
                <a:spcPts val="1700"/>
              </a:lnSpc>
              <a:spcAft>
                <a:spcPts val="600"/>
              </a:spcAft>
              <a:buChar char="•"/>
            </a:pPr>
            <a:r>
              <a:rPr sz="1200" b="0">
                <a:solidFill>
                  <a:srgbClr val="3E4A5C"/>
                </a:solidFill>
                <a:latin typeface="IBM Plex Sans"/>
              </a:rPr>
              <a:t>Données synthétiques : retenir les écarts structurels, pas les signaux faibles</a:t>
            </a:r>
          </a:p>
          <a:p>
            <a:pPr marL="171450" indent="-171450">
              <a:lnSpc>
                <a:spcPts val="1700"/>
              </a:lnSpc>
              <a:spcAft>
                <a:spcPts val="600"/>
              </a:spcAft>
              <a:buChar char="•"/>
            </a:pPr>
            <a:r>
              <a:rPr sz="1200" b="0">
                <a:solidFill>
                  <a:srgbClr val="3E4A5C"/>
                </a:solidFill>
                <a:latin typeface="IBM Plex Sans"/>
              </a:rPr>
              <a:t>Une seule photo RH : pas de tendance</a:t>
            </a:r>
          </a:p>
          <a:p>
            <a:pPr marL="171450" indent="-171450">
              <a:lnSpc>
                <a:spcPts val="1700"/>
              </a:lnSpc>
              <a:spcAft>
                <a:spcPts val="600"/>
              </a:spcAft>
              <a:buChar char="•"/>
            </a:pPr>
            <a:r>
              <a:rPr sz="1200" b="0">
                <a:solidFill>
                  <a:srgbClr val="3E4A5C"/>
                </a:solidFill>
                <a:latin typeface="IBM Plex Sans"/>
              </a:rPr>
              <a:t>Pointages admin sur 3 mois, techniques sur 6 : comparer sur janvier–mars</a:t>
            </a:r>
          </a:p>
          <a:p>
            <a:pPr marL="171450" indent="-171450">
              <a:lnSpc>
                <a:spcPts val="1700"/>
              </a:lnSpc>
              <a:spcAft>
                <a:spcPts val="600"/>
              </a:spcAft>
              <a:buChar char="•"/>
            </a:pPr>
            <a:r>
              <a:rPr sz="1200" b="0">
                <a:solidFill>
                  <a:srgbClr val="3E4A5C"/>
                </a:solidFill>
                <a:latin typeface="IBM Plex Sans"/>
              </a:rPr>
              <a:t>Seuil de retard à valider</a:t>
            </a:r>
          </a:p>
        </p:txBody>
      </p:sp>
      <p:sp>
        <p:nvSpPr>
          <p:cNvPr id="12" name="Rounded Rectangle 11"/>
          <p:cNvSpPr/>
          <p:nvPr/>
        </p:nvSpPr>
        <p:spPr>
          <a:xfrm>
            <a:off x="7964424" y="1856232"/>
            <a:ext cx="3392424" cy="3154680"/>
          </a:xfrm>
          <a:prstGeom prst="roundRect">
            <a:avLst>
              <a:gd name="adj" fmla="val 4960"/>
            </a:avLst>
          </a:prstGeom>
          <a:solidFill>
            <a:srgbClr val="FDFCFA"/>
          </a:solidFill>
          <a:ln w="6350">
            <a:solidFill>
              <a:srgbClr val="DAD6CC"/>
            </a:solidFill>
          </a:ln>
        </p:spPr>
        <p:txBody>
          <a:bodyPr rtlCol="0" anchor="ctr"/>
          <a:lstStyle/>
          <a:p>
            <a:pPr algn="ctr"/>
            <a:endParaRPr/>
          </a:p>
        </p:txBody>
      </p:sp>
      <p:sp>
        <p:nvSpPr>
          <p:cNvPr id="13" name="TextBox 12"/>
          <p:cNvSpPr txBox="1"/>
          <p:nvPr/>
        </p:nvSpPr>
        <p:spPr>
          <a:xfrm>
            <a:off x="8174736" y="2057400"/>
            <a:ext cx="2926080" cy="384048"/>
          </a:xfrm>
          <a:prstGeom prst="rect">
            <a:avLst/>
          </a:prstGeom>
          <a:noFill/>
        </p:spPr>
        <p:txBody>
          <a:bodyPr wrap="square" lIns="0" tIns="0" rIns="0" bIns="0">
            <a:spAutoFit/>
          </a:bodyPr>
          <a:lstStyle/>
          <a:p>
            <a:pPr>
              <a:lnSpc>
                <a:spcPts val="2200"/>
              </a:lnSpc>
            </a:pPr>
            <a:r>
              <a:rPr sz="2000" b="1">
                <a:solidFill>
                  <a:srgbClr val="B4531A"/>
                </a:solidFill>
                <a:latin typeface="Space Grotesk"/>
              </a:rPr>
              <a:t>03</a:t>
            </a:r>
          </a:p>
        </p:txBody>
      </p:sp>
      <p:sp>
        <p:nvSpPr>
          <p:cNvPr id="14" name="TextBox 13"/>
          <p:cNvSpPr txBox="1"/>
          <p:nvPr/>
        </p:nvSpPr>
        <p:spPr>
          <a:xfrm>
            <a:off x="8174736" y="2514600"/>
            <a:ext cx="2971800" cy="292608"/>
          </a:xfrm>
          <a:prstGeom prst="rect">
            <a:avLst/>
          </a:prstGeom>
          <a:noFill/>
        </p:spPr>
        <p:txBody>
          <a:bodyPr wrap="square" lIns="0" tIns="0" rIns="0" bIns="0">
            <a:spAutoFit/>
          </a:bodyPr>
          <a:lstStyle/>
          <a:p>
            <a:pPr>
              <a:lnSpc>
                <a:spcPts val="1600"/>
              </a:lnSpc>
            </a:pPr>
            <a:r>
              <a:rPr sz="1500" b="1">
                <a:solidFill>
                  <a:srgbClr val="14213D"/>
                </a:solidFill>
                <a:latin typeface="Space Grotesk"/>
              </a:rPr>
              <a:t>Données à obtenir</a:t>
            </a:r>
          </a:p>
        </p:txBody>
      </p:sp>
      <p:sp>
        <p:nvSpPr>
          <p:cNvPr id="15" name="TextBox 14"/>
          <p:cNvSpPr txBox="1"/>
          <p:nvPr/>
        </p:nvSpPr>
        <p:spPr>
          <a:xfrm>
            <a:off x="8174736" y="2926080"/>
            <a:ext cx="2971800" cy="2468880"/>
          </a:xfrm>
          <a:prstGeom prst="rect">
            <a:avLst/>
          </a:prstGeom>
          <a:noFill/>
        </p:spPr>
        <p:txBody>
          <a:bodyPr wrap="square" lIns="0" tIns="0" rIns="0" bIns="0">
            <a:spAutoFit/>
          </a:bodyPr>
          <a:lstStyle/>
          <a:p>
            <a:pPr marL="171450" indent="-171450">
              <a:lnSpc>
                <a:spcPts val="1700"/>
              </a:lnSpc>
              <a:spcAft>
                <a:spcPts val="600"/>
              </a:spcAft>
              <a:buChar char="•"/>
            </a:pPr>
            <a:r>
              <a:rPr sz="1200" b="0">
                <a:solidFill>
                  <a:srgbClr val="3E4A5C"/>
                </a:solidFill>
                <a:latin typeface="IBM Plex Sans"/>
              </a:rPr>
              <a:t>Capacités validées par département</a:t>
            </a:r>
          </a:p>
          <a:p>
            <a:pPr marL="171450" indent="-171450">
              <a:lnSpc>
                <a:spcPts val="1700"/>
              </a:lnSpc>
              <a:spcAft>
                <a:spcPts val="600"/>
              </a:spcAft>
              <a:buChar char="•"/>
            </a:pPr>
            <a:r>
              <a:rPr sz="1200" b="0">
                <a:solidFill>
                  <a:srgbClr val="3E4A5C"/>
                </a:solidFill>
                <a:latin typeface="IBM Plex Sans"/>
              </a:rPr>
              <a:t>Devise et période de HOURS et extra_hour</a:t>
            </a:r>
          </a:p>
          <a:p>
            <a:pPr marL="171450" indent="-171450">
              <a:lnSpc>
                <a:spcPts val="1700"/>
              </a:lnSpc>
              <a:spcAft>
                <a:spcPts val="600"/>
              </a:spcAft>
              <a:buChar char="•"/>
            </a:pPr>
            <a:r>
              <a:rPr sz="1200" b="0">
                <a:solidFill>
                  <a:srgbClr val="3E4A5C"/>
                </a:solidFill>
                <a:latin typeface="IBM Plex Sans"/>
              </a:rPr>
              <a:t>Horaire contractuel et jours fériés</a:t>
            </a:r>
          </a:p>
          <a:p>
            <a:pPr marL="171450" indent="-171450">
              <a:lnSpc>
                <a:spcPts val="1700"/>
              </a:lnSpc>
              <a:spcAft>
                <a:spcPts val="600"/>
              </a:spcAft>
              <a:buChar char="•"/>
            </a:pPr>
            <a:r>
              <a:rPr sz="1200" b="0">
                <a:solidFill>
                  <a:srgbClr val="3E4A5C"/>
                </a:solidFill>
                <a:latin typeface="IBM Plex Sans"/>
              </a:rPr>
              <a:t>Journal des congés (début, fin, type)</a:t>
            </a:r>
          </a:p>
          <a:p>
            <a:pPr marL="171450" indent="-171450">
              <a:lnSpc>
                <a:spcPts val="1700"/>
              </a:lnSpc>
              <a:spcAft>
                <a:spcPts val="600"/>
              </a:spcAft>
              <a:buChar char="•"/>
            </a:pPr>
            <a:r>
              <a:rPr sz="1200" b="0">
                <a:solidFill>
                  <a:srgbClr val="3E4A5C"/>
                </a:solidFill>
                <a:latin typeface="IBM Plex Sans"/>
              </a:rPr>
              <a:t>Dates et coûts de formation, historique des sorties</a:t>
            </a:r>
          </a:p>
        </p:txBody>
      </p:sp>
      <p:sp>
        <p:nvSpPr>
          <p:cNvPr id="16" name="Footer"/>
          <p:cNvSpPr txBox="1"/>
          <p:nvPr/>
        </p:nvSpPr>
        <p:spPr>
          <a:xfrm>
            <a:off x="813816" y="6236208"/>
            <a:ext cx="10881360" cy="237744"/>
          </a:xfrm>
          <a:prstGeom prst="rect">
            <a:avLst/>
          </a:prstGeom>
          <a:noFill/>
        </p:spPr>
        <p:txBody>
          <a:bodyPr wrap="square" lIns="0" tIns="0" rIns="0" bIns="0">
            <a:spAutoFit/>
          </a:bodyPr>
          <a:lstStyle/>
          <a:p>
            <a:pPr>
              <a:lnSpc>
                <a:spcPts val="1700"/>
              </a:lnSpc>
            </a:pPr>
            <a:r>
              <a:rPr sz="1200" b="0">
                <a:solidFill>
                  <a:srgbClr val="6B7280"/>
                </a:solidFill>
                <a:latin typeface="IBM Plex Sans"/>
              </a:rPr>
              <a:t>Pilotage RH par la donnée · 22 · </a:t>
            </a:r>
            <a:r>
              <a:rPr sz="1200" b="0">
                <a:solidFill>
                  <a:srgbClr val="2F5DA8"/>
                </a:solidFill>
                <a:latin typeface="IBM Plex Sans"/>
              </a:rPr>
              <a:t>Code : aucun (analyse des acteurs consommateurs)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0">
    <p:bg>
      <p:bgPr>
        <a:solidFill>
          <a:srgbClr val="ECEAE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531A"/>
                </a:solidFill>
                <a:latin typeface="IBM Plex Sans" pitchFamily="34" charset="0"/>
                <a:ea typeface="IBM Plex Sans" pitchFamily="34" charset="-122"/>
                <a:cs typeface="IBM Plex Sans" pitchFamily="34" charset="-120"/>
              </a:rPr>
              <a:t>RECOMMANDATIONS</a:t>
            </a:r>
            <a:endParaRPr lang="en-US" sz="1200" dirty="0"/>
          </a:p>
        </p:txBody>
      </p:sp>
      <p:sp>
        <p:nvSpPr>
          <p:cNvPr id="3" name="Text 1"/>
          <p:cNvSpPr/>
          <p:nvPr/>
        </p:nvSpPr>
        <p:spPr>
          <a:xfrm>
            <a:off x="812800" y="11023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4213D"/>
                </a:solidFill>
                <a:latin typeface="Space Grotesk" pitchFamily="34" charset="0"/>
                <a:ea typeface="Space Grotesk" pitchFamily="34" charset="-122"/>
                <a:cs typeface="Space Grotesk" pitchFamily="34" charset="-120"/>
              </a:rPr>
              <a:t>Cinq recommandations</a:t>
            </a:r>
            <a:endParaRPr lang="en-US" sz="3200" dirty="0"/>
          </a:p>
        </p:txBody>
      </p:sp>
      <p:sp>
        <p:nvSpPr>
          <p:cNvPr id="4" name="Text 2"/>
          <p:cNvSpPr/>
          <p:nvPr/>
        </p:nvSpPr>
        <p:spPr>
          <a:xfrm>
            <a:off x="812800" y="1854101"/>
            <a:ext cx="457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B4531A"/>
                </a:solidFill>
                <a:latin typeface="Space Grotesk" pitchFamily="34" charset="0"/>
                <a:ea typeface="Space Grotesk" pitchFamily="34" charset="-122"/>
                <a:cs typeface="Space Grotesk" pitchFamily="34" charset="-120"/>
              </a:rPr>
              <a:t>1</a:t>
            </a:r>
            <a:endParaRPr lang="en-US" sz="2000" dirty="0"/>
          </a:p>
        </p:txBody>
      </p:sp>
      <p:sp>
        <p:nvSpPr>
          <p:cNvPr id="5" name="Text 3"/>
          <p:cNvSpPr/>
          <p:nvPr/>
        </p:nvSpPr>
        <p:spPr>
          <a:xfrm>
            <a:off x="1422400" y="1854101"/>
            <a:ext cx="10255504" cy="5588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Rééquilibrer la charge.</a:t>
            </a:r>
            <a:r>
              <a:rPr lang="en-US" sz="1500" dirty="0">
                <a:solidFill>
                  <a:srgbClr val="14213D"/>
                </a:solidFill>
                <a:latin typeface="IBM Plex Sans" pitchFamily="34" charset="0"/>
                <a:ea typeface="IBM Plex Sans" pitchFamily="34" charset="-122"/>
                <a:cs typeface="IBM Plex Sans" pitchFamily="34" charset="-120"/>
              </a:rPr>
              <a:t> Télécom à 147 % de sa capacité, Communication à 40 % ; réviser le référentiel de l'Administration (640 %).</a:t>
            </a:r>
            <a:endParaRPr lang="en-US" sz="1500" dirty="0"/>
          </a:p>
        </p:txBody>
      </p:sp>
      <p:sp>
        <p:nvSpPr>
          <p:cNvPr id="6" name="Text 4"/>
          <p:cNvSpPr/>
          <p:nvPr/>
        </p:nvSpPr>
        <p:spPr>
          <a:xfrm>
            <a:off x="812800" y="2565301"/>
            <a:ext cx="457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B4531A"/>
                </a:solidFill>
                <a:latin typeface="Space Grotesk" pitchFamily="34" charset="0"/>
                <a:ea typeface="Space Grotesk" pitchFamily="34" charset="-122"/>
                <a:cs typeface="Space Grotesk" pitchFamily="34" charset="-120"/>
              </a:rPr>
              <a:t>2</a:t>
            </a:r>
            <a:endParaRPr lang="en-US" sz="2000" dirty="0"/>
          </a:p>
        </p:txBody>
      </p:sp>
      <p:sp>
        <p:nvSpPr>
          <p:cNvPr id="7" name="Text 5"/>
          <p:cNvSpPr/>
          <p:nvPr/>
        </p:nvSpPr>
        <p:spPr>
          <a:xfrm>
            <a:off x="1422400" y="2565301"/>
            <a:ext cx="10255504" cy="5588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Fiabiliser les contrats.</a:t>
            </a:r>
            <a:r>
              <a:rPr lang="en-US" sz="1500" dirty="0">
                <a:solidFill>
                  <a:srgbClr val="14213D"/>
                </a:solidFill>
                <a:latin typeface="IBM Plex Sans" pitchFamily="34" charset="0"/>
                <a:ea typeface="IBM Plex Sans" pitchFamily="34" charset="-122"/>
                <a:cs typeface="IBM Plex Sans" pitchFamily="34" charset="-120"/>
              </a:rPr>
              <a:t> Corriger 468 CDI datés, 663 contrats échus et 221 vacataires en CDI avant de piloter les départs.</a:t>
            </a:r>
            <a:endParaRPr lang="en-US" sz="1500" dirty="0"/>
          </a:p>
        </p:txBody>
      </p:sp>
      <p:sp>
        <p:nvSpPr>
          <p:cNvPr id="8" name="Text 6"/>
          <p:cNvSpPr/>
          <p:nvPr/>
        </p:nvSpPr>
        <p:spPr>
          <a:xfrm>
            <a:off x="812800" y="3276501"/>
            <a:ext cx="457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B4531A"/>
                </a:solidFill>
                <a:latin typeface="Space Grotesk" pitchFamily="34" charset="0"/>
                <a:ea typeface="Space Grotesk" pitchFamily="34" charset="-122"/>
                <a:cs typeface="Space Grotesk" pitchFamily="34" charset="-120"/>
              </a:rPr>
              <a:t>3</a:t>
            </a:r>
            <a:endParaRPr lang="en-US" sz="2000" dirty="0"/>
          </a:p>
        </p:txBody>
      </p:sp>
      <p:sp>
        <p:nvSpPr>
          <p:cNvPr id="9" name="Text 7"/>
          <p:cNvSpPr/>
          <p:nvPr/>
        </p:nvSpPr>
        <p:spPr>
          <a:xfrm>
            <a:off x="1422400" y="3276501"/>
            <a:ext cx="10255504"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Suivre l'Administration.</a:t>
            </a:r>
            <a:r>
              <a:rPr lang="en-US" sz="1500" dirty="0">
                <a:solidFill>
                  <a:srgbClr val="14213D"/>
                </a:solidFill>
                <a:latin typeface="IBM Plex Sans" pitchFamily="34" charset="0"/>
                <a:ea typeface="IBM Plex Sans" pitchFamily="34" charset="-122"/>
                <a:cs typeface="IBM Plex Sans" pitchFamily="34" charset="-120"/>
              </a:rPr>
              <a:t> 19,6 % de jours au-delà de 8 h et des horaires très dispersés.</a:t>
            </a:r>
            <a:endParaRPr lang="en-US" sz="1500" dirty="0"/>
          </a:p>
        </p:txBody>
      </p:sp>
      <p:sp>
        <p:nvSpPr>
          <p:cNvPr id="10" name="Text 8"/>
          <p:cNvSpPr/>
          <p:nvPr/>
        </p:nvSpPr>
        <p:spPr>
          <a:xfrm>
            <a:off x="812800" y="3809901"/>
            <a:ext cx="457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B4531A"/>
                </a:solidFill>
                <a:latin typeface="Space Grotesk" pitchFamily="34" charset="0"/>
                <a:ea typeface="Space Grotesk" pitchFamily="34" charset="-122"/>
                <a:cs typeface="Space Grotesk" pitchFamily="34" charset="-120"/>
              </a:rPr>
              <a:t>4</a:t>
            </a:r>
            <a:endParaRPr lang="en-US" sz="2000" dirty="0"/>
          </a:p>
        </p:txBody>
      </p:sp>
      <p:sp>
        <p:nvSpPr>
          <p:cNvPr id="11" name="Text 9"/>
          <p:cNvSpPr/>
          <p:nvPr/>
        </p:nvSpPr>
        <p:spPr>
          <a:xfrm>
            <a:off x="1422400" y="3809901"/>
            <a:ext cx="10255504"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Structurer la formation.</a:t>
            </a:r>
            <a:r>
              <a:rPr lang="en-US" sz="1500" dirty="0">
                <a:solidFill>
                  <a:srgbClr val="14213D"/>
                </a:solidFill>
                <a:latin typeface="IBM Plex Sans" pitchFamily="34" charset="0"/>
                <a:ea typeface="IBM Plex Sans" pitchFamily="34" charset="-122"/>
                <a:cs typeface="IBM Plex Sans" pitchFamily="34" charset="-120"/>
              </a:rPr>
              <a:t> 13 cours par employé sans fil conducteur : bâtir des parcours par métier.</a:t>
            </a:r>
            <a:endParaRPr lang="en-US" sz="1500" dirty="0"/>
          </a:p>
        </p:txBody>
      </p:sp>
      <p:sp>
        <p:nvSpPr>
          <p:cNvPr id="12" name="Text 10"/>
          <p:cNvSpPr/>
          <p:nvPr/>
        </p:nvSpPr>
        <p:spPr>
          <a:xfrm>
            <a:off x="812800" y="4343301"/>
            <a:ext cx="457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B4531A"/>
                </a:solidFill>
                <a:latin typeface="Space Grotesk" pitchFamily="34" charset="0"/>
                <a:ea typeface="Space Grotesk" pitchFamily="34" charset="-122"/>
                <a:cs typeface="Space Grotesk" pitchFamily="34" charset="-120"/>
              </a:rPr>
              <a:t>5</a:t>
            </a:r>
            <a:endParaRPr lang="en-US" sz="2000" dirty="0"/>
          </a:p>
        </p:txBody>
      </p:sp>
      <p:sp>
        <p:nvSpPr>
          <p:cNvPr id="13" name="Text 11"/>
          <p:cNvSpPr/>
          <p:nvPr/>
        </p:nvSpPr>
        <p:spPr>
          <a:xfrm>
            <a:off x="1422400" y="4343301"/>
            <a:ext cx="10255504"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Écrire les règles manquantes.</a:t>
            </a:r>
            <a:r>
              <a:rPr lang="en-US" sz="1500" dirty="0">
                <a:solidFill>
                  <a:srgbClr val="14213D"/>
                </a:solidFill>
                <a:latin typeface="IBM Plex Sans" pitchFamily="34" charset="0"/>
                <a:ea typeface="IBM Plex Sans" pitchFamily="34" charset="-122"/>
                <a:cs typeface="IBM Plex Sans" pitchFamily="34" charset="-120"/>
              </a:rPr>
              <a:t> Devise, période des heures, horaire de référence.</a:t>
            </a:r>
            <a:endParaRPr lang="en-US" sz="1500" dirty="0"/>
          </a:p>
        </p:txBody>
      </p:sp>
      <p:sp>
        <p:nvSpPr>
          <p:cNvPr id="14" name="Text 12"/>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Pilotage RH par la donnée · 23 · </a:t>
            </a:r>
            <a:r>
              <a:rPr lang="en-US" sz="1200" dirty="0">
                <a:solidFill>
                  <a:srgbClr val="2F5DA8"/>
                </a:solidFill>
                <a:latin typeface="IBM Plex Sans" pitchFamily="34" charset="0"/>
                <a:ea typeface="IBM Plex Sans" pitchFamily="34" charset="-122"/>
                <a:cs typeface="IBM Plex Sans" pitchFamily="34" charset="-120"/>
              </a:rPr>
              <a:t>Code : cellule [8], section 7 (« RECOMMANDATIONS »)</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1">
    <p:bg>
      <p:bgPr>
        <a:solidFill>
          <a:srgbClr val="ECEAE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531A"/>
                </a:solidFill>
                <a:latin typeface="IBM Plex Sans" pitchFamily="34" charset="0"/>
                <a:ea typeface="IBM Plex Sans" pitchFamily="34" charset="-122"/>
                <a:cs typeface="IBM Plex Sans" pitchFamily="34" charset="-120"/>
              </a:rPr>
              <a:t>CONCLUSION</a:t>
            </a:r>
            <a:endParaRPr lang="en-US" sz="1200" dirty="0"/>
          </a:p>
        </p:txBody>
      </p:sp>
      <p:sp>
        <p:nvSpPr>
          <p:cNvPr id="3" name="Text 1"/>
          <p:cNvSpPr/>
          <p:nvPr/>
        </p:nvSpPr>
        <p:spPr>
          <a:xfrm>
            <a:off x="812800" y="11023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4213D"/>
                </a:solidFill>
                <a:latin typeface="Space Grotesk" pitchFamily="34" charset="0"/>
                <a:ea typeface="Space Grotesk" pitchFamily="34" charset="-122"/>
                <a:cs typeface="Space Grotesk" pitchFamily="34" charset="-120"/>
              </a:rPr>
              <a:t>Limites et perspectives</a:t>
            </a:r>
            <a:endParaRPr lang="en-US" sz="3200" dirty="0"/>
          </a:p>
        </p:txBody>
      </p:sp>
      <p:sp>
        <p:nvSpPr>
          <p:cNvPr id="4" name="Shape 2"/>
          <p:cNvSpPr/>
          <p:nvPr/>
        </p:nvSpPr>
        <p:spPr>
          <a:xfrm>
            <a:off x="815975" y="1857276"/>
            <a:ext cx="5175250" cy="1733550"/>
          </a:xfrm>
          <a:prstGeom prst="roundRect">
            <a:avLst>
              <a:gd name="adj" fmla="val 5678"/>
            </a:avLst>
          </a:prstGeom>
          <a:solidFill>
            <a:srgbClr val="FDFCFA"/>
          </a:solidFill>
          <a:ln w="6350">
            <a:solidFill>
              <a:srgbClr val="DAD6CC"/>
            </a:solidFill>
            <a:prstDash val="solid"/>
          </a:ln>
        </p:spPr>
        <p:txBody>
          <a:bodyPr/>
          <a:lstStyle/>
          <a:p>
            <a:endParaRPr/>
          </a:p>
        </p:txBody>
      </p:sp>
      <p:sp>
        <p:nvSpPr>
          <p:cNvPr id="5" name="Text 3"/>
          <p:cNvSpPr/>
          <p:nvPr/>
        </p:nvSpPr>
        <p:spPr>
          <a:xfrm>
            <a:off x="1022350" y="2063651"/>
            <a:ext cx="4905375"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Space Grotesk" pitchFamily="34" charset="0"/>
                <a:ea typeface="Space Grotesk" pitchFamily="34" charset="-122"/>
                <a:cs typeface="Space Grotesk" pitchFamily="34" charset="-120"/>
              </a:rPr>
              <a:t>Limites</a:t>
            </a:r>
            <a:endParaRPr lang="en-US" sz="1500" dirty="0"/>
          </a:p>
        </p:txBody>
      </p:sp>
      <p:sp>
        <p:nvSpPr>
          <p:cNvPr id="6" name="Text 4"/>
          <p:cNvSpPr/>
          <p:nvPr/>
        </p:nvSpPr>
        <p:spPr>
          <a:xfrm>
            <a:off x="1022350" y="2393851"/>
            <a:ext cx="4905375" cy="1016000"/>
          </a:xfrm>
          <a:prstGeom prst="rect">
            <a:avLst/>
          </a:prstGeom>
          <a:noFill/>
          <a:ln/>
        </p:spPr>
        <p:txBody>
          <a:bodyPr wrap="square" lIns="0" tIns="0" rIns="0" bIns="0" rtlCol="0" anchor="t">
            <a:normAutofit/>
          </a:bodyPr>
          <a:lstStyle/>
          <a:p>
            <a:pPr marL="198120" indent="-168656" algn="l">
              <a:lnSpc>
                <a:spcPts val="1950"/>
              </a:lnSpc>
              <a:buSzPct val="100000"/>
              <a:buChar char="•"/>
            </a:pPr>
            <a:r>
              <a:rPr lang="en-US" sz="1300" dirty="0">
                <a:solidFill>
                  <a:srgbClr val="3E4A5C"/>
                </a:solidFill>
                <a:latin typeface="IBM Plex Sans" pitchFamily="34" charset="0"/>
                <a:ea typeface="IBM Plex Sans" pitchFamily="34" charset="-122"/>
                <a:cs typeface="IBM Plex Sans" pitchFamily="34" charset="-120"/>
              </a:rPr>
              <a:t>Données synthétiques, peu de signal réel</a:t>
            </a:r>
            <a:endParaRPr lang="en-US" sz="1300" dirty="0"/>
          </a:p>
          <a:p>
            <a:pPr marL="198120" indent="-168656" algn="l">
              <a:lnSpc>
                <a:spcPts val="1950"/>
              </a:lnSpc>
              <a:buSzPct val="100000"/>
              <a:buChar char="•"/>
            </a:pPr>
            <a:r>
              <a:rPr lang="en-US" sz="1300" dirty="0">
                <a:solidFill>
                  <a:srgbClr val="3E4A5C"/>
                </a:solidFill>
                <a:latin typeface="IBM Plex Sans" pitchFamily="34" charset="0"/>
                <a:ea typeface="IBM Plex Sans" pitchFamily="34" charset="-122"/>
                <a:cs typeface="IBM Plex Sans" pitchFamily="34" charset="-120"/>
              </a:rPr>
              <a:t>Une seule photo de la situation RH</a:t>
            </a:r>
            <a:endParaRPr lang="en-US" sz="1300" dirty="0"/>
          </a:p>
          <a:p>
            <a:pPr marL="198120" indent="-168656" algn="l">
              <a:lnSpc>
                <a:spcPts val="1950"/>
              </a:lnSpc>
              <a:buSzPct val="100000"/>
              <a:buChar char="•"/>
            </a:pPr>
            <a:r>
              <a:rPr lang="en-US" sz="1300" dirty="0">
                <a:solidFill>
                  <a:srgbClr val="3E4A5C"/>
                </a:solidFill>
                <a:latin typeface="IBM Plex Sans" pitchFamily="34" charset="0"/>
                <a:ea typeface="IBM Plex Sans" pitchFamily="34" charset="-122"/>
                <a:cs typeface="IBM Plex Sans" pitchFamily="34" charset="-120"/>
              </a:rPr>
              <a:t>Formations sans date de suivi</a:t>
            </a:r>
            <a:endParaRPr lang="en-US" sz="1300" dirty="0"/>
          </a:p>
          <a:p>
            <a:pPr marL="198120" indent="-168656" algn="l">
              <a:lnSpc>
                <a:spcPts val="1950"/>
              </a:lnSpc>
              <a:buSzPct val="100000"/>
              <a:buChar char="•"/>
            </a:pPr>
            <a:r>
              <a:rPr lang="en-US" sz="1300" dirty="0">
                <a:solidFill>
                  <a:srgbClr val="3E4A5C"/>
                </a:solidFill>
                <a:latin typeface="IBM Plex Sans" pitchFamily="34" charset="0"/>
                <a:ea typeface="IBM Plex Sans" pitchFamily="34" charset="-122"/>
                <a:cs typeface="IBM Plex Sans" pitchFamily="34" charset="-120"/>
              </a:rPr>
              <a:t>Pointages admin limités à trois mois</a:t>
            </a:r>
            <a:endParaRPr lang="en-US" sz="1300" dirty="0"/>
          </a:p>
        </p:txBody>
      </p:sp>
      <p:sp>
        <p:nvSpPr>
          <p:cNvPr id="7" name="Shape 5"/>
          <p:cNvSpPr/>
          <p:nvPr/>
        </p:nvSpPr>
        <p:spPr>
          <a:xfrm>
            <a:off x="6200775" y="1857276"/>
            <a:ext cx="5175250" cy="1733550"/>
          </a:xfrm>
          <a:prstGeom prst="roundRect">
            <a:avLst>
              <a:gd name="adj" fmla="val 5678"/>
            </a:avLst>
          </a:prstGeom>
          <a:solidFill>
            <a:srgbClr val="FDFCFA"/>
          </a:solidFill>
          <a:ln w="6350">
            <a:solidFill>
              <a:srgbClr val="DAD6CC"/>
            </a:solidFill>
            <a:prstDash val="solid"/>
          </a:ln>
        </p:spPr>
        <p:txBody>
          <a:bodyPr/>
          <a:lstStyle/>
          <a:p>
            <a:endParaRPr/>
          </a:p>
        </p:txBody>
      </p:sp>
      <p:sp>
        <p:nvSpPr>
          <p:cNvPr id="8" name="Text 6"/>
          <p:cNvSpPr/>
          <p:nvPr/>
        </p:nvSpPr>
        <p:spPr>
          <a:xfrm>
            <a:off x="6407150" y="2063651"/>
            <a:ext cx="4905375"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Space Grotesk" pitchFamily="34" charset="0"/>
                <a:ea typeface="Space Grotesk" pitchFamily="34" charset="-122"/>
                <a:cs typeface="Space Grotesk" pitchFamily="34" charset="-120"/>
              </a:rPr>
              <a:t>Perspectives</a:t>
            </a:r>
            <a:endParaRPr lang="en-US" sz="1500" dirty="0"/>
          </a:p>
        </p:txBody>
      </p:sp>
      <p:sp>
        <p:nvSpPr>
          <p:cNvPr id="9" name="Text 7"/>
          <p:cNvSpPr/>
          <p:nvPr/>
        </p:nvSpPr>
        <p:spPr>
          <a:xfrm>
            <a:off x="6407150" y="2393851"/>
            <a:ext cx="4905375" cy="1016000"/>
          </a:xfrm>
          <a:prstGeom prst="rect">
            <a:avLst/>
          </a:prstGeom>
          <a:noFill/>
          <a:ln/>
        </p:spPr>
        <p:txBody>
          <a:bodyPr wrap="square" lIns="0" tIns="0" rIns="0" bIns="0" rtlCol="0" anchor="t">
            <a:normAutofit fontScale="92500"/>
          </a:bodyPr>
          <a:lstStyle/>
          <a:p>
            <a:pPr marL="198120" indent="-168656" algn="l">
              <a:lnSpc>
                <a:spcPts val="1950"/>
              </a:lnSpc>
              <a:buSzPct val="100000"/>
              <a:buChar char="•"/>
            </a:pPr>
            <a:r>
              <a:rPr lang="en-US" sz="1300" dirty="0">
                <a:solidFill>
                  <a:srgbClr val="3E4A5C"/>
                </a:solidFill>
                <a:latin typeface="IBM Plex Sans" pitchFamily="34" charset="0"/>
                <a:ea typeface="IBM Plex Sans" pitchFamily="34" charset="-122"/>
                <a:cs typeface="IBM Plex Sans" pitchFamily="34" charset="-120"/>
              </a:rPr>
              <a:t>Photos mensuelles pour suivre les tendances</a:t>
            </a:r>
            <a:endParaRPr lang="en-US" sz="1300" dirty="0"/>
          </a:p>
          <a:p>
            <a:pPr marL="198120" indent="-168656" algn="l">
              <a:lnSpc>
                <a:spcPts val="1950"/>
              </a:lnSpc>
              <a:buSzPct val="100000"/>
              <a:buChar char="•"/>
            </a:pPr>
            <a:r>
              <a:rPr lang="en-US" sz="1300" dirty="0">
                <a:solidFill>
                  <a:srgbClr val="3E4A5C"/>
                </a:solidFill>
                <a:latin typeface="IBM Plex Sans" pitchFamily="34" charset="0"/>
                <a:ea typeface="IBM Plex Sans" pitchFamily="34" charset="-122"/>
                <a:cs typeface="IBM Plex Sans" pitchFamily="34" charset="-120"/>
              </a:rPr>
              <a:t>Données réelles de départ, puis modèle de prédiction</a:t>
            </a:r>
            <a:endParaRPr lang="en-US" sz="1300" dirty="0"/>
          </a:p>
          <a:p>
            <a:pPr marL="198120" indent="-168656" algn="l">
              <a:lnSpc>
                <a:spcPts val="1950"/>
              </a:lnSpc>
              <a:buSzPct val="100000"/>
              <a:buChar char="•"/>
            </a:pPr>
            <a:r>
              <a:rPr lang="en-US" sz="1300" dirty="0">
                <a:solidFill>
                  <a:srgbClr val="3E4A5C"/>
                </a:solidFill>
                <a:latin typeface="IBM Plex Sans" pitchFamily="34" charset="0"/>
                <a:ea typeface="IBM Plex Sans" pitchFamily="34" charset="-122"/>
                <a:cs typeface="IBM Plex Sans" pitchFamily="34" charset="-120"/>
              </a:rPr>
              <a:t>Données manquantes : congés datés, sorties, formations datées</a:t>
            </a:r>
            <a:endParaRPr lang="en-US" sz="1300" dirty="0"/>
          </a:p>
          <a:p>
            <a:pPr marL="198120" indent="-168656" algn="l">
              <a:lnSpc>
                <a:spcPts val="1950"/>
              </a:lnSpc>
              <a:buSzPct val="100000"/>
              <a:buChar char="•"/>
            </a:pPr>
            <a:r>
              <a:rPr lang="en-US" sz="1300" dirty="0">
                <a:solidFill>
                  <a:srgbClr val="3E4A5C"/>
                </a:solidFill>
                <a:latin typeface="IBM Plex Sans" pitchFamily="34" charset="0"/>
                <a:ea typeface="IBM Plex Sans" pitchFamily="34" charset="-122"/>
                <a:cs typeface="IBM Plex Sans" pitchFamily="34" charset="-120"/>
              </a:rPr>
              <a:t>Alertes automatiques sur les KPI</a:t>
            </a:r>
            <a:endParaRPr lang="en-US" sz="1300" dirty="0"/>
          </a:p>
        </p:txBody>
      </p:sp>
      <p:sp>
        <p:nvSpPr>
          <p:cNvPr id="10" name="Text 8"/>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Pilotage RH par la donnée · 24 · </a:t>
            </a:r>
            <a:r>
              <a:rPr lang="en-US" sz="1200" dirty="0">
                <a:solidFill>
                  <a:srgbClr val="2F5DA8"/>
                </a:solidFill>
                <a:latin typeface="IBM Plex Sans" pitchFamily="34" charset="0"/>
                <a:ea typeface="IBM Plex Sans" pitchFamily="34" charset="-122"/>
                <a:cs typeface="IBM Plex Sans" pitchFamily="34" charset="-120"/>
              </a:rPr>
              <a:t>Code : aucun (conclusion)</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2">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2514600"/>
            <a:ext cx="10883392" cy="825500"/>
          </a:xfrm>
          <a:prstGeom prst="rect">
            <a:avLst/>
          </a:prstGeom>
          <a:noFill/>
          <a:ln/>
        </p:spPr>
        <p:txBody>
          <a:bodyPr wrap="square" lIns="0" tIns="0" rIns="0" bIns="0" rtlCol="0" anchor="t">
            <a:normAutofit/>
          </a:bodyPr>
          <a:lstStyle/>
          <a:p>
            <a:pPr marL="0" indent="0" algn="l">
              <a:lnSpc>
                <a:spcPts val="6300"/>
              </a:lnSpc>
              <a:buNone/>
            </a:pPr>
            <a:r>
              <a:rPr lang="en-US" sz="6000" b="1" dirty="0">
                <a:solidFill>
                  <a:srgbClr val="F7F6F2"/>
                </a:solidFill>
                <a:latin typeface="Space Grotesk" pitchFamily="34" charset="0"/>
                <a:ea typeface="Space Grotesk" pitchFamily="34" charset="-122"/>
                <a:cs typeface="Space Grotesk" pitchFamily="34" charset="-120"/>
              </a:rPr>
              <a:t>Merci</a:t>
            </a:r>
            <a:endParaRPr lang="en-US" sz="6000" dirty="0"/>
          </a:p>
        </p:txBody>
      </p:sp>
      <p:sp>
        <p:nvSpPr>
          <p:cNvPr id="3" name="Text 1"/>
          <p:cNvSpPr/>
          <p:nvPr/>
        </p:nvSpPr>
        <p:spPr>
          <a:xfrm>
            <a:off x="812800" y="3517900"/>
            <a:ext cx="10883392" cy="381000"/>
          </a:xfrm>
          <a:prstGeom prst="rect">
            <a:avLst/>
          </a:prstGeom>
          <a:noFill/>
          <a:ln/>
        </p:spPr>
        <p:txBody>
          <a:bodyPr wrap="square" lIns="0" tIns="0" rIns="0" bIns="0" rtlCol="0" anchor="t">
            <a:normAutofit/>
          </a:bodyPr>
          <a:lstStyle/>
          <a:p>
            <a:pPr marL="0" indent="0" algn="l">
              <a:lnSpc>
                <a:spcPts val="2800"/>
              </a:lnSpc>
              <a:buNone/>
            </a:pPr>
            <a:r>
              <a:rPr lang="en-US" sz="2000" dirty="0">
                <a:solidFill>
                  <a:srgbClr val="F0A060"/>
                </a:solidFill>
                <a:latin typeface="IBM Plex Sans" pitchFamily="34" charset="0"/>
                <a:ea typeface="IBM Plex Sans" pitchFamily="34" charset="-122"/>
                <a:cs typeface="IBM Plex Sans" pitchFamily="34" charset="-120"/>
              </a:rPr>
              <a:t>Questions et échanges</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TotalTime>
  <Words>5577</Words>
  <Application>Microsoft Office PowerPoint</Application>
  <PresentationFormat>Widescreen</PresentationFormat>
  <Paragraphs>633</Paragraphs>
  <Slides>25</Slides>
  <Notes>25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IBM Plex Sans</vt:lpstr>
      <vt:lpstr>Space Grotesk</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Projet EDA &amp; BI RH</dc:title>
  <dc:subject>PptxGenJS Presentation</dc:subject>
  <dc:creator>PptxGenJS</dc:creator>
  <cp:lastModifiedBy>Ousssema Ben Achour</cp:lastModifiedBy>
  <cp:revision>3</cp:revision>
  <dcterms:created xsi:type="dcterms:W3CDTF">2026-09-26T15:37:33Z</dcterms:created>
  <dcterms:modified xsi:type="dcterms:W3CDTF">2026-10-08T09:29:21Z</dcterms:modified>
</cp:coreProperties>
</file>
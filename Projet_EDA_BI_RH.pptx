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8" r:id="rId7"/>
    <p:sldId id="262" r:id="rId8"/>
    <p:sldId id="263" r:id="rId9"/>
    <p:sldId id="264" r:id="rId10"/>
    <p:sldId id="265" r:id="rId11"/>
    <p:sldId id="266" r:id="rId12"/>
    <p:sldId id="267" r:id="rId13"/>
    <p:sldId id="278" r:id="rId14"/>
    <p:sldId id="261" r:id="rId15"/>
    <p:sldId id="279" r:id="rId16"/>
    <p:sldId id="283" r:id="rId17"/>
    <p:sldId id="284" r:id="rId18"/>
    <p:sldId id="285" r:id="rId19"/>
    <p:sldId id="286" r:id="rId20"/>
    <p:sldId id="280" r:id="rId21"/>
    <p:sldId id="281" r:id="rId22"/>
    <p:sldId id="282" r:id="rId23"/>
    <p:sldId id="275" r:id="rId24"/>
    <p:sldId id="276" r:id="rId25"/>
    <p:sldId id="277"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288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Présentation du projet en quatre temps : les données, l'analyse exploratoire (EDA), les objectifs métier avec leurs KPI, puis les acteurs consommateurs des indicateurs et leurs limites. Remplacer les crochets par les noms, l'encadrant et la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départements techniques et une administration. 1 461 employés techniques (dont 4 sans département renseigné) et 1 279 administratifs. La problématique : les données existent mais sont éclatées dans sept fichiers de formats différents, sans indicateurs communs.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L'ordre compte : l'EDA sert à découvrir les problèmes de qualité, qui deviennent ensuite des règles de nettoyage à appliquer avant tout calcul de KPI. Les six objectifs métier déterminent les KPI, puis les acteurs qui les consomment et leurs limites.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à souligner : les pointages administratifs ne couvrent que le premier trimestre. Toute comparaison technique / administration doit donc se faire sur janvier–mars. La colonne ID_TRAINING contient une liste d'identifiants de cours par employé : il faut l'éclater en lignes pour la relier au catalogue. Taux fournis par extrainfos.txt : vacataire 35 par heure, heure sup permanent 25, heure sup admin 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Orphelin : un ID_Employee présent dans Administration_attendance n'existe pas dans administration_data (d1f3417f…). Ses pointages ne peuvent être rattachés à aucun employé ; on les relie à une fiche fictive « Inconnu » (clé −1) pour ne pas perdre de lignes. 2. SALARY / HOURS : un permanent a un salaire mensuel, un vacataire un nombre d'heures payées 35. Ce n'est pas un manque de saisie. 3. Congés : la même catégorie est écrite de deux façons (sick / Sick…), d'où 8 types au lieu de 4 ; normalisé en cellule [1]. 4. Recrutement : free_application côté technique, Free Application côté admin. 5. Horaires : l'admin écrit 08:15, le technique 8:15:00. 6. Durées négatives : 27 journées admin où la pause dépasse la présence, et 497 journées de moins d'une heure ; 49 pointages techniques ont aussi une heure illisible. 7. Un CDI est à durée indéterminée : il ne devrait pas avoir de date de fin. 8. Des contrats sont terminés avant 2023 alors que 662 de ces employés pointent en 2023 : date fausse ou non mise à jour. 9. Vacataire (payé à l'heure) et CDI (permanent) sont contradictoires. Pour 6 à 9, on ne corrige pas à l'aveugle : on marque la ligne et on remonte l'anomalie au métier.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Présenter cette limite de façon assumée montre l'esprit critique de l'équipe. Autre incohérence : les employés ont pris 15 jours de congé en moyenne, mais ont pointé tous les jours. Ce qui reste valable : l'écart effectif / capacité, la différence Administration / Technique, et l'inventaire des problèmes de qualité, qui guide les corrections à faire à la source.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Taux d'occupation = effectif / capacité du référentiel departments.ods. C'est le constat le plus solide de l'EDA car il ne dépend pas des distributions aléatoires. L'échelle va de 0 à 200 % ; la barre Administration dépasse l'échelle (640 %). L'Informatique compte 505 employés, dont un sans aucun pointage (d'où 504 dans les tableaux d'assiduité).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Ancienneté : 741 employés ont au moins un an (50,7 %), 720 moins d'un an (49,3 %). Le rapport initial indiquait 51 % dans les deux cas, c'est corrigé ici. La répartition en tiers presque parfaits des contrats est aussi un indice du caractère synthétique des données (voir la diapositive Limite majeure).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Écart H/F = (médiane hommes − médiane femmes) / médiane hommes. Les salaires ne concernent que les permanents : les vacataires sont payés à l'heure (35 par heure). Le coût total dépend de deux hypothèses à faire valider : que les heures des vacataires et les heures sup admin (101 h par agent en moyenne) soient mensuelles. Si les heures sup admin couvrent toute la période, le total baisse nettement. Les salaires fixes seuls représentent 5,84 M par mois. On parle d'unités monétaires car aucune source ne précise la devise (contexte CIVP : probablement le dinar tunisien).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Heures travaillées = (heure de départ − heure d'arrivée) − (reprise − pause). Le seuil de retard de 8h30 est un choix de l'équipe : aucun horaire officiel n'est fourni. Le taux de retard identique partout (environ 49 %) vient du fait que les arrivées sont réparties uniformément entre 8h00 et 9h00. Le vrai signal est la dispersion de l'Administration. Côté admin, 27 journées ont même une durée négative (pause plus longue que la présence) : c'est une anomalie de saisie. La figure fig06 trace désormais une courbe par pôle : une moyenne commune créait une fausse hausse en avril, quand les pointages admin s'arrêtent.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1 441 employés sur 1 461 ont au moins une formation, de 1 à 25 cours chacun. La distribution des cours est plate : aucun cours ne dépasse 0,25 % des inscriptions, et le top mélange cloud, data et production musicale. On ne peut donc pas conclure à un « appétit data ». Les universités les plus présentes sont celles qui ont le plus de cours dans le catalogue (Coursera Project Network en tête), pas un choix des employés.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Taux de consommation = congés pris / (congés pris + solde). Les types de congé ont été normalisés (sick et Sick fusionnés, etc.). Leur répartition est presque uniforme : on ne peut pas faire du congé sans solde un signal de départ. Le fichier ne donne que le dernier congé, sans date ni durée : la part de « maladie » (24 %) est un proxy fragile d'absentéisme, pas une mesure de jours perdus. Les échéances de contrat sont traitées dans l'objectif suivant (OM6).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date de fin de contrat n'est pas un départ ; c'est une échéance à piloter. 350 échéances réelles en 2023 (12,8 % de l'effectif). Mais 663 contrats sont échus avant 2023 alors que les personnes pointent encore, 468 CDI portent une date de fin et 221 vacataires sont déclarés en CDI : tant que ces données ne sont pas corrigées à la source, les échéances restent indicatives. Le taux de rotation n'est pas mesurable : il n'y a aucun historique de sorties effectives. Chiffres 468 et 221 issus des contrôles complémentaires de l'EDA.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Chaque objectif part d'une question que se pose un décideur RH, puis devient des indicateurs calculables à partir des données. Chaque objectif est relié à des OBI (objectifs BI) et à des KPI ; la matrice de traçabilité suit. Les trois premiers objectifs reprennent l'EDA, l'objectif congés est recentré sur la disponibilité et les contrats ont leur propre objectif (OM6).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seule matrice relie les six objectifs métier à leurs OBI, leurs KPI, leur faisabilité et leur cible. Les cibles chiffrées sont rares et assumées : seules trois sont justifiables aujourd'hui (écart H/F, couverture de formation, zéro anomalie de contrat), les autres sont « à définir et à valider » parce que ni horaire contractuel, ni budget, ni politique de congés ne sont fournis. Le détail KPI par KPI, avec fichiers et colonnes, est en annexe.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l'effectif et de la rémunération : fichiers, colonnes, faisabilité et cible. Les hypothèses à valider (période des heures, devise) pèsent sur le coût.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d'assiduité. Les heures sont calculées à partir des quatre horaires du pointage ; le seuil de retard de 8h30 est un choix de l'équipe, non un horaire officiel.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formation. Les administratifs n'ont aucune donnée de formation ; sans date, on ne peut pas calculer de taux annuel.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Détail des KPI de congés et de contrats. Le taux de rotation est le seul KPI non mesurable aujourd'hui : il faudrait un historique des sorties.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sont les acteurs consommateurs uniquement : ceux qui lisent les indicateurs et décident. Les producteurs de données (DSI, équipe BI) ne sont pas décrits. La DRH est le sponsor et voit les six objectifs ; la direction générale se concentre sur les effectifs, les coûts et les échéances ; les managers voient leur département seulement.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chaque acteur : ce qu'il peut décider avec le tableau de bord, et ce qu'il ne peut pas conclure à cause des données. Les limites viennent directement de l'EDA : capacité de l'Administration douteuse, une seule photo RH, hypothèses sur la période des heures et la devise, dates de fin de contrat peu fiables, formations sans date.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conditions pour lire les indicateurs sans les sur-interpréter : un accès adapté à chaque acteur, une lecture prudente de données synthétiques, et une liste précise de données à obtenir pour lever les limites.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recommandations reposent sur les constats solides (écarts structurels, qualité des données), pas sur les signaux faibles des distributions uniformes. La cinquième est une condition pour que les indicateurs soient justes : sans devise ni période de référence pour les heures, le coût mensuel reste une estimation.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des départs réels (qui est parti, quand), on pourrait entraîner un modèle de prédiction du risque de départ. Aujourd'hui, les données ne contiennent aucune variable de départ, donc on s'arrête au pilotage descriptif.</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 pourquoi 49 % de salaires manquants (statut permanent / vacataire) ; la masse salariale inclut-elle l'administration (oui, dans cette version) ; comment est défini un retard (seuil 8h30 choisi par l'équipe) ; pourquoi aucune absence (données synthétiques) ; une fin de contrat est-elle un départ (non, un renouvellement à piloter).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0"/>
                </a:solidFill>
                <a:latin typeface="IBM Plex Sans" pitchFamily="34" charset="0"/>
                <a:ea typeface="IBM Plex Sans" pitchFamily="34" charset="-122"/>
                <a:cs typeface="IBM Plex Sans" pitchFamily="34" charset="-120"/>
              </a:rPr>
              <a:t>PROJET ACADÉMIQUE · DATA &amp; BUSINESS INTELLIGENCE</a:t>
            </a:r>
            <a:endParaRPr lang="en-US" sz="1200" dirty="0"/>
          </a:p>
        </p:txBody>
      </p:sp>
      <p:sp>
        <p:nvSpPr>
          <p:cNvPr id="3" name="Text 1"/>
          <p:cNvSpPr/>
          <p:nvPr/>
        </p:nvSpPr>
        <p:spPr>
          <a:xfrm>
            <a:off x="812800" y="257046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7F6F2"/>
                </a:solidFill>
                <a:latin typeface="Space Grotesk" pitchFamily="34" charset="0"/>
                <a:ea typeface="Space Grotesk" pitchFamily="34" charset="-122"/>
                <a:cs typeface="Space Grotesk" pitchFamily="34" charset="-120"/>
              </a:rPr>
              <a:t>Pilotage RH par la donnée</a:t>
            </a:r>
            <a:endParaRPr lang="en-US" sz="6000" dirty="0"/>
          </a:p>
        </p:txBody>
      </p:sp>
      <p:sp>
        <p:nvSpPr>
          <p:cNvPr id="4" name="Text 2"/>
          <p:cNvSpPr/>
          <p:nvPr/>
        </p:nvSpPr>
        <p:spPr>
          <a:xfrm>
            <a:off x="812800" y="3573760"/>
            <a:ext cx="915670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D3E3"/>
                </a:solidFill>
                <a:latin typeface="IBM Plex Sans" pitchFamily="34" charset="0"/>
                <a:ea typeface="IBM Plex Sans" pitchFamily="34" charset="-122"/>
                <a:cs typeface="IBM Plex Sans" pitchFamily="34" charset="-120"/>
              </a:rPr>
              <a:t>Analyse exploratoire, objectifs métier et acteurs pour 2 740 collaborateurs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CONTEXTE</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2 740 collaborateurs, aucun outil de pilotage</a:t>
            </a:r>
            <a:endParaRPr lang="en-US" sz="3200" dirty="0"/>
          </a:p>
        </p:txBody>
      </p:sp>
      <p:sp>
        <p:nvSpPr>
          <p:cNvPr id="4" name="Text 2"/>
          <p:cNvSpPr/>
          <p:nvPr/>
        </p:nvSpPr>
        <p:spPr>
          <a:xfrm>
            <a:off x="812800" y="2522041"/>
            <a:ext cx="5232400" cy="13462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4213D"/>
                </a:solidFill>
                <a:latin typeface="IBM Plex Sans" pitchFamily="34" charset="0"/>
                <a:ea typeface="IBM Plex Sans" pitchFamily="34" charset="-122"/>
                <a:cs typeface="IBM Plex Sans" pitchFamily="34" charset="-120"/>
              </a:rPr>
              <a:t>Comment transformer sept fichiers RH hétérogènes en indicateurs fiables pour piloter effectifs, coûts, assiduité, formation, congés et départs ?</a:t>
            </a:r>
            <a:endParaRPr lang="en-US" sz="2000" dirty="0"/>
          </a:p>
        </p:txBody>
      </p:sp>
      <p:sp>
        <p:nvSpPr>
          <p:cNvPr id="5" name="Shape 3"/>
          <p:cNvSpPr/>
          <p:nvPr/>
        </p:nvSpPr>
        <p:spPr>
          <a:xfrm>
            <a:off x="6302375" y="185727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6" name="Text 4"/>
          <p:cNvSpPr/>
          <p:nvPr/>
        </p:nvSpPr>
        <p:spPr>
          <a:xfrm>
            <a:off x="6508750" y="206365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505</a:t>
            </a:r>
            <a:endParaRPr lang="en-US" sz="3200" dirty="0"/>
          </a:p>
        </p:txBody>
      </p:sp>
      <p:sp>
        <p:nvSpPr>
          <p:cNvPr id="7" name="Text 5"/>
          <p:cNvSpPr/>
          <p:nvPr/>
        </p:nvSpPr>
        <p:spPr>
          <a:xfrm>
            <a:off x="6508750" y="2683371"/>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Informatique</a:t>
            </a:r>
            <a:endParaRPr lang="en-US" sz="1200" dirty="0"/>
          </a:p>
        </p:txBody>
      </p:sp>
      <p:sp>
        <p:nvSpPr>
          <p:cNvPr id="8" name="Shape 6"/>
          <p:cNvSpPr/>
          <p:nvPr/>
        </p:nvSpPr>
        <p:spPr>
          <a:xfrm>
            <a:off x="8918575" y="185727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9" name="Text 7"/>
          <p:cNvSpPr/>
          <p:nvPr/>
        </p:nvSpPr>
        <p:spPr>
          <a:xfrm>
            <a:off x="9124950" y="206365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441</a:t>
            </a:r>
            <a:endParaRPr lang="en-US" sz="3200" dirty="0"/>
          </a:p>
        </p:txBody>
      </p:sp>
      <p:sp>
        <p:nvSpPr>
          <p:cNvPr id="10" name="Text 8"/>
          <p:cNvSpPr/>
          <p:nvPr/>
        </p:nvSpPr>
        <p:spPr>
          <a:xfrm>
            <a:off x="9124950" y="2683371"/>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Télécom</a:t>
            </a:r>
            <a:endParaRPr lang="en-US" sz="1200" dirty="0"/>
          </a:p>
        </p:txBody>
      </p:sp>
      <p:sp>
        <p:nvSpPr>
          <p:cNvPr id="11" name="Shape 9"/>
          <p:cNvSpPr/>
          <p:nvPr/>
        </p:nvSpPr>
        <p:spPr>
          <a:xfrm>
            <a:off x="6302375" y="326181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12" name="Text 10"/>
          <p:cNvSpPr/>
          <p:nvPr/>
        </p:nvSpPr>
        <p:spPr>
          <a:xfrm>
            <a:off x="6508750" y="346819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511</a:t>
            </a:r>
            <a:endParaRPr lang="en-US" sz="3200" dirty="0"/>
          </a:p>
        </p:txBody>
      </p:sp>
      <p:sp>
        <p:nvSpPr>
          <p:cNvPr id="13" name="Text 11"/>
          <p:cNvSpPr/>
          <p:nvPr/>
        </p:nvSpPr>
        <p:spPr>
          <a:xfrm>
            <a:off x="6508750" y="4087912"/>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Communication</a:t>
            </a:r>
            <a:endParaRPr lang="en-US" sz="1200" dirty="0"/>
          </a:p>
        </p:txBody>
      </p:sp>
      <p:sp>
        <p:nvSpPr>
          <p:cNvPr id="14" name="Shape 12"/>
          <p:cNvSpPr/>
          <p:nvPr/>
        </p:nvSpPr>
        <p:spPr>
          <a:xfrm>
            <a:off x="8918575" y="3261816"/>
            <a:ext cx="2457450" cy="1245791"/>
          </a:xfrm>
          <a:prstGeom prst="roundRect">
            <a:avLst>
              <a:gd name="adj" fmla="val 7901"/>
            </a:avLst>
          </a:prstGeom>
          <a:solidFill>
            <a:srgbClr val="FDFCFA"/>
          </a:solidFill>
          <a:ln w="6350">
            <a:solidFill>
              <a:srgbClr val="DAD6CC"/>
            </a:solidFill>
            <a:prstDash val="solid"/>
          </a:ln>
        </p:spPr>
        <p:txBody>
          <a:bodyPr/>
          <a:lstStyle/>
          <a:p>
            <a:endParaRPr/>
          </a:p>
        </p:txBody>
      </p:sp>
      <p:sp>
        <p:nvSpPr>
          <p:cNvPr id="15" name="Text 13"/>
          <p:cNvSpPr/>
          <p:nvPr/>
        </p:nvSpPr>
        <p:spPr>
          <a:xfrm>
            <a:off x="9124950" y="3468191"/>
            <a:ext cx="2106041"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531A"/>
                </a:solidFill>
                <a:latin typeface="Space Grotesk" pitchFamily="34" charset="0"/>
                <a:ea typeface="Space Grotesk" pitchFamily="34" charset="-122"/>
                <a:cs typeface="Space Grotesk" pitchFamily="34" charset="-120"/>
              </a:rPr>
              <a:t>1 279</a:t>
            </a:r>
            <a:endParaRPr lang="en-US" sz="3200" dirty="0"/>
          </a:p>
        </p:txBody>
      </p:sp>
      <p:sp>
        <p:nvSpPr>
          <p:cNvPr id="16" name="Text 14"/>
          <p:cNvSpPr/>
          <p:nvPr/>
        </p:nvSpPr>
        <p:spPr>
          <a:xfrm>
            <a:off x="9124950" y="4087912"/>
            <a:ext cx="210604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Administration</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02 · </a:t>
            </a:r>
            <a:r>
              <a:rPr lang="en-US" sz="1200" dirty="0">
                <a:solidFill>
                  <a:srgbClr val="2F5DA8"/>
                </a:solidFill>
                <a:latin typeface="IBM Plex Sans" pitchFamily="34" charset="0"/>
                <a:ea typeface="IBM Plex Sans" pitchFamily="34" charset="-122"/>
                <a:cs typeface="IBM Plex Sans" pitchFamily="34" charset="-120"/>
              </a:rPr>
              <a:t>Code : cellule [3], section 2 (tableau « EFFECTIF VS CAPACITÉ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DÉMARCHE</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Une démarche en quatre étapes</a:t>
            </a:r>
            <a:endParaRPr lang="en-US" sz="3200" dirty="0"/>
          </a:p>
        </p:txBody>
      </p:sp>
      <p:sp>
        <p:nvSpPr>
          <p:cNvPr id="4" name="Shape 2"/>
          <p:cNvSpPr/>
          <p:nvPr/>
        </p:nvSpPr>
        <p:spPr>
          <a:xfrm>
            <a:off x="8159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022350" y="2520851"/>
            <a:ext cx="2132203"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Comprendre les données</a:t>
            </a:r>
            <a:endParaRPr lang="en-US" sz="1500" dirty="0"/>
          </a:p>
        </p:txBody>
      </p:sp>
      <p:sp>
        <p:nvSpPr>
          <p:cNvPr id="7" name="Text 5"/>
          <p:cNvSpPr/>
          <p:nvPr/>
        </p:nvSpPr>
        <p:spPr>
          <a:xfrm>
            <a:off x="1022350" y="3079651"/>
            <a:ext cx="213220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Sept fichiers, clés de jointure, contrôle de qualité.</a:t>
            </a:r>
            <a:endParaRPr lang="en-US" sz="1200" dirty="0"/>
          </a:p>
        </p:txBody>
      </p:sp>
      <p:sp>
        <p:nvSpPr>
          <p:cNvPr id="8" name="Shape 6"/>
          <p:cNvSpPr/>
          <p:nvPr/>
        </p:nvSpPr>
        <p:spPr>
          <a:xfrm>
            <a:off x="35083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9" name="Text 7"/>
          <p:cNvSpPr/>
          <p:nvPr/>
        </p:nvSpPr>
        <p:spPr>
          <a:xfrm>
            <a:off x="37147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02</a:t>
            </a:r>
            <a:endParaRPr lang="en-US" sz="2000" dirty="0"/>
          </a:p>
        </p:txBody>
      </p:sp>
      <p:sp>
        <p:nvSpPr>
          <p:cNvPr id="10" name="Text 8"/>
          <p:cNvSpPr/>
          <p:nvPr/>
        </p:nvSpPr>
        <p:spPr>
          <a:xfrm>
            <a:off x="37147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Explorer (EDA)</a:t>
            </a:r>
            <a:endParaRPr lang="en-US" sz="1500" dirty="0"/>
          </a:p>
        </p:txBody>
      </p:sp>
      <p:sp>
        <p:nvSpPr>
          <p:cNvPr id="11" name="Text 9"/>
          <p:cNvSpPr/>
          <p:nvPr/>
        </p:nvSpPr>
        <p:spPr>
          <a:xfrm>
            <a:off x="3714750" y="2851051"/>
            <a:ext cx="213220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Python : pandas, seaborn. Distributions, croisements, anomalies.</a:t>
            </a:r>
            <a:endParaRPr lang="en-US" sz="1200" dirty="0"/>
          </a:p>
        </p:txBody>
      </p:sp>
      <p:sp>
        <p:nvSpPr>
          <p:cNvPr id="12" name="Shape 10"/>
          <p:cNvSpPr/>
          <p:nvPr/>
        </p:nvSpPr>
        <p:spPr>
          <a:xfrm>
            <a:off x="62007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13" name="Text 11"/>
          <p:cNvSpPr/>
          <p:nvPr/>
        </p:nvSpPr>
        <p:spPr>
          <a:xfrm>
            <a:off x="64071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03</a:t>
            </a:r>
            <a:endParaRPr lang="en-US" sz="2000" dirty="0"/>
          </a:p>
        </p:txBody>
      </p:sp>
      <p:sp>
        <p:nvSpPr>
          <p:cNvPr id="14" name="Text 12"/>
          <p:cNvSpPr/>
          <p:nvPr/>
        </p:nvSpPr>
        <p:spPr>
          <a:xfrm>
            <a:off x="64071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Définir les objectifs</a:t>
            </a:r>
            <a:endParaRPr lang="en-US" sz="1500" dirty="0"/>
          </a:p>
        </p:txBody>
      </p:sp>
      <p:sp>
        <p:nvSpPr>
          <p:cNvPr id="15" name="Text 13"/>
          <p:cNvSpPr/>
          <p:nvPr/>
        </p:nvSpPr>
        <p:spPr>
          <a:xfrm>
            <a:off x="6407150" y="2851051"/>
            <a:ext cx="2132203" cy="8229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Six objectifs métier, chacun relié à des OBI et à des KPI calculables.</a:t>
            </a:r>
            <a:endParaRPr lang="en-US" sz="1200" dirty="0"/>
          </a:p>
        </p:txBody>
      </p:sp>
      <p:sp>
        <p:nvSpPr>
          <p:cNvPr id="16" name="Shape 14"/>
          <p:cNvSpPr/>
          <p:nvPr/>
        </p:nvSpPr>
        <p:spPr>
          <a:xfrm>
            <a:off x="8893175" y="1857276"/>
            <a:ext cx="2482850" cy="1855391"/>
          </a:xfrm>
          <a:prstGeom prst="roundRect">
            <a:avLst>
              <a:gd name="adj" fmla="val 5305"/>
            </a:avLst>
          </a:prstGeom>
          <a:solidFill>
            <a:srgbClr val="FDFCFA"/>
          </a:solidFill>
          <a:ln w="6350">
            <a:solidFill>
              <a:srgbClr val="DAD6CC"/>
            </a:solidFill>
            <a:prstDash val="solid"/>
          </a:ln>
        </p:spPr>
        <p:txBody>
          <a:bodyPr/>
          <a:lstStyle/>
          <a:p>
            <a:endParaRPr/>
          </a:p>
        </p:txBody>
      </p:sp>
      <p:sp>
        <p:nvSpPr>
          <p:cNvPr id="17" name="Text 15"/>
          <p:cNvSpPr/>
          <p:nvPr/>
        </p:nvSpPr>
        <p:spPr>
          <a:xfrm>
            <a:off x="9099550" y="2063651"/>
            <a:ext cx="2132203"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04</a:t>
            </a:r>
            <a:endParaRPr lang="en-US" sz="2000" dirty="0"/>
          </a:p>
        </p:txBody>
      </p:sp>
      <p:sp>
        <p:nvSpPr>
          <p:cNvPr id="18" name="Text 16"/>
          <p:cNvSpPr/>
          <p:nvPr/>
        </p:nvSpPr>
        <p:spPr>
          <a:xfrm>
            <a:off x="9099550" y="2520851"/>
            <a:ext cx="213220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Identifier les acteurs</a:t>
            </a:r>
            <a:endParaRPr lang="en-US" sz="1500" dirty="0"/>
          </a:p>
        </p:txBody>
      </p:sp>
      <p:sp>
        <p:nvSpPr>
          <p:cNvPr id="19" name="Text 17"/>
          <p:cNvSpPr/>
          <p:nvPr/>
        </p:nvSpPr>
        <p:spPr>
          <a:xfrm>
            <a:off x="9099550" y="2851051"/>
            <a:ext cx="2132203" cy="8229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Acteurs consommateurs, décisions possibles et limites.</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03 · </a:t>
            </a:r>
            <a:r>
              <a:rPr lang="en-US" sz="1200" dirty="0">
                <a:solidFill>
                  <a:srgbClr val="2F5DA8"/>
                </a:solidFill>
                <a:latin typeface="IBM Plex Sans" pitchFamily="34" charset="0"/>
                <a:ea typeface="IBM Plex Sans" pitchFamily="34" charset="-122"/>
                <a:cs typeface="IBM Plex Sans" pitchFamily="34" charset="-120"/>
              </a:rPr>
              <a:t>Code : EDA_HR.ipynb · [n] = le numéro « In [n] » à gauche de chaque cellule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LES DONNÉES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Sept fichiers à relier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2514897"/>
        </p:xfrm>
        <a:graphic>
          <a:graphicData uri="http://schemas.openxmlformats.org/drawingml/2006/table">
            <a:tbl>
              <a:tblPr/>
              <a:tblGrid>
                <a:gridCol w="3588258">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Contenu</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Volume</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Période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emp_data.xlsx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Fiches employés techniques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1 461 × 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administration_data.xlsx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Fiches administratives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1 279 × 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Photo</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attendance_dataset_2023.csv</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Pointages techniques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189 799 lignes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Janv.–juin 2023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Administration_attendance.xlsx</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Pointages administratifs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83 200 lignes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Janv.–mars 2023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Coursera_trainings.csv</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Catalogue de formations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3 532 cours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departments.ods, extrainfos.txt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Capacités, taux horaires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4 départements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468649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Clés : ID_Employee (fiche ↔ pointage) · DEP_ID ↔ ID_DEP · ID_TRAINING (liste d'ids) → course_id</a:t>
            </a:r>
            <a:endParaRPr lang="en-US" sz="12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04 · </a:t>
            </a:r>
            <a:r>
              <a:rPr lang="en-US" sz="1200" dirty="0">
                <a:solidFill>
                  <a:srgbClr val="2F5DA8"/>
                </a:solidFill>
                <a:latin typeface="IBM Plex Sans" pitchFamily="34" charset="0"/>
                <a:ea typeface="IBM Plex Sans" pitchFamily="34" charset="-122"/>
                <a:cs typeface="IBM Plex Sans" pitchFamily="34" charset="-120"/>
              </a:rPr>
              <a:t>Code : cellule [1] (chargement, prep_data) · cellule [2] (tailles des sources)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QUALITÉ DES DONNÉES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Neuf problèmes détectés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325810"/>
        </p:xfrm>
        <a:graphic>
          <a:graphicData uri="http://schemas.openxmlformats.org/drawingml/2006/table">
            <a:tbl>
              <a:tblPr/>
              <a:tblGrid>
                <a:gridCol w="4010406">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1899666">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Constat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Traitement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Code</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 pointage admin sans fiche employé</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Jointure incomplète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Membre « Inconnu »</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SALARY vide pour les 717 vacataires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Faux manquants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Coût = heures × 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Types de congé en double casse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8 catégories au lieu de 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Normalisation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[1], [7]</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Canaux de recrutement libellés autrement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Tech ≠ admin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Référentiel commun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[1], [3]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en HH:MM et HH:MM:SS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Erreurs de lecture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Format unique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27 journées admin à durée négative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fausses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468 CDI avec une date de fin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Contrats incohérents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663 contrats échus avant 2023, pointés en 2023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Échéances non fiables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Cellules [7],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221 vacataires en CDI</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Statut incohérent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Indicateur d'anomalie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Cellule [11]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05 · </a:t>
            </a:r>
            <a:r>
              <a:rPr lang="en-US" sz="1200" dirty="0">
                <a:solidFill>
                  <a:srgbClr val="2F5DA8"/>
                </a:solidFill>
                <a:latin typeface="IBM Plex Sans" pitchFamily="34" charset="0"/>
                <a:ea typeface="IBM Plex Sans" pitchFamily="34" charset="-122"/>
                <a:cs typeface="IBM Plex Sans" pitchFamily="34" charset="-120"/>
              </a:rPr>
              <a:t>Cellules [9] à [14] : section 8, contrôles complémentaires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B453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BE9DC"/>
                </a:solidFill>
                <a:latin typeface="IBM Plex Sans" pitchFamily="34" charset="0"/>
                <a:ea typeface="IBM Plex Sans" pitchFamily="34" charset="-122"/>
                <a:cs typeface="IBM Plex Sans" pitchFamily="34" charset="-120"/>
              </a:rPr>
              <a:t>LIMITE MAJEURE</a:t>
            </a:r>
            <a:endParaRPr lang="en-US" sz="1200" dirty="0"/>
          </a:p>
        </p:txBody>
      </p:sp>
      <p:sp>
        <p:nvSpPr>
          <p:cNvPr id="3" name="Text 1"/>
          <p:cNvSpPr/>
          <p:nvPr/>
        </p:nvSpPr>
        <p:spPr>
          <a:xfrm>
            <a:off x="812800" y="1102320"/>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7F6F2"/>
                </a:solidFill>
                <a:latin typeface="Space Grotesk" pitchFamily="34" charset="0"/>
                <a:ea typeface="Space Grotesk" pitchFamily="34" charset="-122"/>
                <a:cs typeface="Space Grotesk" pitchFamily="34" charset="-120"/>
              </a:rPr>
              <a:t>Des données synthétiques</a:t>
            </a:r>
            <a:endParaRPr lang="en-US" sz="4800" dirty="0"/>
          </a:p>
        </p:txBody>
      </p:sp>
      <p:sp>
        <p:nvSpPr>
          <p:cNvPr id="4" name="Text 2"/>
          <p:cNvSpPr/>
          <p:nvPr/>
        </p:nvSpPr>
        <p:spPr>
          <a:xfrm>
            <a:off x="812800" y="2077641"/>
            <a:ext cx="10883392" cy="11684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Adresses américaines et e-mails en @example.com : un générateur de données</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Chaque employé pointe les 130 jours ouvrés, 1er mai et Aïd compris</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Arrivées uniformes entre 8h00 et 9h00 : 49 % de « retards » par construction</a:t>
            </a:r>
            <a:endParaRPr lang="en-US" sz="1500" dirty="0"/>
          </a:p>
          <a:p>
            <a:pPr marL="228600" indent="-182880" algn="l">
              <a:lnSpc>
                <a:spcPts val="2250"/>
              </a:lnSpc>
              <a:buSzPct val="100000"/>
              <a:buChar char="•"/>
            </a:pPr>
            <a:r>
              <a:rPr lang="en-US" sz="1500" dirty="0">
                <a:solidFill>
                  <a:srgbClr val="F7F6F2"/>
                </a:solidFill>
                <a:latin typeface="IBM Plex Sans" pitchFamily="34" charset="0"/>
                <a:ea typeface="IBM Plex Sans" pitchFamily="34" charset="-122"/>
                <a:cs typeface="IBM Plex Sans" pitchFamily="34" charset="-120"/>
              </a:rPr>
              <a:t>Genre 731 / 730, contrats en tiers, écart H/F nul, congés uniformes</a:t>
            </a:r>
            <a:endParaRPr lang="en-US" sz="1500" dirty="0"/>
          </a:p>
        </p:txBody>
      </p:sp>
      <p:sp>
        <p:nvSpPr>
          <p:cNvPr id="5" name="Text 3"/>
          <p:cNvSpPr/>
          <p:nvPr/>
        </p:nvSpPr>
        <p:spPr>
          <a:xfrm>
            <a:off x="812800" y="35254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E9DC"/>
                </a:solidFill>
                <a:latin typeface="IBM Plex Sans" pitchFamily="34" charset="0"/>
                <a:ea typeface="IBM Plex Sans" pitchFamily="34" charset="-122"/>
                <a:cs typeface="IBM Plex Sans" pitchFamily="34" charset="-120"/>
              </a:rPr>
              <a:t>Nous retenons donc les écarts structurels et la qualité des données, pas les signaux faibles.</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9DC"/>
                </a:solidFill>
                <a:latin typeface="IBM Plex Sans" pitchFamily="34" charset="0"/>
                <a:ea typeface="IBM Plex Sans" pitchFamily="34" charset="-122"/>
                <a:cs typeface="IBM Plex Sans" pitchFamily="34" charset="-120"/>
              </a:rPr>
              <a:t>Pilotage RH par la donnée · 06 · Code : cellule [14] (adresses, e-mails, fériés, arrivées) · cellules [2],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OM1 · EFFECTIFS ET CAPACITÉ</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Télécom en surcharge, Communication sous-utilisée</a:t>
            </a:r>
            <a:endParaRPr lang="en-US" sz="3200" dirty="0"/>
          </a:p>
        </p:txBody>
      </p:sp>
      <p:sp>
        <p:nvSpPr>
          <p:cNvPr id="4" name="Text 2"/>
          <p:cNvSpPr/>
          <p:nvPr/>
        </p:nvSpPr>
        <p:spPr>
          <a:xfrm>
            <a:off x="812800" y="1918791"/>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Télécom</a:t>
            </a:r>
            <a:endParaRPr lang="en-US" sz="1500" dirty="0"/>
          </a:p>
        </p:txBody>
      </p:sp>
      <p:sp>
        <p:nvSpPr>
          <p:cNvPr id="5" name="Shape 3"/>
          <p:cNvSpPr/>
          <p:nvPr/>
        </p:nvSpPr>
        <p:spPr>
          <a:xfrm>
            <a:off x="2870200" y="1854101"/>
            <a:ext cx="6350000" cy="355600"/>
          </a:xfrm>
          <a:prstGeom prst="rect">
            <a:avLst/>
          </a:prstGeom>
          <a:solidFill>
            <a:srgbClr val="E4E1D8"/>
          </a:solidFill>
          <a:ln/>
        </p:spPr>
        <p:txBody>
          <a:bodyPr/>
          <a:lstStyle/>
          <a:p>
            <a:endParaRPr/>
          </a:p>
        </p:txBody>
      </p:sp>
      <p:sp>
        <p:nvSpPr>
          <p:cNvPr id="6" name="Shape 4"/>
          <p:cNvSpPr/>
          <p:nvPr/>
        </p:nvSpPr>
        <p:spPr>
          <a:xfrm>
            <a:off x="2870200" y="1854101"/>
            <a:ext cx="4667250" cy="355600"/>
          </a:xfrm>
          <a:prstGeom prst="rect">
            <a:avLst/>
          </a:prstGeom>
          <a:solidFill>
            <a:srgbClr val="B4531A"/>
          </a:solidFill>
          <a:ln/>
        </p:spPr>
        <p:txBody>
          <a:bodyPr/>
          <a:lstStyle/>
          <a:p>
            <a:endParaRPr/>
          </a:p>
        </p:txBody>
      </p:sp>
      <p:sp>
        <p:nvSpPr>
          <p:cNvPr id="7" name="Shape 5"/>
          <p:cNvSpPr/>
          <p:nvPr/>
        </p:nvSpPr>
        <p:spPr>
          <a:xfrm>
            <a:off x="6038850" y="1854101"/>
            <a:ext cx="19050" cy="355600"/>
          </a:xfrm>
          <a:prstGeom prst="rect">
            <a:avLst/>
          </a:prstGeom>
          <a:solidFill>
            <a:srgbClr val="14213D"/>
          </a:solidFill>
          <a:ln/>
        </p:spPr>
        <p:txBody>
          <a:bodyPr/>
          <a:lstStyle/>
          <a:p>
            <a:endParaRPr/>
          </a:p>
        </p:txBody>
      </p:sp>
      <p:sp>
        <p:nvSpPr>
          <p:cNvPr id="8" name="Text 6"/>
          <p:cNvSpPr/>
          <p:nvPr/>
        </p:nvSpPr>
        <p:spPr>
          <a:xfrm>
            <a:off x="9372600" y="1854101"/>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147 % · surcharge</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441 / 300 postes</a:t>
            </a:r>
            <a:endParaRPr lang="en-US" sz="1200" dirty="0"/>
          </a:p>
        </p:txBody>
      </p:sp>
      <p:sp>
        <p:nvSpPr>
          <p:cNvPr id="9" name="Text 7"/>
          <p:cNvSpPr/>
          <p:nvPr/>
        </p:nvSpPr>
        <p:spPr>
          <a:xfrm>
            <a:off x="812800" y="2467273"/>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Informatique</a:t>
            </a:r>
            <a:endParaRPr lang="en-US" sz="1500" dirty="0"/>
          </a:p>
        </p:txBody>
      </p:sp>
      <p:sp>
        <p:nvSpPr>
          <p:cNvPr id="10" name="Shape 8"/>
          <p:cNvSpPr/>
          <p:nvPr/>
        </p:nvSpPr>
        <p:spPr>
          <a:xfrm>
            <a:off x="2870200" y="2402582"/>
            <a:ext cx="6350000" cy="355600"/>
          </a:xfrm>
          <a:prstGeom prst="rect">
            <a:avLst/>
          </a:prstGeom>
          <a:solidFill>
            <a:srgbClr val="E4E1D8"/>
          </a:solidFill>
          <a:ln/>
        </p:spPr>
        <p:txBody>
          <a:bodyPr/>
          <a:lstStyle/>
          <a:p>
            <a:endParaRPr/>
          </a:p>
        </p:txBody>
      </p:sp>
      <p:sp>
        <p:nvSpPr>
          <p:cNvPr id="11" name="Shape 9"/>
          <p:cNvSpPr/>
          <p:nvPr/>
        </p:nvSpPr>
        <p:spPr>
          <a:xfrm>
            <a:off x="2870200" y="2402582"/>
            <a:ext cx="2667000" cy="355600"/>
          </a:xfrm>
          <a:prstGeom prst="rect">
            <a:avLst/>
          </a:prstGeom>
          <a:solidFill>
            <a:srgbClr val="2F5DA8"/>
          </a:solidFill>
          <a:ln/>
        </p:spPr>
        <p:txBody>
          <a:bodyPr/>
          <a:lstStyle/>
          <a:p>
            <a:endParaRPr/>
          </a:p>
        </p:txBody>
      </p:sp>
      <p:sp>
        <p:nvSpPr>
          <p:cNvPr id="12" name="Shape 10"/>
          <p:cNvSpPr/>
          <p:nvPr/>
        </p:nvSpPr>
        <p:spPr>
          <a:xfrm>
            <a:off x="6038850" y="2402582"/>
            <a:ext cx="19050" cy="355600"/>
          </a:xfrm>
          <a:prstGeom prst="rect">
            <a:avLst/>
          </a:prstGeom>
          <a:solidFill>
            <a:srgbClr val="14213D"/>
          </a:solidFill>
          <a:ln/>
        </p:spPr>
        <p:txBody>
          <a:bodyPr/>
          <a:lstStyle/>
          <a:p>
            <a:endParaRPr/>
          </a:p>
        </p:txBody>
      </p:sp>
      <p:sp>
        <p:nvSpPr>
          <p:cNvPr id="13" name="Text 11"/>
          <p:cNvSpPr/>
          <p:nvPr/>
        </p:nvSpPr>
        <p:spPr>
          <a:xfrm>
            <a:off x="9372600" y="2402582"/>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84 % · normal</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505 / 601 postes</a:t>
            </a:r>
            <a:endParaRPr lang="en-US" sz="1200" dirty="0"/>
          </a:p>
        </p:txBody>
      </p:sp>
      <p:sp>
        <p:nvSpPr>
          <p:cNvPr id="14" name="Text 12"/>
          <p:cNvSpPr/>
          <p:nvPr/>
        </p:nvSpPr>
        <p:spPr>
          <a:xfrm>
            <a:off x="812800" y="3015754"/>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Communication</a:t>
            </a:r>
            <a:endParaRPr lang="en-US" sz="1500" dirty="0"/>
          </a:p>
        </p:txBody>
      </p:sp>
      <p:sp>
        <p:nvSpPr>
          <p:cNvPr id="15" name="Shape 13"/>
          <p:cNvSpPr/>
          <p:nvPr/>
        </p:nvSpPr>
        <p:spPr>
          <a:xfrm>
            <a:off x="2870200" y="2951063"/>
            <a:ext cx="6350000" cy="355600"/>
          </a:xfrm>
          <a:prstGeom prst="rect">
            <a:avLst/>
          </a:prstGeom>
          <a:solidFill>
            <a:srgbClr val="E4E1D8"/>
          </a:solidFill>
          <a:ln/>
        </p:spPr>
        <p:txBody>
          <a:bodyPr/>
          <a:lstStyle/>
          <a:p>
            <a:endParaRPr/>
          </a:p>
        </p:txBody>
      </p:sp>
      <p:sp>
        <p:nvSpPr>
          <p:cNvPr id="16" name="Shape 14"/>
          <p:cNvSpPr/>
          <p:nvPr/>
        </p:nvSpPr>
        <p:spPr>
          <a:xfrm>
            <a:off x="2870200" y="2951063"/>
            <a:ext cx="1282700" cy="355600"/>
          </a:xfrm>
          <a:prstGeom prst="rect">
            <a:avLst/>
          </a:prstGeom>
          <a:solidFill>
            <a:srgbClr val="2F5DA8"/>
          </a:solidFill>
          <a:ln/>
        </p:spPr>
        <p:txBody>
          <a:bodyPr/>
          <a:lstStyle/>
          <a:p>
            <a:endParaRPr/>
          </a:p>
        </p:txBody>
      </p:sp>
      <p:sp>
        <p:nvSpPr>
          <p:cNvPr id="17" name="Shape 15"/>
          <p:cNvSpPr/>
          <p:nvPr/>
        </p:nvSpPr>
        <p:spPr>
          <a:xfrm>
            <a:off x="6038850" y="2951063"/>
            <a:ext cx="19050" cy="355600"/>
          </a:xfrm>
          <a:prstGeom prst="rect">
            <a:avLst/>
          </a:prstGeom>
          <a:solidFill>
            <a:srgbClr val="14213D"/>
          </a:solidFill>
          <a:ln/>
        </p:spPr>
        <p:txBody>
          <a:bodyPr/>
          <a:lstStyle/>
          <a:p>
            <a:endParaRPr/>
          </a:p>
        </p:txBody>
      </p:sp>
      <p:sp>
        <p:nvSpPr>
          <p:cNvPr id="18" name="Text 16"/>
          <p:cNvSpPr/>
          <p:nvPr/>
        </p:nvSpPr>
        <p:spPr>
          <a:xfrm>
            <a:off x="9372600" y="2951063"/>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40 % · sous-utilisé</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511 / 1 262 postes</a:t>
            </a:r>
            <a:endParaRPr lang="en-US" sz="1200" dirty="0"/>
          </a:p>
        </p:txBody>
      </p:sp>
      <p:sp>
        <p:nvSpPr>
          <p:cNvPr id="19" name="Text 17"/>
          <p:cNvSpPr/>
          <p:nvPr/>
        </p:nvSpPr>
        <p:spPr>
          <a:xfrm>
            <a:off x="812800" y="3564235"/>
            <a:ext cx="19621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Administration</a:t>
            </a:r>
            <a:endParaRPr lang="en-US" sz="1500" dirty="0"/>
          </a:p>
        </p:txBody>
      </p:sp>
      <p:sp>
        <p:nvSpPr>
          <p:cNvPr id="20" name="Shape 18"/>
          <p:cNvSpPr/>
          <p:nvPr/>
        </p:nvSpPr>
        <p:spPr>
          <a:xfrm>
            <a:off x="2870200" y="3499545"/>
            <a:ext cx="6350000" cy="355600"/>
          </a:xfrm>
          <a:prstGeom prst="rect">
            <a:avLst/>
          </a:prstGeom>
          <a:solidFill>
            <a:srgbClr val="E4E1D8"/>
          </a:solidFill>
          <a:ln/>
        </p:spPr>
        <p:txBody>
          <a:bodyPr/>
          <a:lstStyle/>
          <a:p>
            <a:endParaRPr/>
          </a:p>
        </p:txBody>
      </p:sp>
      <p:sp>
        <p:nvSpPr>
          <p:cNvPr id="21" name="Shape 19"/>
          <p:cNvSpPr/>
          <p:nvPr/>
        </p:nvSpPr>
        <p:spPr>
          <a:xfrm>
            <a:off x="2870200" y="3499545"/>
            <a:ext cx="6350000" cy="355600"/>
          </a:xfrm>
          <a:prstGeom prst="rect">
            <a:avLst/>
          </a:prstGeom>
          <a:solidFill>
            <a:srgbClr val="B4531A"/>
          </a:solidFill>
          <a:ln/>
        </p:spPr>
        <p:txBody>
          <a:bodyPr/>
          <a:lstStyle/>
          <a:p>
            <a:endParaRPr/>
          </a:p>
        </p:txBody>
      </p:sp>
      <p:sp>
        <p:nvSpPr>
          <p:cNvPr id="22" name="Shape 20"/>
          <p:cNvSpPr/>
          <p:nvPr/>
        </p:nvSpPr>
        <p:spPr>
          <a:xfrm>
            <a:off x="6038850" y="3499545"/>
            <a:ext cx="19050" cy="355600"/>
          </a:xfrm>
          <a:prstGeom prst="rect">
            <a:avLst/>
          </a:prstGeom>
          <a:solidFill>
            <a:srgbClr val="14213D"/>
          </a:solidFill>
          <a:ln/>
        </p:spPr>
        <p:txBody>
          <a:bodyPr/>
          <a:lstStyle/>
          <a:p>
            <a:endParaRPr/>
          </a:p>
        </p:txBody>
      </p:sp>
      <p:sp>
        <p:nvSpPr>
          <p:cNvPr id="23" name="Text 21"/>
          <p:cNvSpPr/>
          <p:nvPr/>
        </p:nvSpPr>
        <p:spPr>
          <a:xfrm>
            <a:off x="9372600" y="3499545"/>
            <a:ext cx="190982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640 % · hors échelle</a:t>
            </a:r>
            <a:endParaRPr lang="en-US" sz="1200" dirty="0"/>
          </a:p>
          <a:p>
            <a:pPr marL="0" indent="0" algn="l">
              <a:lnSpc>
                <a:spcPts val="1560"/>
              </a:lnSpc>
              <a:buNone/>
            </a:pPr>
            <a:r>
              <a:rPr lang="en-US" sz="1200" dirty="0">
                <a:solidFill>
                  <a:srgbClr val="3E4A5C"/>
                </a:solidFill>
                <a:latin typeface="IBM Plex Sans" pitchFamily="34" charset="0"/>
                <a:ea typeface="IBM Plex Sans" pitchFamily="34" charset="-122"/>
                <a:cs typeface="IBM Plex Sans" pitchFamily="34" charset="-120"/>
              </a:rPr>
              <a:t>1 279 / 200 postes</a:t>
            </a:r>
            <a:endParaRPr lang="en-US" sz="1200" dirty="0"/>
          </a:p>
        </p:txBody>
      </p:sp>
      <p:sp>
        <p:nvSpPr>
          <p:cNvPr id="24" name="Text 22"/>
          <p:cNvSpPr/>
          <p:nvPr/>
        </p:nvSpPr>
        <p:spPr>
          <a:xfrm>
            <a:off x="812800" y="4200426"/>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Trait vertical = 100 % de la capacité. Le référentiel de l'Administration paraît obsolète ; la Communication peut absorber de la charge.</a:t>
            </a:r>
            <a:endParaRPr lang="en-US" sz="15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07 · </a:t>
            </a:r>
            <a:r>
              <a:rPr lang="en-US" sz="1200" dirty="0">
                <a:solidFill>
                  <a:srgbClr val="2F5DA8"/>
                </a:solidFill>
                <a:latin typeface="IBM Plex Sans" pitchFamily="34" charset="0"/>
                <a:ea typeface="IBM Plex Sans" pitchFamily="34" charset="-122"/>
                <a:cs typeface="IBM Plex Sans" pitchFamily="34" charset="-120"/>
              </a:rPr>
              <a:t>Code : cellule [3], section 2 (tableau « EFFECTIF VS CAPACITÉ », fig01)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OM1 · PROFIL DES EFFECTIFS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 effectif ancien mais contractuel</a:t>
            </a:r>
            <a:endParaRPr lang="en-US" sz="3200" dirty="0"/>
          </a:p>
        </p:txBody>
      </p:sp>
      <p:sp>
        <p:nvSpPr>
          <p:cNvPr id="4" name="Shape 2"/>
          <p:cNvSpPr/>
          <p:nvPr/>
        </p:nvSpPr>
        <p:spPr>
          <a:xfrm>
            <a:off x="815975" y="185727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67 %</a:t>
            </a:r>
            <a:endParaRPr lang="en-US" sz="6000" dirty="0"/>
          </a:p>
        </p:txBody>
      </p:sp>
      <p:sp>
        <p:nvSpPr>
          <p:cNvPr id="6" name="Text 4"/>
          <p:cNvSpPr/>
          <p:nvPr/>
        </p:nvSpPr>
        <p:spPr>
          <a:xfrm>
            <a:off x="1022350" y="291455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 contrats courts chez les techniques</a:t>
            </a:r>
            <a:endParaRPr lang="en-US" sz="1500" dirty="0"/>
          </a:p>
        </p:txBody>
      </p:sp>
      <p:sp>
        <p:nvSpPr>
          <p:cNvPr id="7" name="Text 5"/>
          <p:cNvSpPr/>
          <p:nvPr/>
        </p:nvSpPr>
        <p:spPr>
          <a:xfrm>
            <a:off x="1022350" y="32320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CDD 490 + CIVP 484 sur 1 461 · CDI 485</a:t>
            </a:r>
            <a:endParaRPr lang="en-US" sz="1200" dirty="0"/>
          </a:p>
        </p:txBody>
      </p:sp>
      <p:sp>
        <p:nvSpPr>
          <p:cNvPr id="8" name="Shape 6"/>
          <p:cNvSpPr/>
          <p:nvPr/>
        </p:nvSpPr>
        <p:spPr>
          <a:xfrm>
            <a:off x="6200775" y="185727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9" name="Text 7"/>
          <p:cNvSpPr/>
          <p:nvPr/>
        </p:nvSpPr>
        <p:spPr>
          <a:xfrm>
            <a:off x="6407150" y="206365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4 %</a:t>
            </a:r>
            <a:endParaRPr lang="en-US" sz="6000" dirty="0"/>
          </a:p>
        </p:txBody>
      </p:sp>
      <p:sp>
        <p:nvSpPr>
          <p:cNvPr id="10" name="Text 8"/>
          <p:cNvSpPr/>
          <p:nvPr/>
        </p:nvSpPr>
        <p:spPr>
          <a:xfrm>
            <a:off x="6407150" y="291455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ont moins d'un an d'ancienneté</a:t>
            </a:r>
            <a:endParaRPr lang="en-US" sz="1500" dirty="0"/>
          </a:p>
        </p:txBody>
      </p:sp>
      <p:sp>
        <p:nvSpPr>
          <p:cNvPr id="11" name="Text 9"/>
          <p:cNvSpPr/>
          <p:nvPr/>
        </p:nvSpPr>
        <p:spPr>
          <a:xfrm>
            <a:off x="6407150" y="323205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55 sur 1 461 · médiane 10,9 ans</a:t>
            </a:r>
            <a:endParaRPr lang="en-US" sz="1200" dirty="0"/>
          </a:p>
        </p:txBody>
      </p:sp>
      <p:sp>
        <p:nvSpPr>
          <p:cNvPr id="12" name="Shape 10"/>
          <p:cNvSpPr/>
          <p:nvPr/>
        </p:nvSpPr>
        <p:spPr>
          <a:xfrm>
            <a:off x="815975" y="386129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13" name="Text 11"/>
          <p:cNvSpPr/>
          <p:nvPr/>
        </p:nvSpPr>
        <p:spPr>
          <a:xfrm>
            <a:off x="1022350" y="406767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50 / 50</a:t>
            </a:r>
            <a:endParaRPr lang="en-US" sz="6000" dirty="0"/>
          </a:p>
        </p:txBody>
      </p:sp>
      <p:sp>
        <p:nvSpPr>
          <p:cNvPr id="14" name="Text 12"/>
          <p:cNvSpPr/>
          <p:nvPr/>
        </p:nvSpPr>
        <p:spPr>
          <a:xfrm>
            <a:off x="1022350" y="491857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femmes / hommes</a:t>
            </a:r>
            <a:endParaRPr lang="en-US" sz="1500" dirty="0"/>
          </a:p>
        </p:txBody>
      </p:sp>
      <p:sp>
        <p:nvSpPr>
          <p:cNvPr id="15" name="Text 13"/>
          <p:cNvSpPr/>
          <p:nvPr/>
        </p:nvSpPr>
        <p:spPr>
          <a:xfrm>
            <a:off x="1022350" y="523607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731 F · 730 H (tech) · 630 F · 649 H (admin)</a:t>
            </a:r>
            <a:endParaRPr lang="en-US" sz="1200" dirty="0"/>
          </a:p>
        </p:txBody>
      </p:sp>
      <p:sp>
        <p:nvSpPr>
          <p:cNvPr id="16" name="Shape 14"/>
          <p:cNvSpPr/>
          <p:nvPr/>
        </p:nvSpPr>
        <p:spPr>
          <a:xfrm>
            <a:off x="6200775" y="3861296"/>
            <a:ext cx="5175250" cy="1794470"/>
          </a:xfrm>
          <a:prstGeom prst="roundRect">
            <a:avLst>
              <a:gd name="adj" fmla="val 5485"/>
            </a:avLst>
          </a:prstGeom>
          <a:solidFill>
            <a:srgbClr val="FDFCFA"/>
          </a:solidFill>
          <a:ln w="6350">
            <a:solidFill>
              <a:srgbClr val="DAD6CC"/>
            </a:solidFill>
            <a:prstDash val="solid"/>
          </a:ln>
        </p:spPr>
        <p:txBody>
          <a:bodyPr/>
          <a:lstStyle/>
          <a:p>
            <a:endParaRPr/>
          </a:p>
        </p:txBody>
      </p:sp>
      <p:sp>
        <p:nvSpPr>
          <p:cNvPr id="17" name="Text 15"/>
          <p:cNvSpPr/>
          <p:nvPr/>
        </p:nvSpPr>
        <p:spPr>
          <a:xfrm>
            <a:off x="6407150" y="4067671"/>
            <a:ext cx="490537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12 %</a:t>
            </a:r>
            <a:endParaRPr lang="en-US" sz="6000" dirty="0"/>
          </a:p>
        </p:txBody>
      </p:sp>
      <p:sp>
        <p:nvSpPr>
          <p:cNvPr id="18" name="Text 16"/>
          <p:cNvSpPr/>
          <p:nvPr/>
        </p:nvSpPr>
        <p:spPr>
          <a:xfrm>
            <a:off x="6407150" y="4918571"/>
            <a:ext cx="490537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recrutés parmi d'anciens vacataires</a:t>
            </a:r>
            <a:endParaRPr lang="en-US" sz="1500" dirty="0"/>
          </a:p>
        </p:txBody>
      </p:sp>
      <p:sp>
        <p:nvSpPr>
          <p:cNvPr id="19" name="Text 17"/>
          <p:cNvSpPr/>
          <p:nvPr/>
        </p:nvSpPr>
        <p:spPr>
          <a:xfrm>
            <a:off x="6407150" y="5236071"/>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174 sur 1 461 · canal le moins utilisé</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08 · </a:t>
            </a:r>
            <a:r>
              <a:rPr lang="en-US" sz="1200" dirty="0">
                <a:solidFill>
                  <a:srgbClr val="2F5DA8"/>
                </a:solidFill>
                <a:latin typeface="IBM Plex Sans" pitchFamily="34" charset="0"/>
                <a:ea typeface="IBM Plex Sans" pitchFamily="34" charset="-122"/>
                <a:cs typeface="IBM Plex Sans" pitchFamily="34" charset="-120"/>
              </a:rPr>
              <a:t>Code : cellule [3], section 2 · pourcentages : cellule [9] · genre : cellule [2]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OM2 · RÉMUNÉRATION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Des salaires homogènes, sans écart femmes-hommes</a:t>
            </a:r>
            <a:endParaRPr lang="en-US" sz="3200" dirty="0"/>
          </a:p>
        </p:txBody>
      </p:sp>
      <p:sp>
        <p:nvSpPr>
          <p:cNvPr id="4" name="Text 2"/>
          <p:cNvSpPr/>
          <p:nvPr/>
        </p:nvSpPr>
        <p:spPr>
          <a:xfrm>
            <a:off x="812800" y="1854101"/>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2 765</a:t>
            </a:r>
            <a:endParaRPr lang="en-US" sz="3200" dirty="0"/>
          </a:p>
        </p:txBody>
      </p:sp>
      <p:sp>
        <p:nvSpPr>
          <p:cNvPr id="5" name="Text 3"/>
          <p:cNvSpPr/>
          <p:nvPr/>
        </p:nvSpPr>
        <p:spPr>
          <a:xfrm>
            <a:off x="812800" y="2448421"/>
            <a:ext cx="523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salaire médian des permanents techniques (n = 744, Q1 2 456 – Q3 3 119)</a:t>
            </a:r>
            <a:endParaRPr lang="en-US" sz="1200" dirty="0"/>
          </a:p>
        </p:txBody>
      </p:sp>
      <p:sp>
        <p:nvSpPr>
          <p:cNvPr id="6" name="Text 4"/>
          <p:cNvSpPr/>
          <p:nvPr/>
        </p:nvSpPr>
        <p:spPr>
          <a:xfrm>
            <a:off x="812800" y="3078262"/>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2 973</a:t>
            </a:r>
            <a:endParaRPr lang="en-US" sz="3200" dirty="0"/>
          </a:p>
        </p:txBody>
      </p:sp>
      <p:sp>
        <p:nvSpPr>
          <p:cNvPr id="7" name="Text 5"/>
          <p:cNvSpPr/>
          <p:nvPr/>
        </p:nvSpPr>
        <p:spPr>
          <a:xfrm>
            <a:off x="812800" y="3672582"/>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salaire médian des administratifs (n = 1 279, de 902 à 5 000)</a:t>
            </a:r>
            <a:endParaRPr lang="en-US" sz="1200" dirty="0"/>
          </a:p>
        </p:txBody>
      </p:sp>
      <p:sp>
        <p:nvSpPr>
          <p:cNvPr id="8" name="Text 6"/>
          <p:cNvSpPr/>
          <p:nvPr/>
        </p:nvSpPr>
        <p:spPr>
          <a:xfrm>
            <a:off x="812800" y="4089102"/>
            <a:ext cx="52324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5DA8"/>
                </a:solidFill>
                <a:latin typeface="Space Grotesk" pitchFamily="34" charset="0"/>
                <a:ea typeface="Space Grotesk" pitchFamily="34" charset="-122"/>
                <a:cs typeface="Space Grotesk" pitchFamily="34" charset="-120"/>
              </a:rPr>
              <a:t>0,2 %</a:t>
            </a:r>
            <a:endParaRPr lang="en-US" sz="3200" dirty="0"/>
          </a:p>
        </p:txBody>
      </p:sp>
      <p:sp>
        <p:nvSpPr>
          <p:cNvPr id="9" name="Text 7"/>
          <p:cNvSpPr/>
          <p:nvPr/>
        </p:nvSpPr>
        <p:spPr>
          <a:xfrm>
            <a:off x="812800" y="4683423"/>
            <a:ext cx="52324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écart médian hommes-femmes chez les techniques (0,6 % chez les administratifs)</a:t>
            </a:r>
            <a:endParaRPr lang="en-US" sz="1200" dirty="0"/>
          </a:p>
        </p:txBody>
      </p:sp>
      <p:sp>
        <p:nvSpPr>
          <p:cNvPr id="10" name="Shape 8"/>
          <p:cNvSpPr/>
          <p:nvPr/>
        </p:nvSpPr>
        <p:spPr>
          <a:xfrm>
            <a:off x="6302375" y="1857276"/>
            <a:ext cx="5073650" cy="3330178"/>
          </a:xfrm>
          <a:prstGeom prst="roundRect">
            <a:avLst>
              <a:gd name="adj" fmla="val 2956"/>
            </a:avLst>
          </a:prstGeom>
          <a:solidFill>
            <a:srgbClr val="FDFCFA"/>
          </a:solidFill>
          <a:ln w="6350">
            <a:solidFill>
              <a:srgbClr val="DAD6CC"/>
            </a:solidFill>
            <a:prstDash val="solid"/>
          </a:ln>
        </p:spPr>
        <p:txBody>
          <a:bodyPr/>
          <a:lstStyle/>
          <a:p>
            <a:endParaRPr/>
          </a:p>
        </p:txBody>
      </p:sp>
      <p:sp>
        <p:nvSpPr>
          <p:cNvPr id="11" name="Text 9"/>
          <p:cNvSpPr/>
          <p:nvPr/>
        </p:nvSpPr>
        <p:spPr>
          <a:xfrm>
            <a:off x="6508750" y="2063651"/>
            <a:ext cx="48007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Coût mensuel estimé (unités monétaires)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21450" y="2431951"/>
          <a:ext cx="4648200" cy="1995486"/>
        </p:xfrm>
        <a:graphic>
          <a:graphicData uri="http://schemas.openxmlformats.org/drawingml/2006/table">
            <a:tbl>
              <a:tblPr/>
              <a:tblGrid>
                <a:gridCol w="3021330">
                  <a:extLst>
                    <a:ext uri="{9D8B030D-6E8A-4147-A177-3AD203B41FA5}">
                      <a16:colId xmlns:a16="http://schemas.microsoft.com/office/drawing/2014/main" val="20000"/>
                    </a:ext>
                  </a:extLst>
                </a:gridCol>
                <a:gridCol w="162687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Poste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tc>
                  <a:txBody>
                    <a:bodyPr/>
                    <a:lstStyle/>
                    <a:p>
                      <a:pPr marL="0" indent="0" algn="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Montant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BBAB9"/>
                      </a:solidFill>
                      <a:prstDash val="solid"/>
                      <a:round/>
                      <a:headEnd type="none" w="med" len="med"/>
                      <a:tailEnd type="none" w="med" len="med"/>
                    </a:lnL>
                    <a:lnR w="12700" cap="flat" cmpd="sng" algn="ctr">
                      <a:solidFill>
                        <a:srgbClr val="BBBAB9"/>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BBAB9"/>
                      </a:solidFill>
                      <a:prstDash val="solid"/>
                      <a:round/>
                      <a:headEnd type="none" w="med" len="med"/>
                      <a:tailEnd type="none" w="med" len="med"/>
                    </a:lnB>
                    <a:solidFill>
                      <a:srgbClr val="EAE9E8"/>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Salaires permanents techniques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2 075 982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BBAB9"/>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Salaires administratifs</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3 765 752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Vacataires (heures × 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2 629 935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Heures sup admin (heures × 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2 860 022</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7"/>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 11,3 M</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extLst>
                  <a:ext uri="{0D108BD9-81ED-4DB2-BD59-A6C34878D82A}">
                    <a16:rowId xmlns:a16="http://schemas.microsoft.com/office/drawing/2014/main" val="10005"/>
                  </a:ext>
                </a:extLst>
              </a:tr>
            </a:tbl>
          </a:graphicData>
        </a:graphic>
      </p:graphicFrame>
      <p:sp>
        <p:nvSpPr>
          <p:cNvPr id="13" name="Text 10"/>
          <p:cNvSpPr/>
          <p:nvPr/>
        </p:nvSpPr>
        <p:spPr>
          <a:xfrm>
            <a:off x="6508750" y="4554438"/>
            <a:ext cx="4800727" cy="5943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Hypothèse : HOURS et extra_hour mensuels, devise non précisée. Heures sup des techniques permanents (25 €/h) non chiffrées.</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09 · </a:t>
            </a:r>
            <a:r>
              <a:rPr lang="en-US" sz="1200" dirty="0">
                <a:solidFill>
                  <a:srgbClr val="2F5DA8"/>
                </a:solidFill>
                <a:latin typeface="IBM Plex Sans" pitchFamily="34" charset="0"/>
                <a:ea typeface="IBM Plex Sans" pitchFamily="34" charset="-122"/>
                <a:cs typeface="IBM Plex Sans" pitchFamily="34" charset="-120"/>
              </a:rPr>
              <a:t>Code : cellule [4], section 3 (coût mensuel) · médiane et écart admin : cellule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OM3 · ASSIDUITÉ</a:t>
            </a:r>
            <a:endParaRPr lang="en-US" sz="1200" dirty="0"/>
          </a:p>
        </p:txBody>
      </p:sp>
      <p:sp>
        <p:nvSpPr>
          <p:cNvPr id="3" name="Text 1"/>
          <p:cNvSpPr/>
          <p:nvPr/>
        </p:nvSpPr>
        <p:spPr>
          <a:xfrm>
            <a:off x="812800" y="11023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L'Administration travaille moins en moyenne, mais plus irrégulièrement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13781"/>
          <a:ext cx="10553700" cy="1796355"/>
        </p:xfrm>
        <a:graphic>
          <a:graphicData uri="http://schemas.openxmlformats.org/drawingml/2006/table">
            <a:tbl>
              <a:tblPr/>
              <a:tblGrid>
                <a:gridCol w="3271647">
                  <a:extLst>
                    <a:ext uri="{9D8B030D-6E8A-4147-A177-3AD203B41FA5}">
                      <a16:colId xmlns:a16="http://schemas.microsoft.com/office/drawing/2014/main" val="20000"/>
                    </a:ext>
                  </a:extLst>
                </a:gridCol>
                <a:gridCol w="2427351">
                  <a:extLst>
                    <a:ext uri="{9D8B030D-6E8A-4147-A177-3AD203B41FA5}">
                      <a16:colId xmlns:a16="http://schemas.microsoft.com/office/drawing/2014/main" val="20001"/>
                    </a:ext>
                  </a:extLst>
                </a:gridCol>
                <a:gridCol w="2427351">
                  <a:extLst>
                    <a:ext uri="{9D8B030D-6E8A-4147-A177-3AD203B41FA5}">
                      <a16:colId xmlns:a16="http://schemas.microsoft.com/office/drawing/2014/main" val="20002"/>
                    </a:ext>
                  </a:extLst>
                </a:gridCol>
                <a:gridCol w="2427351">
                  <a:extLst>
                    <a:ext uri="{9D8B030D-6E8A-4147-A177-3AD203B41FA5}">
                      <a16:colId xmlns:a16="http://schemas.microsoft.com/office/drawing/2014/main" val="20003"/>
                    </a:ext>
                  </a:extLst>
                </a:gridCol>
              </a:tblGrid>
              <a:tr h="359271">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Département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Heures / jour</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Arrivées après 8h30</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Jours &gt; 8 h</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Informatique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Télécom</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2,2 %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Communication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6,50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48,8 %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2,1 %</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Administration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5,99</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49,4 %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tc>
                  <a:txBody>
                    <a:bodyPr/>
                    <a:lstStyle/>
                    <a:p>
                      <a:pPr marL="0" indent="0" algn="r">
                        <a:lnSpc>
                          <a:spcPts val="1820"/>
                        </a:lnSpc>
                        <a:buNone/>
                      </a:pPr>
                      <a:r>
                        <a:rPr lang="en-US" sz="1300" dirty="0">
                          <a:solidFill>
                            <a:srgbClr val="14213D"/>
                          </a:solidFill>
                          <a:latin typeface="IBM Plex Sans" pitchFamily="34" charset="0"/>
                          <a:ea typeface="IBM Plex Sans" pitchFamily="34" charset="-122"/>
                          <a:cs typeface="IBM Plex Sans" pitchFamily="34" charset="-120"/>
                        </a:rPr>
                        <a:t>19,6 %</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AB0"/>
                      </a:solidFill>
                      <a:prstDash val="solid"/>
                      <a:round/>
                      <a:headEnd type="none" w="med" len="med"/>
                      <a:tailEnd type="none" w="med" len="med"/>
                    </a:lnL>
                    <a:lnR w="12700" cap="flat" cmpd="sng" algn="ctr">
                      <a:solidFill>
                        <a:srgbClr val="C8BAB0"/>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8BAB0"/>
                      </a:solidFill>
                      <a:prstDash val="solid"/>
                      <a:round/>
                      <a:headEnd type="none" w="med" len="med"/>
                      <a:tailEnd type="none" w="med" len="med"/>
                    </a:lnB>
                    <a:solidFill>
                      <a:srgbClr val="FBE9DC"/>
                    </a:solidFill>
                  </a:tcPr>
                </a:tc>
                <a:extLst>
                  <a:ext uri="{0D108BD9-81ED-4DB2-BD59-A6C34878D82A}">
                    <a16:rowId xmlns:a16="http://schemas.microsoft.com/office/drawing/2014/main" val="10004"/>
                  </a:ext>
                </a:extLst>
              </a:tr>
            </a:tbl>
          </a:graphicData>
        </a:graphic>
      </p:graphicFrame>
      <p:sp>
        <p:nvSpPr>
          <p:cNvPr id="5" name="Shape 2"/>
          <p:cNvSpPr/>
          <p:nvPr/>
        </p:nvSpPr>
        <p:spPr>
          <a:xfrm>
            <a:off x="815975" y="4418112"/>
            <a:ext cx="5175250" cy="788591"/>
          </a:xfrm>
          <a:prstGeom prst="roundRect">
            <a:avLst>
              <a:gd name="adj" fmla="val 12481"/>
            </a:avLst>
          </a:prstGeom>
          <a:solidFill>
            <a:srgbClr val="FDFCFA"/>
          </a:solidFill>
          <a:ln w="6350">
            <a:solidFill>
              <a:srgbClr val="DAD6CC"/>
            </a:solidFill>
            <a:prstDash val="solid"/>
          </a:ln>
        </p:spPr>
        <p:txBody>
          <a:bodyPr/>
          <a:lstStyle/>
          <a:p>
            <a:endParaRPr/>
          </a:p>
        </p:txBody>
      </p:sp>
      <p:sp>
        <p:nvSpPr>
          <p:cNvPr id="6" name="Text 3"/>
          <p:cNvSpPr/>
          <p:nvPr/>
        </p:nvSpPr>
        <p:spPr>
          <a:xfrm>
            <a:off x="996950" y="4599087"/>
            <a:ext cx="495769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Administration :</a:t>
            </a:r>
            <a:r>
              <a:rPr lang="en-US" sz="1200" dirty="0">
                <a:solidFill>
                  <a:srgbClr val="3E4A5C"/>
                </a:solidFill>
                <a:latin typeface="IBM Plex Sans" pitchFamily="34" charset="0"/>
                <a:ea typeface="IBM Plex Sans" pitchFamily="34" charset="-122"/>
                <a:cs typeface="IBM Plex Sans" pitchFamily="34" charset="-120"/>
              </a:rPr>
              <a:t> de moins d'une heure à plus de 12 h selon les jours, contre 4 à 9 h pour les techniques.</a:t>
            </a:r>
            <a:endParaRPr lang="en-US" sz="1200" dirty="0"/>
          </a:p>
        </p:txBody>
      </p:sp>
      <p:sp>
        <p:nvSpPr>
          <p:cNvPr id="7" name="Shape 4"/>
          <p:cNvSpPr/>
          <p:nvPr/>
        </p:nvSpPr>
        <p:spPr>
          <a:xfrm>
            <a:off x="6200775" y="4418112"/>
            <a:ext cx="5175250" cy="788591"/>
          </a:xfrm>
          <a:prstGeom prst="roundRect">
            <a:avLst>
              <a:gd name="adj" fmla="val 12481"/>
            </a:avLst>
          </a:prstGeom>
          <a:solidFill>
            <a:srgbClr val="FDFCFA"/>
          </a:solidFill>
          <a:ln w="6350">
            <a:solidFill>
              <a:srgbClr val="DAD6CC"/>
            </a:solidFill>
            <a:prstDash val="solid"/>
          </a:ln>
        </p:spPr>
        <p:txBody>
          <a:bodyPr/>
          <a:lstStyle/>
          <a:p>
            <a:endParaRPr/>
          </a:p>
        </p:txBody>
      </p:sp>
      <p:sp>
        <p:nvSpPr>
          <p:cNvPr id="8" name="Text 5"/>
          <p:cNvSpPr/>
          <p:nvPr/>
        </p:nvSpPr>
        <p:spPr>
          <a:xfrm>
            <a:off x="6381750" y="4599087"/>
            <a:ext cx="4957699"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E4A5C"/>
                </a:solidFill>
                <a:latin typeface="IBM Plex Sans" pitchFamily="34" charset="0"/>
                <a:ea typeface="IBM Plex Sans" pitchFamily="34" charset="-122"/>
                <a:cs typeface="IBM Plex Sans" pitchFamily="34" charset="-120"/>
              </a:rPr>
              <a:t>Attention :</a:t>
            </a:r>
            <a:r>
              <a:rPr lang="en-US" sz="1200" dirty="0">
                <a:solidFill>
                  <a:srgbClr val="3E4A5C"/>
                </a:solidFill>
                <a:latin typeface="IBM Plex Sans" pitchFamily="34" charset="0"/>
                <a:ea typeface="IBM Plex Sans" pitchFamily="34" charset="-122"/>
                <a:cs typeface="IBM Plex Sans" pitchFamily="34" charset="-120"/>
              </a:rPr>
              <a:t> les pointages admin s'arrêtent fin mars ; comparer les pôles sur janvier–mars.</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10 · </a:t>
            </a:r>
            <a:r>
              <a:rPr lang="en-US" sz="1200" dirty="0">
                <a:solidFill>
                  <a:srgbClr val="2F5DA8"/>
                </a:solidFill>
                <a:latin typeface="IBM Plex Sans" pitchFamily="34" charset="0"/>
                <a:ea typeface="IBM Plex Sans" pitchFamily="34" charset="-122"/>
                <a:cs typeface="IBM Plex Sans" pitchFamily="34" charset="-120"/>
              </a:rPr>
              <a:t>Code : cellule [5], section 4 (fig06, fig07) · dispersion : cellule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OM4 · FORMATION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Une formation massive, sans fil thématique</a:t>
            </a:r>
            <a:endParaRPr lang="en-US" sz="3200" dirty="0"/>
          </a:p>
        </p:txBody>
      </p:sp>
      <p:sp>
        <p:nvSpPr>
          <p:cNvPr id="4" name="Text 2"/>
          <p:cNvSpPr/>
          <p:nvPr/>
        </p:nvSpPr>
        <p:spPr>
          <a:xfrm>
            <a:off x="812800" y="1854101"/>
            <a:ext cx="3488233"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99 %</a:t>
            </a:r>
            <a:endParaRPr lang="en-US" sz="6000" dirty="0"/>
          </a:p>
        </p:txBody>
      </p:sp>
      <p:sp>
        <p:nvSpPr>
          <p:cNvPr id="5" name="Text 3"/>
          <p:cNvSpPr/>
          <p:nvPr/>
        </p:nvSpPr>
        <p:spPr>
          <a:xfrm>
            <a:off x="812800" y="2679601"/>
            <a:ext cx="348823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des techniques formés</a:t>
            </a:r>
            <a:endParaRPr lang="en-US" sz="1500" dirty="0"/>
          </a:p>
        </p:txBody>
      </p:sp>
      <p:sp>
        <p:nvSpPr>
          <p:cNvPr id="6" name="Text 4"/>
          <p:cNvSpPr/>
          <p:nvPr/>
        </p:nvSpPr>
        <p:spPr>
          <a:xfrm>
            <a:off x="4402634" y="1854101"/>
            <a:ext cx="3488335"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18 685</a:t>
            </a:r>
            <a:endParaRPr lang="en-US" sz="6000" dirty="0"/>
          </a:p>
        </p:txBody>
      </p:sp>
      <p:sp>
        <p:nvSpPr>
          <p:cNvPr id="7" name="Text 5"/>
          <p:cNvSpPr/>
          <p:nvPr/>
        </p:nvSpPr>
        <p:spPr>
          <a:xfrm>
            <a:off x="4402634" y="2679601"/>
            <a:ext cx="348833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inscriptions à des cours</a:t>
            </a:r>
            <a:endParaRPr lang="en-US" sz="1500" dirty="0"/>
          </a:p>
        </p:txBody>
      </p:sp>
      <p:sp>
        <p:nvSpPr>
          <p:cNvPr id="8" name="Text 6"/>
          <p:cNvSpPr/>
          <p:nvPr/>
        </p:nvSpPr>
        <p:spPr>
          <a:xfrm>
            <a:off x="7992566" y="1854101"/>
            <a:ext cx="3488233"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13</a:t>
            </a:r>
            <a:endParaRPr lang="en-US" sz="6000" dirty="0"/>
          </a:p>
        </p:txBody>
      </p:sp>
      <p:sp>
        <p:nvSpPr>
          <p:cNvPr id="9" name="Text 7"/>
          <p:cNvSpPr/>
          <p:nvPr/>
        </p:nvSpPr>
        <p:spPr>
          <a:xfrm>
            <a:off x="7992566" y="2679601"/>
            <a:ext cx="348823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cours par employé (médiane)</a:t>
            </a:r>
            <a:endParaRPr lang="en-US" sz="1500" dirty="0"/>
          </a:p>
        </p:txBody>
      </p:sp>
      <p:sp>
        <p:nvSpPr>
          <p:cNvPr id="10" name="Text 8"/>
          <p:cNvSpPr/>
          <p:nvPr/>
        </p:nvSpPr>
        <p:spPr>
          <a:xfrm>
            <a:off x="812800" y="325110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Niveau des cours suivis</a:t>
            </a:r>
            <a:endParaRPr lang="en-US" sz="1200" dirty="0"/>
          </a:p>
        </p:txBody>
      </p:sp>
      <p:sp>
        <p:nvSpPr>
          <p:cNvPr id="11" name="Shape 9"/>
          <p:cNvSpPr/>
          <p:nvPr/>
        </p:nvSpPr>
        <p:spPr>
          <a:xfrm>
            <a:off x="812800" y="3540621"/>
            <a:ext cx="4330700" cy="457200"/>
          </a:xfrm>
          <a:prstGeom prst="rect">
            <a:avLst/>
          </a:prstGeom>
          <a:solidFill>
            <a:srgbClr val="14213D"/>
          </a:solidFill>
          <a:ln/>
        </p:spPr>
        <p:txBody>
          <a:bodyPr/>
          <a:lstStyle/>
          <a:p>
            <a:endParaRPr/>
          </a:p>
        </p:txBody>
      </p:sp>
      <p:sp>
        <p:nvSpPr>
          <p:cNvPr id="12" name="Text 10"/>
          <p:cNvSpPr/>
          <p:nvPr/>
        </p:nvSpPr>
        <p:spPr>
          <a:xfrm>
            <a:off x="914400" y="3662561"/>
            <a:ext cx="10827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6F2"/>
                </a:solidFill>
                <a:latin typeface="IBM Plex Sans" pitchFamily="34" charset="0"/>
                <a:ea typeface="IBM Plex Sans" pitchFamily="34" charset="-122"/>
                <a:cs typeface="IBM Plex Sans" pitchFamily="34" charset="-120"/>
              </a:rPr>
              <a:t>Débutant 41 %</a:t>
            </a:r>
            <a:endParaRPr lang="en-US" sz="1200" dirty="0"/>
          </a:p>
        </p:txBody>
      </p:sp>
      <p:sp>
        <p:nvSpPr>
          <p:cNvPr id="13" name="Shape 11"/>
          <p:cNvSpPr/>
          <p:nvPr/>
        </p:nvSpPr>
        <p:spPr>
          <a:xfrm>
            <a:off x="5143500" y="3540621"/>
            <a:ext cx="2959100" cy="457200"/>
          </a:xfrm>
          <a:prstGeom prst="rect">
            <a:avLst/>
          </a:prstGeom>
          <a:solidFill>
            <a:srgbClr val="2F5DA8"/>
          </a:solidFill>
          <a:ln/>
        </p:spPr>
        <p:txBody>
          <a:bodyPr/>
          <a:lstStyle/>
          <a:p>
            <a:endParaRPr/>
          </a:p>
        </p:txBody>
      </p:sp>
      <p:sp>
        <p:nvSpPr>
          <p:cNvPr id="14" name="Text 12"/>
          <p:cNvSpPr/>
          <p:nvPr/>
        </p:nvSpPr>
        <p:spPr>
          <a:xfrm>
            <a:off x="5245100" y="3662561"/>
            <a:ext cx="9425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7F6F2"/>
                </a:solidFill>
                <a:latin typeface="IBM Plex Sans" pitchFamily="34" charset="0"/>
                <a:ea typeface="IBM Plex Sans" pitchFamily="34" charset="-122"/>
                <a:cs typeface="IBM Plex Sans" pitchFamily="34" charset="-120"/>
              </a:rPr>
              <a:t>Avancé 28 %</a:t>
            </a:r>
            <a:endParaRPr lang="en-US" sz="1200" dirty="0"/>
          </a:p>
        </p:txBody>
      </p:sp>
      <p:sp>
        <p:nvSpPr>
          <p:cNvPr id="15" name="Shape 13"/>
          <p:cNvSpPr/>
          <p:nvPr/>
        </p:nvSpPr>
        <p:spPr>
          <a:xfrm>
            <a:off x="8102600" y="3540621"/>
            <a:ext cx="2533650" cy="457200"/>
          </a:xfrm>
          <a:prstGeom prst="rect">
            <a:avLst/>
          </a:prstGeom>
          <a:solidFill>
            <a:srgbClr val="8FAEDD"/>
          </a:solidFill>
          <a:ln/>
        </p:spPr>
        <p:txBody>
          <a:bodyPr/>
          <a:lstStyle/>
          <a:p>
            <a:endParaRPr/>
          </a:p>
        </p:txBody>
      </p:sp>
      <p:sp>
        <p:nvSpPr>
          <p:cNvPr id="16" name="Text 14"/>
          <p:cNvSpPr/>
          <p:nvPr/>
        </p:nvSpPr>
        <p:spPr>
          <a:xfrm>
            <a:off x="8204200" y="3662561"/>
            <a:ext cx="13884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IBM Plex Sans" pitchFamily="34" charset="0"/>
                <a:ea typeface="IBM Plex Sans" pitchFamily="34" charset="-122"/>
                <a:cs typeface="IBM Plex Sans" pitchFamily="34" charset="-120"/>
              </a:rPr>
              <a:t>Intermédiaire 24 %</a:t>
            </a:r>
            <a:endParaRPr lang="en-US" sz="1200" dirty="0"/>
          </a:p>
        </p:txBody>
      </p:sp>
      <p:sp>
        <p:nvSpPr>
          <p:cNvPr id="17" name="Shape 15"/>
          <p:cNvSpPr/>
          <p:nvPr/>
        </p:nvSpPr>
        <p:spPr>
          <a:xfrm>
            <a:off x="10636250" y="3540621"/>
            <a:ext cx="527050" cy="457200"/>
          </a:xfrm>
          <a:prstGeom prst="rect">
            <a:avLst/>
          </a:prstGeom>
          <a:solidFill>
            <a:srgbClr val="C9D6EC"/>
          </a:solidFill>
          <a:ln/>
        </p:spPr>
        <p:txBody>
          <a:bodyPr/>
          <a:lstStyle/>
          <a:p>
            <a:endParaRPr/>
          </a:p>
        </p:txBody>
      </p:sp>
      <p:sp>
        <p:nvSpPr>
          <p:cNvPr id="18" name="Shape 16"/>
          <p:cNvSpPr/>
          <p:nvPr/>
        </p:nvSpPr>
        <p:spPr>
          <a:xfrm>
            <a:off x="11163300" y="3540621"/>
            <a:ext cx="215900" cy="457200"/>
          </a:xfrm>
          <a:prstGeom prst="rect">
            <a:avLst/>
          </a:prstGeom>
          <a:solidFill>
            <a:srgbClr val="E4E1D8"/>
          </a:solidFill>
          <a:ln/>
        </p:spPr>
        <p:txBody>
          <a:bodyPr/>
          <a:lstStyle/>
          <a:p>
            <a:endParaRPr/>
          </a:p>
        </p:txBody>
      </p:sp>
      <p:sp>
        <p:nvSpPr>
          <p:cNvPr id="19" name="Text 17"/>
          <p:cNvSpPr/>
          <p:nvPr/>
        </p:nvSpPr>
        <p:spPr>
          <a:xfrm>
            <a:off x="812800" y="407402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5C"/>
                </a:solidFill>
                <a:latin typeface="IBM Plex Sans" pitchFamily="34" charset="0"/>
                <a:ea typeface="IBM Plex Sans" pitchFamily="34" charset="-122"/>
                <a:cs typeface="IBM Plex Sans" pitchFamily="34" charset="-120"/>
              </a:rPr>
              <a:t>Puis « Conversant » 5 % et non calibré 1 %. Cours le plus suivi : 46 inscriptions sur 18 685, soit 0,25 %.</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11 · </a:t>
            </a:r>
            <a:r>
              <a:rPr lang="en-US" sz="1200" dirty="0">
                <a:solidFill>
                  <a:srgbClr val="2F5DA8"/>
                </a:solidFill>
                <a:latin typeface="IBM Plex Sans" pitchFamily="34" charset="0"/>
                <a:ea typeface="IBM Plex Sans" pitchFamily="34" charset="-122"/>
                <a:cs typeface="IBM Plex Sans" pitchFamily="34" charset="-120"/>
              </a:rPr>
              <a:t>Code : cellule [6], section 5 · pourcentages et 0,25 % : cellule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OM5 · CONGÉS ET DISPONIBILITÉ</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Des congés maîtrisés, vus par le dernier congé</a:t>
            </a:r>
            <a:endParaRPr lang="en-US" sz="3200" dirty="0"/>
          </a:p>
        </p:txBody>
      </p:sp>
      <p:sp>
        <p:nvSpPr>
          <p:cNvPr id="4" name="Text 2"/>
          <p:cNvSpPr/>
          <p:nvPr/>
        </p:nvSpPr>
        <p:spPr>
          <a:xfrm>
            <a:off x="812800" y="1854101"/>
            <a:ext cx="5232400"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2F5DA8"/>
                </a:solidFill>
                <a:latin typeface="Space Grotesk" pitchFamily="34" charset="0"/>
                <a:ea typeface="Space Grotesk" pitchFamily="34" charset="-122"/>
                <a:cs typeface="Space Grotesk" pitchFamily="34" charset="-120"/>
              </a:rPr>
              <a:t>50 %</a:t>
            </a:r>
            <a:endParaRPr lang="en-US" sz="6000" dirty="0"/>
          </a:p>
        </p:txBody>
      </p:sp>
      <p:sp>
        <p:nvSpPr>
          <p:cNvPr id="5" name="Text 3"/>
          <p:cNvSpPr/>
          <p:nvPr/>
        </p:nvSpPr>
        <p:spPr>
          <a:xfrm>
            <a:off x="812800" y="2781201"/>
            <a:ext cx="52324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IBM Plex Sans" pitchFamily="34" charset="0"/>
                <a:ea typeface="IBM Plex Sans" pitchFamily="34" charset="-122"/>
                <a:cs typeface="IBM Plex Sans" pitchFamily="34" charset="-120"/>
              </a:rPr>
              <a:t>des droits consommés : 15,1 jours sur 30 en moyenne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187601"/>
          <a:ext cx="5067300" cy="1662905"/>
        </p:xfrm>
        <a:graphic>
          <a:graphicData uri="http://schemas.openxmlformats.org/drawingml/2006/table">
            <a:tbl>
              <a:tblPr/>
              <a:tblGrid>
                <a:gridCol w="3040380">
                  <a:extLst>
                    <a:ext uri="{9D8B030D-6E8A-4147-A177-3AD203B41FA5}">
                      <a16:colId xmlns:a16="http://schemas.microsoft.com/office/drawing/2014/main" val="20000"/>
                    </a:ext>
                  </a:extLst>
                </a:gridCol>
                <a:gridCol w="2026920">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Dernier congé (normalisé)</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marL="0" indent="0" algn="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Employés</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Sans solde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718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Mission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698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Ordinaire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675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Maladie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gn="r">
                        <a:lnSpc>
                          <a:spcPts val="1680"/>
                        </a:lnSpc>
                        <a:buNone/>
                      </a:pPr>
                      <a:r>
                        <a:rPr lang="en-US" sz="1200" dirty="0">
                          <a:solidFill>
                            <a:srgbClr val="14213D"/>
                          </a:solidFill>
                          <a:latin typeface="IBM Plex Sans" pitchFamily="34" charset="0"/>
                          <a:ea typeface="IBM Plex Sans" pitchFamily="34" charset="-122"/>
                          <a:cs typeface="IBM Plex Sans" pitchFamily="34" charset="-120"/>
                        </a:rPr>
                        <a:t>649</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12 · </a:t>
            </a:r>
            <a:r>
              <a:rPr lang="en-US" sz="1200" dirty="0">
                <a:solidFill>
                  <a:srgbClr val="2F5DA8"/>
                </a:solidFill>
                <a:latin typeface="IBM Plex Sans" pitchFamily="34" charset="0"/>
                <a:ea typeface="IBM Plex Sans" pitchFamily="34" charset="-122"/>
                <a:cs typeface="IBM Plex Sans" pitchFamily="34" charset="-120"/>
              </a:rPr>
              <a:t>Code : cellule [7], section 6 (« FINS DE CONTRAT ») · CDI datés : cellule [11]</a:t>
            </a:r>
            <a:endParaRPr lang="en-US" sz="1200" dirty="0"/>
          </a:p>
        </p:txBody>
      </p:sp>
      <p:sp>
        <p:nvSpPr>
          <p:cNvPr id="16" name="TextBox 15"/>
          <p:cNvSpPr txBox="1"/>
          <p:nvPr/>
        </p:nvSpPr>
        <p:spPr>
          <a:xfrm>
            <a:off x="6300216" y="1856232"/>
            <a:ext cx="5230368"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14,8 j</a:t>
            </a:r>
          </a:p>
        </p:txBody>
      </p:sp>
      <p:sp>
        <p:nvSpPr>
          <p:cNvPr id="17" name="TextBox 16"/>
          <p:cNvSpPr txBox="1"/>
          <p:nvPr/>
        </p:nvSpPr>
        <p:spPr>
          <a:xfrm>
            <a:off x="6300216" y="2779776"/>
            <a:ext cx="5230368" cy="292608"/>
          </a:xfrm>
          <a:prstGeom prst="rect">
            <a:avLst/>
          </a:prstGeom>
          <a:noFill/>
        </p:spPr>
        <p:txBody>
          <a:bodyPr wrap="square" lIns="0" tIns="0" rIns="0" bIns="0">
            <a:spAutoFit/>
          </a:bodyPr>
          <a:lstStyle/>
          <a:p>
            <a:pPr>
              <a:lnSpc>
                <a:spcPts val="2100"/>
              </a:lnSpc>
            </a:pPr>
            <a:r>
              <a:rPr sz="1500" b="0">
                <a:solidFill>
                  <a:srgbClr val="14213D"/>
                </a:solidFill>
                <a:latin typeface="IBM Plex Sans"/>
              </a:rPr>
              <a:t>de solde moyen restant par employé</a:t>
            </a:r>
          </a:p>
        </p:txBody>
      </p:sp>
      <p:sp>
        <p:nvSpPr>
          <p:cNvPr id="18" name="TextBox 17"/>
          <p:cNvSpPr txBox="1"/>
          <p:nvPr/>
        </p:nvSpPr>
        <p:spPr>
          <a:xfrm>
            <a:off x="6300216" y="3474720"/>
            <a:ext cx="5230368"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24 %</a:t>
            </a:r>
          </a:p>
        </p:txBody>
      </p:sp>
      <p:sp>
        <p:nvSpPr>
          <p:cNvPr id="19" name="TextBox 18"/>
          <p:cNvSpPr txBox="1"/>
          <p:nvPr/>
        </p:nvSpPr>
        <p:spPr>
          <a:xfrm>
            <a:off x="6300216" y="4398264"/>
            <a:ext cx="5230368" cy="292608"/>
          </a:xfrm>
          <a:prstGeom prst="rect">
            <a:avLst/>
          </a:prstGeom>
          <a:noFill/>
        </p:spPr>
        <p:txBody>
          <a:bodyPr wrap="square" lIns="0" tIns="0" rIns="0" bIns="0">
            <a:spAutoFit/>
          </a:bodyPr>
          <a:lstStyle/>
          <a:p>
            <a:pPr>
              <a:lnSpc>
                <a:spcPts val="2100"/>
              </a:lnSpc>
            </a:pPr>
            <a:r>
              <a:rPr sz="1500" b="0">
                <a:solidFill>
                  <a:srgbClr val="14213D"/>
                </a:solidFill>
                <a:latin typeface="IBM Plex Sans"/>
              </a:rPr>
              <a:t>ont « maladie » pour dernier congé</a:t>
            </a:r>
          </a:p>
        </p:txBody>
      </p:sp>
      <p:sp>
        <p:nvSpPr>
          <p:cNvPr id="20" name="TextBox 19"/>
          <p:cNvSpPr txBox="1"/>
          <p:nvPr/>
        </p:nvSpPr>
        <p:spPr>
          <a:xfrm>
            <a:off x="6300216" y="4800600"/>
            <a:ext cx="5065776" cy="685800"/>
          </a:xfrm>
          <a:prstGeom prst="rect">
            <a:avLst/>
          </a:prstGeom>
          <a:noFill/>
        </p:spPr>
        <p:txBody>
          <a:bodyPr wrap="square" lIns="0" tIns="0" rIns="0" bIns="0">
            <a:spAutoFit/>
          </a:bodyPr>
          <a:lstStyle/>
          <a:p>
            <a:pPr>
              <a:lnSpc>
                <a:spcPts val="1700"/>
              </a:lnSpc>
            </a:pPr>
            <a:r>
              <a:rPr sz="1200" b="1">
                <a:solidFill>
                  <a:srgbClr val="3E4A5C"/>
                </a:solidFill>
                <a:latin typeface="IBM Plex Sans"/>
              </a:rPr>
              <a:t>Seul proxy d'absentéisme : le fichier ne donne que le dernier congé, sans date ni durée, donc aucun jour perdu mesurable.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OM6 · CONTRATS ET ÉCHÉANCES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Des échéances à piloter, sur des dates peu fiables</a:t>
            </a:r>
          </a:p>
        </p:txBody>
      </p:sp>
      <p:sp>
        <p:nvSpPr>
          <p:cNvPr id="4" name="Rounded Rectangle 3"/>
          <p:cNvSpPr/>
          <p:nvPr/>
        </p:nvSpPr>
        <p:spPr>
          <a:xfrm>
            <a:off x="813816" y="1856232"/>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 name="TextBox 4"/>
          <p:cNvSpPr txBox="1"/>
          <p:nvPr/>
        </p:nvSpPr>
        <p:spPr>
          <a:xfrm>
            <a:off x="1024128" y="2066544"/>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350</a:t>
            </a:r>
          </a:p>
        </p:txBody>
      </p:sp>
      <p:sp>
        <p:nvSpPr>
          <p:cNvPr id="6" name="TextBox 5"/>
          <p:cNvSpPr txBox="1"/>
          <p:nvPr/>
        </p:nvSpPr>
        <p:spPr>
          <a:xfrm>
            <a:off x="1024128" y="2916936"/>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échéances réelles en 2023</a:t>
            </a:r>
          </a:p>
        </p:txBody>
      </p:sp>
      <p:sp>
        <p:nvSpPr>
          <p:cNvPr id="7" name="TextBox 6"/>
          <p:cNvSpPr txBox="1"/>
          <p:nvPr/>
        </p:nvSpPr>
        <p:spPr>
          <a:xfrm>
            <a:off x="1024128" y="3227832"/>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soit 12,8 % des 2 740 collaborateurs : à piloter en priorité</a:t>
            </a:r>
          </a:p>
        </p:txBody>
      </p:sp>
      <p:sp>
        <p:nvSpPr>
          <p:cNvPr id="8" name="Rounded Rectangle 7"/>
          <p:cNvSpPr/>
          <p:nvPr/>
        </p:nvSpPr>
        <p:spPr>
          <a:xfrm>
            <a:off x="6199632" y="1856232"/>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9" name="TextBox 8"/>
          <p:cNvSpPr txBox="1"/>
          <p:nvPr/>
        </p:nvSpPr>
        <p:spPr>
          <a:xfrm>
            <a:off x="6409944" y="2066544"/>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663</a:t>
            </a:r>
          </a:p>
        </p:txBody>
      </p:sp>
      <p:sp>
        <p:nvSpPr>
          <p:cNvPr id="10" name="TextBox 9"/>
          <p:cNvSpPr txBox="1"/>
          <p:nvPr/>
        </p:nvSpPr>
        <p:spPr>
          <a:xfrm>
            <a:off x="6409944" y="2916936"/>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contrats échus avant 2023, pointés en 2023</a:t>
            </a:r>
          </a:p>
        </p:txBody>
      </p:sp>
      <p:sp>
        <p:nvSpPr>
          <p:cNvPr id="11" name="TextBox 10"/>
          <p:cNvSpPr txBox="1"/>
          <p:nvPr/>
        </p:nvSpPr>
        <p:spPr>
          <a:xfrm>
            <a:off x="6409944" y="3227832"/>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sur 1 013 dates de fin avant fin 2023 : dates non fiables</a:t>
            </a:r>
          </a:p>
        </p:txBody>
      </p:sp>
      <p:sp>
        <p:nvSpPr>
          <p:cNvPr id="12" name="Rounded Rectangle 11"/>
          <p:cNvSpPr/>
          <p:nvPr/>
        </p:nvSpPr>
        <p:spPr>
          <a:xfrm>
            <a:off x="813816" y="3858768"/>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3" name="TextBox 12"/>
          <p:cNvSpPr txBox="1"/>
          <p:nvPr/>
        </p:nvSpPr>
        <p:spPr>
          <a:xfrm>
            <a:off x="1024128" y="4069080"/>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468</a:t>
            </a:r>
          </a:p>
        </p:txBody>
      </p:sp>
      <p:sp>
        <p:nvSpPr>
          <p:cNvPr id="14" name="TextBox 13"/>
          <p:cNvSpPr txBox="1"/>
          <p:nvPr/>
        </p:nvSpPr>
        <p:spPr>
          <a:xfrm>
            <a:off x="1024128" y="4919472"/>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CDI portant une date de fin</a:t>
            </a:r>
          </a:p>
        </p:txBody>
      </p:sp>
      <p:sp>
        <p:nvSpPr>
          <p:cNvPr id="15" name="TextBox 14"/>
          <p:cNvSpPr txBox="1"/>
          <p:nvPr/>
        </p:nvSpPr>
        <p:spPr>
          <a:xfrm>
            <a:off x="1024128" y="5230368"/>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anomalie à corriger à la source</a:t>
            </a:r>
          </a:p>
        </p:txBody>
      </p:sp>
      <p:sp>
        <p:nvSpPr>
          <p:cNvPr id="16" name="Rounded Rectangle 15"/>
          <p:cNvSpPr/>
          <p:nvPr/>
        </p:nvSpPr>
        <p:spPr>
          <a:xfrm>
            <a:off x="6199632" y="3858768"/>
            <a:ext cx="5175504" cy="1792224"/>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7" name="TextBox 16"/>
          <p:cNvSpPr txBox="1"/>
          <p:nvPr/>
        </p:nvSpPr>
        <p:spPr>
          <a:xfrm>
            <a:off x="6409944" y="4069080"/>
            <a:ext cx="4754880" cy="822960"/>
          </a:xfrm>
          <a:prstGeom prst="rect">
            <a:avLst/>
          </a:prstGeom>
          <a:noFill/>
        </p:spPr>
        <p:txBody>
          <a:bodyPr wrap="square" lIns="0" tIns="0" rIns="0" bIns="0">
            <a:spAutoFit/>
          </a:bodyPr>
          <a:lstStyle/>
          <a:p>
            <a:pPr>
              <a:lnSpc>
                <a:spcPts val="6600"/>
              </a:lnSpc>
            </a:pPr>
            <a:r>
              <a:rPr sz="6000" b="1">
                <a:solidFill>
                  <a:srgbClr val="2F5DA8"/>
                </a:solidFill>
                <a:latin typeface="Space Grotesk"/>
              </a:rPr>
              <a:t>221</a:t>
            </a:r>
          </a:p>
        </p:txBody>
      </p:sp>
      <p:sp>
        <p:nvSpPr>
          <p:cNvPr id="18" name="TextBox 17"/>
          <p:cNvSpPr txBox="1"/>
          <p:nvPr/>
        </p:nvSpPr>
        <p:spPr>
          <a:xfrm>
            <a:off x="6409944" y="4919472"/>
            <a:ext cx="4754880" cy="292608"/>
          </a:xfrm>
          <a:prstGeom prst="rect">
            <a:avLst/>
          </a:prstGeom>
          <a:noFill/>
        </p:spPr>
        <p:txBody>
          <a:bodyPr wrap="square" lIns="0" tIns="0" rIns="0" bIns="0">
            <a:spAutoFit/>
          </a:bodyPr>
          <a:lstStyle/>
          <a:p>
            <a:pPr>
              <a:lnSpc>
                <a:spcPts val="2100"/>
              </a:lnSpc>
            </a:pPr>
            <a:r>
              <a:rPr sz="1500" b="1">
                <a:solidFill>
                  <a:srgbClr val="14213D"/>
                </a:solidFill>
                <a:latin typeface="IBM Plex Sans"/>
              </a:rPr>
              <a:t>vacataires déclarés en CDI</a:t>
            </a:r>
          </a:p>
        </p:txBody>
      </p:sp>
      <p:sp>
        <p:nvSpPr>
          <p:cNvPr id="19" name="TextBox 18"/>
          <p:cNvSpPr txBox="1"/>
          <p:nvPr/>
        </p:nvSpPr>
        <p:spPr>
          <a:xfrm>
            <a:off x="6409944" y="5230368"/>
            <a:ext cx="4754880" cy="237744"/>
          </a:xfrm>
          <a:prstGeom prst="rect">
            <a:avLst/>
          </a:prstGeom>
          <a:noFill/>
        </p:spPr>
        <p:txBody>
          <a:bodyPr wrap="square" lIns="0" tIns="0" rIns="0" bIns="0">
            <a:spAutoFit/>
          </a:bodyPr>
          <a:lstStyle/>
          <a:p>
            <a:pPr>
              <a:lnSpc>
                <a:spcPts val="1700"/>
              </a:lnSpc>
            </a:pPr>
            <a:r>
              <a:rPr sz="1200" b="0">
                <a:solidFill>
                  <a:srgbClr val="3E4A5C"/>
                </a:solidFill>
                <a:latin typeface="IBM Plex Sans"/>
              </a:rPr>
              <a:t>statut incohérent à corriger à la source</a:t>
            </a:r>
          </a:p>
        </p:txBody>
      </p:sp>
      <p:sp>
        <p:nvSpPr>
          <p:cNvPr id="20" name="TextBox 19"/>
          <p:cNvSpPr txBox="1"/>
          <p:nvPr/>
        </p:nvSpPr>
        <p:spPr>
          <a:xfrm>
            <a:off x="813816" y="5760720"/>
            <a:ext cx="10515600" cy="274320"/>
          </a:xfrm>
          <a:prstGeom prst="rect">
            <a:avLst/>
          </a:prstGeom>
          <a:noFill/>
        </p:spPr>
        <p:txBody>
          <a:bodyPr wrap="square" lIns="0" tIns="0" rIns="0" bIns="0">
            <a:spAutoFit/>
          </a:bodyPr>
          <a:lstStyle/>
          <a:p>
            <a:pPr>
              <a:lnSpc>
                <a:spcPts val="1700"/>
              </a:lnSpc>
            </a:pPr>
            <a:r>
              <a:rPr sz="1200" b="1">
                <a:solidFill>
                  <a:srgbClr val="3E4A5C"/>
                </a:solidFill>
                <a:latin typeface="IBM Plex Sans"/>
              </a:rPr>
              <a:t>Taux de rotation (turnover) : </a:t>
            </a:r>
            <a:r>
              <a:rPr sz="1200" b="0">
                <a:solidFill>
                  <a:srgbClr val="3E4A5C"/>
                </a:solidFill>
                <a:latin typeface="IBM Plex Sans"/>
              </a:rPr>
              <a:t>non mesurable aujourd’hui, aucun historique de sorties effectives.</a:t>
            </a:r>
          </a:p>
        </p:txBody>
      </p:sp>
      <p:sp>
        <p:nvSpPr>
          <p:cNvPr id="21"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13 · </a:t>
            </a:r>
            <a:r>
              <a:rPr sz="1200" b="0">
                <a:solidFill>
                  <a:srgbClr val="2F5DA8"/>
                </a:solidFill>
                <a:latin typeface="IBM Plex Sans"/>
              </a:rPr>
              <a:t>Code : cellule [7], section 6 (« FINS DE CONTRAT ») · CDI datés : cellule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OBJECTIFS MÉTIER</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Six objectifs, chacun mesuré par des KPI</a:t>
            </a:r>
            <a:endParaRPr lang="en-US" sz="3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14 · </a:t>
            </a:r>
            <a:r>
              <a:rPr lang="en-US" sz="1200" dirty="0">
                <a:solidFill>
                  <a:srgbClr val="2F5DA8"/>
                </a:solidFill>
                <a:latin typeface="IBM Plex Sans" pitchFamily="34" charset="0"/>
                <a:ea typeface="IBM Plex Sans" pitchFamily="34" charset="-122"/>
                <a:cs typeface="IBM Plex Sans" pitchFamily="34" charset="-120"/>
              </a:rPr>
              <a:t>Code : cellule markdown d'introduction · titres des sections 2 à 6</a:t>
            </a:r>
            <a:endParaRPr lang="en-US" sz="1200" dirty="0"/>
          </a:p>
        </p:txBody>
      </p:sp>
      <p:sp>
        <p:nvSpPr>
          <p:cNvPr id="30" name="Card OM1"/>
          <p:cNvSpPr/>
          <p:nvPr/>
        </p:nvSpPr>
        <p:spPr>
          <a:xfrm>
            <a:off x="813816"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31" name="TextBox 30"/>
          <p:cNvSpPr txBox="1"/>
          <p:nvPr/>
        </p:nvSpPr>
        <p:spPr>
          <a:xfrm>
            <a:off x="1014984"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OM1</a:t>
            </a:r>
          </a:p>
        </p:txBody>
      </p:sp>
      <p:sp>
        <p:nvSpPr>
          <p:cNvPr id="32" name="TextBox 31"/>
          <p:cNvSpPr txBox="1"/>
          <p:nvPr/>
        </p:nvSpPr>
        <p:spPr>
          <a:xfrm>
            <a:off x="1014984"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Aligner effectif et capacité</a:t>
            </a:r>
          </a:p>
        </p:txBody>
      </p:sp>
      <p:sp>
        <p:nvSpPr>
          <p:cNvPr id="33" name="TextBox 32"/>
          <p:cNvSpPr txBox="1"/>
          <p:nvPr/>
        </p:nvSpPr>
        <p:spPr>
          <a:xfrm>
            <a:off x="1014984"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L'effectif colle-t-il à la capacité des départements ?</a:t>
            </a:r>
          </a:p>
        </p:txBody>
      </p:sp>
      <p:sp>
        <p:nvSpPr>
          <p:cNvPr id="34" name="TextBox 33"/>
          <p:cNvSpPr txBox="1"/>
          <p:nvPr/>
        </p:nvSpPr>
        <p:spPr>
          <a:xfrm>
            <a:off x="1014984"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Taux d'occupation, contrats courts, ancienneté</a:t>
            </a:r>
          </a:p>
        </p:txBody>
      </p:sp>
      <p:sp>
        <p:nvSpPr>
          <p:cNvPr id="35" name="Card OM2"/>
          <p:cNvSpPr/>
          <p:nvPr/>
        </p:nvSpPr>
        <p:spPr>
          <a:xfrm>
            <a:off x="4389120"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36" name="TextBox 35"/>
          <p:cNvSpPr txBox="1"/>
          <p:nvPr/>
        </p:nvSpPr>
        <p:spPr>
          <a:xfrm>
            <a:off x="4590288"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OM2</a:t>
            </a:r>
          </a:p>
        </p:txBody>
      </p:sp>
      <p:sp>
        <p:nvSpPr>
          <p:cNvPr id="37" name="TextBox 36"/>
          <p:cNvSpPr txBox="1"/>
          <p:nvPr/>
        </p:nvSpPr>
        <p:spPr>
          <a:xfrm>
            <a:off x="4590288"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Maîtriser coûts et équité</a:t>
            </a:r>
          </a:p>
        </p:txBody>
      </p:sp>
      <p:sp>
        <p:nvSpPr>
          <p:cNvPr id="38" name="TextBox 37"/>
          <p:cNvSpPr txBox="1"/>
          <p:nvPr/>
        </p:nvSpPr>
        <p:spPr>
          <a:xfrm>
            <a:off x="4590288"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La masse salariale est-elle maîtrisée et équitable ?</a:t>
            </a:r>
          </a:p>
        </p:txBody>
      </p:sp>
      <p:sp>
        <p:nvSpPr>
          <p:cNvPr id="39" name="TextBox 38"/>
          <p:cNvSpPr txBox="1"/>
          <p:nvPr/>
        </p:nvSpPr>
        <p:spPr>
          <a:xfrm>
            <a:off x="4590288"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Coût mensuel, salaire médian, écart H/F</a:t>
            </a:r>
          </a:p>
        </p:txBody>
      </p:sp>
      <p:sp>
        <p:nvSpPr>
          <p:cNvPr id="40" name="Card OM3"/>
          <p:cNvSpPr/>
          <p:nvPr/>
        </p:nvSpPr>
        <p:spPr>
          <a:xfrm>
            <a:off x="7964424" y="178308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41" name="TextBox 40"/>
          <p:cNvSpPr txBox="1"/>
          <p:nvPr/>
        </p:nvSpPr>
        <p:spPr>
          <a:xfrm>
            <a:off x="8165592" y="194767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OM3</a:t>
            </a:r>
          </a:p>
        </p:txBody>
      </p:sp>
      <p:sp>
        <p:nvSpPr>
          <p:cNvPr id="42" name="TextBox 41"/>
          <p:cNvSpPr txBox="1"/>
          <p:nvPr/>
        </p:nvSpPr>
        <p:spPr>
          <a:xfrm>
            <a:off x="8165592" y="220370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Mesurer le temps travaillé</a:t>
            </a:r>
          </a:p>
        </p:txBody>
      </p:sp>
      <p:sp>
        <p:nvSpPr>
          <p:cNvPr id="43" name="TextBox 42"/>
          <p:cNvSpPr txBox="1"/>
          <p:nvPr/>
        </p:nvSpPr>
        <p:spPr>
          <a:xfrm>
            <a:off x="8165592" y="255117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Quel temps est réellement travaillé ?</a:t>
            </a:r>
          </a:p>
        </p:txBody>
      </p:sp>
      <p:sp>
        <p:nvSpPr>
          <p:cNvPr id="44" name="TextBox 43"/>
          <p:cNvSpPr txBox="1"/>
          <p:nvPr/>
        </p:nvSpPr>
        <p:spPr>
          <a:xfrm>
            <a:off x="8165592" y="306324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Heures par jour, retards, jours &gt; 8 h</a:t>
            </a:r>
          </a:p>
        </p:txBody>
      </p:sp>
      <p:sp>
        <p:nvSpPr>
          <p:cNvPr id="45" name="Card OM4"/>
          <p:cNvSpPr/>
          <p:nvPr/>
        </p:nvSpPr>
        <p:spPr>
          <a:xfrm>
            <a:off x="813816"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46" name="TextBox 45"/>
          <p:cNvSpPr txBox="1"/>
          <p:nvPr/>
        </p:nvSpPr>
        <p:spPr>
          <a:xfrm>
            <a:off x="1014984"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OM4</a:t>
            </a:r>
          </a:p>
        </p:txBody>
      </p:sp>
      <p:sp>
        <p:nvSpPr>
          <p:cNvPr id="47" name="TextBox 46"/>
          <p:cNvSpPr txBox="1"/>
          <p:nvPr/>
        </p:nvSpPr>
        <p:spPr>
          <a:xfrm>
            <a:off x="1014984"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Renforcer les compétences</a:t>
            </a:r>
          </a:p>
        </p:txBody>
      </p:sp>
      <p:sp>
        <p:nvSpPr>
          <p:cNvPr id="48" name="TextBox 47"/>
          <p:cNvSpPr txBox="1"/>
          <p:nvPr/>
        </p:nvSpPr>
        <p:spPr>
          <a:xfrm>
            <a:off x="1014984"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Les compétences se développent-elles ?</a:t>
            </a:r>
          </a:p>
        </p:txBody>
      </p:sp>
      <p:sp>
        <p:nvSpPr>
          <p:cNvPr id="49" name="TextBox 48"/>
          <p:cNvSpPr txBox="1"/>
          <p:nvPr/>
        </p:nvSpPr>
        <p:spPr>
          <a:xfrm>
            <a:off x="1014984"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Couverture, formations par employé, niveaux</a:t>
            </a:r>
          </a:p>
        </p:txBody>
      </p:sp>
      <p:sp>
        <p:nvSpPr>
          <p:cNvPr id="50" name="Card OM5"/>
          <p:cNvSpPr/>
          <p:nvPr/>
        </p:nvSpPr>
        <p:spPr>
          <a:xfrm>
            <a:off x="4389120"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1" name="TextBox 50"/>
          <p:cNvSpPr txBox="1"/>
          <p:nvPr/>
        </p:nvSpPr>
        <p:spPr>
          <a:xfrm>
            <a:off x="4590288"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OM5</a:t>
            </a:r>
          </a:p>
        </p:txBody>
      </p:sp>
      <p:sp>
        <p:nvSpPr>
          <p:cNvPr id="52" name="TextBox 51"/>
          <p:cNvSpPr txBox="1"/>
          <p:nvPr/>
        </p:nvSpPr>
        <p:spPr>
          <a:xfrm>
            <a:off x="4590288"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Maîtriser les congés</a:t>
            </a:r>
          </a:p>
        </p:txBody>
      </p:sp>
      <p:sp>
        <p:nvSpPr>
          <p:cNvPr id="53" name="TextBox 52"/>
          <p:cNvSpPr txBox="1"/>
          <p:nvPr/>
        </p:nvSpPr>
        <p:spPr>
          <a:xfrm>
            <a:off x="4590288"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Les congés sont-ils maîtrisés ?</a:t>
            </a:r>
          </a:p>
        </p:txBody>
      </p:sp>
      <p:sp>
        <p:nvSpPr>
          <p:cNvPr id="54" name="TextBox 53"/>
          <p:cNvSpPr txBox="1"/>
          <p:nvPr/>
        </p:nvSpPr>
        <p:spPr>
          <a:xfrm>
            <a:off x="4590288"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Taux de consommation, solde, types de congé</a:t>
            </a:r>
          </a:p>
        </p:txBody>
      </p:sp>
      <p:sp>
        <p:nvSpPr>
          <p:cNvPr id="55" name="Card OM6"/>
          <p:cNvSpPr/>
          <p:nvPr/>
        </p:nvSpPr>
        <p:spPr>
          <a:xfrm>
            <a:off x="7964424" y="3794760"/>
            <a:ext cx="3392424" cy="187452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6" name="TextBox 55"/>
          <p:cNvSpPr txBox="1"/>
          <p:nvPr/>
        </p:nvSpPr>
        <p:spPr>
          <a:xfrm>
            <a:off x="8165592" y="3959352"/>
            <a:ext cx="2990088" cy="237744"/>
          </a:xfrm>
          <a:prstGeom prst="rect">
            <a:avLst/>
          </a:prstGeom>
          <a:noFill/>
        </p:spPr>
        <p:txBody>
          <a:bodyPr wrap="square" lIns="0" tIns="0" rIns="0" bIns="0">
            <a:spAutoFit/>
          </a:bodyPr>
          <a:lstStyle/>
          <a:p>
            <a:pPr>
              <a:lnSpc>
                <a:spcPts val="1700"/>
              </a:lnSpc>
            </a:pPr>
            <a:r>
              <a:rPr sz="1200" b="1">
                <a:solidFill>
                  <a:srgbClr val="B4531A"/>
                </a:solidFill>
                <a:latin typeface="IBM Plex Sans"/>
              </a:rPr>
              <a:t>OM6</a:t>
            </a:r>
          </a:p>
        </p:txBody>
      </p:sp>
      <p:sp>
        <p:nvSpPr>
          <p:cNvPr id="57" name="TextBox 56"/>
          <p:cNvSpPr txBox="1"/>
          <p:nvPr/>
        </p:nvSpPr>
        <p:spPr>
          <a:xfrm>
            <a:off x="8165592" y="4215384"/>
            <a:ext cx="2990088" cy="274320"/>
          </a:xfrm>
          <a:prstGeom prst="rect">
            <a:avLst/>
          </a:prstGeom>
          <a:noFill/>
        </p:spPr>
        <p:txBody>
          <a:bodyPr wrap="square" lIns="0" tIns="0" rIns="0" bIns="0">
            <a:spAutoFit/>
          </a:bodyPr>
          <a:lstStyle/>
          <a:p>
            <a:pPr>
              <a:lnSpc>
                <a:spcPts val="2100"/>
              </a:lnSpc>
            </a:pPr>
            <a:r>
              <a:rPr sz="1500" b="1">
                <a:solidFill>
                  <a:srgbClr val="14213D"/>
                </a:solidFill>
                <a:latin typeface="Space Grotesk"/>
              </a:rPr>
              <a:t>Anticiper les échéances</a:t>
            </a:r>
          </a:p>
        </p:txBody>
      </p:sp>
      <p:sp>
        <p:nvSpPr>
          <p:cNvPr id="58" name="TextBox 57"/>
          <p:cNvSpPr txBox="1"/>
          <p:nvPr/>
        </p:nvSpPr>
        <p:spPr>
          <a:xfrm>
            <a:off x="8165592" y="4562856"/>
            <a:ext cx="2990088" cy="457200"/>
          </a:xfrm>
          <a:prstGeom prst="rect">
            <a:avLst/>
          </a:prstGeom>
          <a:noFill/>
        </p:spPr>
        <p:txBody>
          <a:bodyPr wrap="square" lIns="0" tIns="0" rIns="0" bIns="0">
            <a:spAutoFit/>
          </a:bodyPr>
          <a:lstStyle/>
          <a:p>
            <a:pPr>
              <a:lnSpc>
                <a:spcPts val="1800"/>
              </a:lnSpc>
            </a:pPr>
            <a:r>
              <a:rPr sz="1300" b="0">
                <a:solidFill>
                  <a:srgbClr val="3E4A5C"/>
                </a:solidFill>
                <a:latin typeface="IBM Plex Sans"/>
              </a:rPr>
              <a:t>Quelles échéances anticiper, sur quelles données ?</a:t>
            </a:r>
          </a:p>
        </p:txBody>
      </p:sp>
      <p:sp>
        <p:nvSpPr>
          <p:cNvPr id="59" name="TextBox 58"/>
          <p:cNvSpPr txBox="1"/>
          <p:nvPr/>
        </p:nvSpPr>
        <p:spPr>
          <a:xfrm>
            <a:off x="8165592" y="5074920"/>
            <a:ext cx="2990088" cy="411480"/>
          </a:xfrm>
          <a:prstGeom prst="rect">
            <a:avLst/>
          </a:prstGeom>
          <a:noFill/>
        </p:spPr>
        <p:txBody>
          <a:bodyPr wrap="square" lIns="0" tIns="0" rIns="0" bIns="0">
            <a:spAutoFit/>
          </a:bodyPr>
          <a:lstStyle/>
          <a:p>
            <a:pPr>
              <a:lnSpc>
                <a:spcPts val="1700"/>
              </a:lnSpc>
            </a:pPr>
            <a:r>
              <a:rPr sz="1200" b="0">
                <a:solidFill>
                  <a:srgbClr val="2F5DA8"/>
                </a:solidFill>
                <a:latin typeface="IBM Plex Sans"/>
              </a:rPr>
              <a:t>Échéances à 90 jours, anomalies de contrat</a:t>
            </a:r>
          </a:p>
        </p:txBody>
      </p:sp>
      <p:sp>
        <p:nvSpPr>
          <p:cNvPr id="60" name="Note"/>
          <p:cNvSpPr txBox="1"/>
          <p:nvPr/>
        </p:nvSpPr>
        <p:spPr>
          <a:xfrm>
            <a:off x="813816" y="5806440"/>
            <a:ext cx="10881360" cy="274320"/>
          </a:xfrm>
          <a:prstGeom prst="rect">
            <a:avLst/>
          </a:prstGeom>
          <a:noFill/>
        </p:spPr>
        <p:txBody>
          <a:bodyPr wrap="square" lIns="0" tIns="0" rIns="0" bIns="0">
            <a:spAutoFit/>
          </a:bodyPr>
          <a:lstStyle/>
          <a:p>
            <a:pPr>
              <a:lnSpc>
                <a:spcPts val="1700"/>
              </a:lnSpc>
            </a:pPr>
            <a:r>
              <a:rPr sz="1200" b="0">
                <a:solidFill>
                  <a:srgbClr val="3E4A5C"/>
                </a:solidFill>
                <a:latin typeface="IBM Plex Sans"/>
              </a:rPr>
              <a:t>Chaque objectif est relié à des OBI (objectifs BI) et à des KPI : voir la matrice de traçabilité, page suivante.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CEAE3"/>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TRAÇABILITÉ</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Une matrice relie objectifs, OBI et KPI</a:t>
            </a:r>
          </a:p>
        </p:txBody>
      </p:sp>
      <p:graphicFrame>
        <p:nvGraphicFramePr>
          <p:cNvPr id="4" name="Table"/>
          <p:cNvGraphicFramePr>
            <a:graphicFrameLocks noGrp="1"/>
          </p:cNvGraphicFramePr>
          <p:nvPr>
            <p:extLst>
              <p:ext uri="{D42A27DB-BD31-4B8C-83A1-F6EECF244321}">
                <p14:modId xmlns:p14="http://schemas.microsoft.com/office/powerpoint/2010/main" val="364355367"/>
              </p:ext>
            </p:extLst>
          </p:nvPr>
        </p:nvGraphicFramePr>
        <p:xfrm>
          <a:off x="813816" y="1737360"/>
          <a:ext cx="10552176" cy="3859022"/>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400"/>
                        </a:lnSpc>
                      </a:pPr>
                      <a:r>
                        <a:rPr sz="1100" b="1">
                          <a:solidFill>
                            <a:srgbClr val="14213D"/>
                          </a:solidFill>
                          <a:latin typeface="IBM Plex Sans"/>
                        </a:rPr>
                        <a:t>Objectif métier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Objectifs BI (OBI)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KPI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Faisabilité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Cible chiffrée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66928">
                <a:tc>
                  <a:txBody>
                    <a:bodyPr/>
                    <a:lstStyle/>
                    <a:p>
                      <a:pPr>
                        <a:lnSpc>
                          <a:spcPts val="1400"/>
                        </a:lnSpc>
                      </a:pPr>
                      <a:r>
                        <a:rPr sz="1100" b="1" dirty="0">
                          <a:solidFill>
                            <a:srgbClr val="B4531A"/>
                          </a:solidFill>
                          <a:latin typeface="IBM Plex Sans"/>
                        </a:rPr>
                        <a:t>OM1 </a:t>
                      </a:r>
                      <a:r>
                        <a:rPr sz="1100" b="1" dirty="0">
                          <a:solidFill>
                            <a:srgbClr val="14213D"/>
                          </a:solidFill>
                          <a:latin typeface="IBM Plex Sans"/>
                        </a:rPr>
                        <a:t>Aligner </a:t>
                      </a:r>
                      <a:r>
                        <a:rPr sz="1100" b="1" dirty="0" err="1">
                          <a:solidFill>
                            <a:srgbClr val="14213D"/>
                          </a:solidFill>
                          <a:latin typeface="IBM Plex Sans"/>
                        </a:rPr>
                        <a:t>effectif</a:t>
                      </a:r>
                      <a:r>
                        <a:rPr sz="1100" b="1" dirty="0">
                          <a:solidFill>
                            <a:srgbClr val="14213D"/>
                          </a:solidFill>
                          <a:latin typeface="IBM Plex Sans"/>
                        </a:rPr>
                        <a:t> et </a:t>
                      </a:r>
                      <a:r>
                        <a:rPr sz="1100" b="1" dirty="0" err="1">
                          <a:solidFill>
                            <a:srgbClr val="14213D"/>
                          </a:solidFill>
                          <a:latin typeface="IBM Plex Sans"/>
                        </a:rPr>
                        <a:t>capacité</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OBI1 Suivre l’occupation des départements
OBI2 Suivre la structure et les entrées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KPI1.1 à 1.4 : occupation, contrats courts, ancienneté, entrées par canal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66928">
                <a:tc>
                  <a:txBody>
                    <a:bodyPr/>
                    <a:lstStyle/>
                    <a:p>
                      <a:pPr>
                        <a:lnSpc>
                          <a:spcPct val="100000"/>
                        </a:lnSpc>
                      </a:pPr>
                      <a:r>
                        <a:rPr sz="1100" b="1" dirty="0">
                          <a:solidFill>
                            <a:srgbClr val="B4531A"/>
                          </a:solidFill>
                          <a:latin typeface="IBM Plex Sans"/>
                        </a:rPr>
                        <a:t>OM2 </a:t>
                      </a:r>
                      <a:r>
                        <a:rPr lang="fr-FR" sz="1100" b="1" kern="1200" dirty="0">
                          <a:solidFill>
                            <a:srgbClr val="14213D"/>
                          </a:solidFill>
                          <a:latin typeface="IBM Plex Sans"/>
                          <a:ea typeface="+mn-ea"/>
                          <a:cs typeface="+mn-cs"/>
                        </a:rPr>
                        <a:t>Assurer l'équité salariale à coût maîtrisé</a:t>
                      </a:r>
                      <a:endParaRPr sz="1100" b="1" kern="1200" dirty="0">
                        <a:solidFill>
                          <a:srgbClr val="14213D"/>
                        </a:solidFill>
                        <a:latin typeface="IBM Plex Sans"/>
                        <a:ea typeface="+mn-ea"/>
                        <a:cs typeface="+mn-c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OBI3 Calculer et ventiler le coût du personnel
OBI4 Contrôler l’équité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KPI2.1 à 2.5 : masse salariale, heures sup, coût par heure, salaire médian, écart H/F</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Écart H/F ≤ 2 % ; autres à définir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66928">
                <a:tc>
                  <a:txBody>
                    <a:bodyPr/>
                    <a:lstStyle/>
                    <a:p>
                      <a:pPr>
                        <a:lnSpc>
                          <a:spcPts val="1400"/>
                        </a:lnSpc>
                      </a:pPr>
                      <a:r>
                        <a:rPr sz="1100" b="1" dirty="0">
                          <a:solidFill>
                            <a:srgbClr val="B4531A"/>
                          </a:solidFill>
                          <a:latin typeface="IBM Plex Sans"/>
                        </a:rPr>
                        <a:t>OM3 </a:t>
                      </a:r>
                      <a:r>
                        <a:rPr sz="1100" b="1" dirty="0" err="1">
                          <a:solidFill>
                            <a:srgbClr val="14213D"/>
                          </a:solidFill>
                          <a:latin typeface="IBM Plex Sans"/>
                        </a:rPr>
                        <a:t>Mesurer</a:t>
                      </a:r>
                      <a:r>
                        <a:rPr sz="1100" b="1" dirty="0">
                          <a:solidFill>
                            <a:srgbClr val="14213D"/>
                          </a:solidFill>
                          <a:latin typeface="IBM Plex Sans"/>
                        </a:rPr>
                        <a:t> le temps </a:t>
                      </a:r>
                      <a:r>
                        <a:rPr sz="1100" b="1" dirty="0" err="1">
                          <a:solidFill>
                            <a:srgbClr val="14213D"/>
                          </a:solidFill>
                          <a:latin typeface="IBM Plex Sans"/>
                        </a:rPr>
                        <a:t>travaillé</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OBI5 Mesurer temps travaillé et ponctualité
OBI6 Détecter surcharge et irrégularité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KPI3.1 à 3.5 : heures par jour, retard, présence, jours &gt; 8 h, régularité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2F5DA8"/>
                          </a:solidFill>
                          <a:latin typeface="IBM Plex Sans"/>
                        </a:rPr>
                        <a:t>Oui</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66928">
                <a:tc>
                  <a:txBody>
                    <a:bodyPr/>
                    <a:lstStyle/>
                    <a:p>
                      <a:pPr>
                        <a:lnSpc>
                          <a:spcPts val="1400"/>
                        </a:lnSpc>
                      </a:pPr>
                      <a:r>
                        <a:rPr sz="1100" b="1" dirty="0">
                          <a:solidFill>
                            <a:srgbClr val="B4531A"/>
                          </a:solidFill>
                          <a:latin typeface="IBM Plex Sans"/>
                        </a:rPr>
                        <a:t>OM4 </a:t>
                      </a:r>
                      <a:r>
                        <a:rPr sz="1100" b="1" dirty="0" err="1">
                          <a:solidFill>
                            <a:srgbClr val="14213D"/>
                          </a:solidFill>
                          <a:latin typeface="IBM Plex Sans"/>
                        </a:rPr>
                        <a:t>Renforcer</a:t>
                      </a:r>
                      <a:r>
                        <a:rPr sz="1100" b="1" dirty="0">
                          <a:solidFill>
                            <a:srgbClr val="14213D"/>
                          </a:solidFill>
                          <a:latin typeface="IBM Plex Sans"/>
                        </a:rPr>
                        <a:t> les </a:t>
                      </a:r>
                      <a:r>
                        <a:rPr sz="1100" b="1" dirty="0" err="1">
                          <a:solidFill>
                            <a:srgbClr val="14213D"/>
                          </a:solidFill>
                          <a:latin typeface="IBM Plex Sans"/>
                        </a:rPr>
                        <a:t>compétences</a:t>
                      </a:r>
                      <a:endParaRPr sz="1100" b="1" dirty="0">
                        <a:solidFill>
                          <a:srgbClr val="14213D"/>
                        </a:solidFill>
                        <a:latin typeface="IBM Plex San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OBI7 Suivre couverture et intensité
OBI8 Mesurer l’adéquation aux métiers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KPI4.1 à 4.5 : couverture, formations par employé, catalogue, niveaux, alignement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Couverture ≥ 95 % (techniques) ; autres à définir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66928">
                <a:tc>
                  <a:txBody>
                    <a:bodyPr/>
                    <a:lstStyle/>
                    <a:p>
                      <a:pPr>
                        <a:lnSpc>
                          <a:spcPct val="100000"/>
                        </a:lnSpc>
                      </a:pPr>
                      <a:r>
                        <a:rPr sz="1100" b="1" dirty="0">
                          <a:solidFill>
                            <a:srgbClr val="B4531A"/>
                          </a:solidFill>
                          <a:latin typeface="IBM Plex Sans"/>
                        </a:rPr>
                        <a:t>OM5 </a:t>
                      </a:r>
                      <a:r>
                        <a:rPr lang="fr-FR" sz="1100" b="1" kern="1200" dirty="0">
                          <a:solidFill>
                            <a:srgbClr val="14213D"/>
                          </a:solidFill>
                          <a:latin typeface="IBM Plex Sans"/>
                          <a:ea typeface="+mn-ea"/>
                          <a:cs typeface="+mn-cs"/>
                        </a:rPr>
                        <a:t>Optimiser la planification des congés</a:t>
                      </a:r>
                      <a:endParaRPr sz="1100" b="1" kern="1200" dirty="0">
                        <a:solidFill>
                          <a:srgbClr val="14213D"/>
                        </a:solidFill>
                        <a:latin typeface="IBM Plex Sans"/>
                        <a:ea typeface="+mn-ea"/>
                        <a:cs typeface="+mn-cs"/>
                      </a:endParaRP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OBI9 Suivre consommation et soldes
OBI10 Suivre types de congé et absentéisme (proxy)</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KPI5.1 à 5.3 : consommation, solde, types de congé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À définir et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66928">
                <a:tc>
                  <a:txBody>
                    <a:bodyPr/>
                    <a:lstStyle/>
                    <a:p>
                      <a:pPr>
                        <a:lnSpc>
                          <a:spcPts val="1400"/>
                        </a:lnSpc>
                      </a:pPr>
                      <a:r>
                        <a:rPr sz="1100" b="1">
                          <a:solidFill>
                            <a:srgbClr val="B4531A"/>
                          </a:solidFill>
                          <a:latin typeface="IBM Plex Sans"/>
                        </a:rPr>
                        <a:t>OM6 </a:t>
                      </a:r>
                      <a:r>
                        <a:rPr sz="1100" b="1">
                          <a:solidFill>
                            <a:srgbClr val="14213D"/>
                          </a:solidFill>
                          <a:latin typeface="IBM Plex Sans"/>
                        </a:rPr>
                        <a:t>Anticiper les échéances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OBI11 Anticiper échéances et rotation
OBI12 Fiabiliser les données contractuelles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KPI6.1 à 6.3 : échéances, rotation, anomalies de contrat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1">
                          <a:solidFill>
                            <a:srgbClr val="B4531A"/>
                          </a:solidFill>
                          <a:latin typeface="IBM Plex Sans"/>
                        </a:rPr>
                        <a:t>Partielle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dirty="0">
                          <a:solidFill>
                            <a:srgbClr val="3E4A5C"/>
                          </a:solidFill>
                          <a:latin typeface="IBM Plex Sans"/>
                        </a:rPr>
                        <a:t>0 </a:t>
                      </a:r>
                      <a:r>
                        <a:rPr sz="1100" b="0" dirty="0" err="1">
                          <a:solidFill>
                            <a:srgbClr val="3E4A5C"/>
                          </a:solidFill>
                          <a:latin typeface="IBM Plex Sans"/>
                        </a:rPr>
                        <a:t>anomalie</a:t>
                      </a:r>
                      <a:r>
                        <a:rPr sz="1100" b="0" dirty="0">
                          <a:solidFill>
                            <a:srgbClr val="3E4A5C"/>
                          </a:solidFill>
                          <a:latin typeface="IBM Plex Sans"/>
                        </a:rPr>
                        <a:t> ; horizon à valider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bl>
          </a:graphicData>
        </a:graphic>
      </p:graphicFrame>
      <p:sp>
        <p:nvSpPr>
          <p:cNvPr id="5" name="TextBox 4"/>
          <p:cNvSpPr txBox="1"/>
          <p:nvPr/>
        </p:nvSpPr>
        <p:spPr>
          <a:xfrm>
            <a:off x="813816" y="5870448"/>
            <a:ext cx="10515600" cy="274320"/>
          </a:xfrm>
          <a:prstGeom prst="rect">
            <a:avLst/>
          </a:prstGeom>
          <a:noFill/>
        </p:spPr>
        <p:txBody>
          <a:bodyPr wrap="square" lIns="0" tIns="0" rIns="0" bIns="0">
            <a:spAutoFit/>
          </a:bodyPr>
          <a:lstStyle/>
          <a:p>
            <a:pPr>
              <a:lnSpc>
                <a:spcPts val="1700"/>
              </a:lnSpc>
            </a:pPr>
            <a:r>
              <a:rPr sz="1200" b="0">
                <a:solidFill>
                  <a:srgbClr val="3E4A5C"/>
                </a:solidFill>
                <a:latin typeface="IBM Plex Sans"/>
              </a:rPr>
              <a:t>OBI13 (transversal) : centraliser les KPI en un tableau de bord unique. Détail des KPI, fichiers et colonnes en annexe.</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15 · </a:t>
            </a:r>
            <a:r>
              <a:rPr sz="1200" b="0">
                <a:solidFill>
                  <a:srgbClr val="2F5DA8"/>
                </a:solidFill>
                <a:latin typeface="IBM Plex Sans"/>
              </a:rPr>
              <a:t>Code : KPI de départ en cellule [8], section 7 · détail en annexe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1/4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OM1 et OM2 : sources, colonnes et faisabilité</a:t>
            </a:r>
          </a:p>
        </p:txBody>
      </p:sp>
      <p:graphicFrame>
        <p:nvGraphicFramePr>
          <p:cNvPr id="4" name="Table"/>
          <p:cNvGraphicFramePr>
            <a:graphicFrameLocks noGrp="1"/>
          </p:cNvGraphicFramePr>
          <p:nvPr/>
        </p:nvGraphicFramePr>
        <p:xfrm>
          <a:off x="813816" y="1737360"/>
          <a:ext cx="10552176" cy="3941508"/>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365760">
                <a:tc>
                  <a:txBody>
                    <a:bodyPr/>
                    <a:lstStyle/>
                    <a:p>
                      <a:pPr>
                        <a:lnSpc>
                          <a:spcPts val="1300"/>
                        </a:lnSpc>
                      </a:pPr>
                      <a:r>
                        <a:rPr sz="1000" b="1">
                          <a:solidFill>
                            <a:srgbClr val="14213D"/>
                          </a:solidFill>
                          <a:latin typeface="IBM Plex Sans"/>
                        </a:rPr>
                        <a:t>OM1 · OBI1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KPI1.1 Taux d'occupation par département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administration_data → DEP_ID · departments → ID_DEP, CAPACITY</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capacité Admin douteuse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KPI1.2 Part de contrats courts (CDD + CIVP)</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administration_data → TYPE_CONTRACT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67 % chez les techniques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KPI1.3 Ancienneté moyenne et part &lt; 1 an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STARTING_DATE (TENURE est binaire, insuffisant)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365760">
                <a:tc>
                  <a:txBody>
                    <a:bodyPr/>
                    <a:lstStyle/>
                    <a:p>
                      <a:pPr>
                        <a:lnSpc>
                          <a:spcPts val="1300"/>
                        </a:lnSpc>
                      </a:pPr>
                      <a:r>
                        <a:rPr sz="1000" b="1">
                          <a:solidFill>
                            <a:srgbClr val="14213D"/>
                          </a:solidFill>
                          <a:latin typeface="IBM Plex Sans"/>
                        </a:rPr>
                        <a:t>OM1 · OBI2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KPI1.4 Entrées par période et par canal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STARTING_DATE, SOURCE_of_employment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entrées seules, pas de sorties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KPI2.1 Masse salariale mensuelle par composante et département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SALARY, HOURS, POSITION, DEP_ID · administration_data → SALARY, extra_hour · extrainfos (35, 25, 22 €/h)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période et devise à confirmer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 (pas de budget)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KPI2.2 Part des heures sup dans le coût total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extra_hour × 22 (admin) · heures &gt; 8 h des pointages × 25 (permanents techniques)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heures sup techniques non chiffrées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365760">
                <a:tc>
                  <a:txBody>
                    <a:bodyPr/>
                    <a:lstStyle/>
                    <a:p>
                      <a:pPr>
                        <a:lnSpc>
                          <a:spcPts val="1300"/>
                        </a:lnSpc>
                      </a:pPr>
                      <a:r>
                        <a:rPr sz="1000" b="1">
                          <a:solidFill>
                            <a:srgbClr val="14213D"/>
                          </a:solidFill>
                          <a:latin typeface="IBM Plex Sans"/>
                        </a:rPr>
                        <a:t>OM2 · OBI3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KPI2.3 Coût par heure travaillée (proxy d’efficience)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coût du KPI2.1 ÷ heures calculées des pointages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périodes différentes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r h="365760">
                <a:tc>
                  <a:txBody>
                    <a:bodyPr/>
                    <a:lstStyle/>
                    <a:p>
                      <a:pPr>
                        <a:lnSpc>
                          <a:spcPts val="1300"/>
                        </a:lnSpc>
                      </a:pPr>
                      <a:r>
                        <a:rPr sz="1000" b="1">
                          <a:solidFill>
                            <a:srgbClr val="14213D"/>
                          </a:solidFill>
                          <a:latin typeface="IBM Plex Sans"/>
                        </a:rPr>
                        <a:t>OM2 · OBI4</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KPI2.4 Salaire médian par département, grade, contrat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SALARY, DEP_ID, GRADE, TYPE_CONTRACT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744 permanents techniques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8"/>
                  </a:ext>
                </a:extLst>
              </a:tr>
              <a:tr h="365760">
                <a:tc>
                  <a:txBody>
                    <a:bodyPr/>
                    <a:lstStyle/>
                    <a:p>
                      <a:pPr>
                        <a:lnSpc>
                          <a:spcPts val="1300"/>
                        </a:lnSpc>
                      </a:pPr>
                      <a:r>
                        <a:rPr sz="1000" b="1">
                          <a:solidFill>
                            <a:srgbClr val="14213D"/>
                          </a:solidFill>
                          <a:latin typeface="IBM Plex Sans"/>
                        </a:rPr>
                        <a:t>OM2 · OBI4</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KPI2.5 Écart H/F médian (brut, puis ajusté)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GENDER, SALARY, GRADE, TYPE_DIPLOMA, EXP_YEARS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0,2 % tech, 0,6 %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 2 % en continu ; seuil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9"/>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16 · </a:t>
            </a:r>
            <a:r>
              <a:rPr sz="1200" b="0">
                <a:solidFill>
                  <a:srgbClr val="2F5DA8"/>
                </a:solidFill>
                <a:latin typeface="IBM Plex Sans"/>
              </a:rPr>
              <a:t>Code : colonnes des fichiers sources · cellules [1] à [7]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2/4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OM3 : sources, colonnes et faisabilité</a:t>
            </a:r>
          </a:p>
        </p:txBody>
      </p:sp>
      <p:graphicFrame>
        <p:nvGraphicFramePr>
          <p:cNvPr id="4" name="Table"/>
          <p:cNvGraphicFramePr>
            <a:graphicFrameLocks noGrp="1"/>
          </p:cNvGraphicFramePr>
          <p:nvPr/>
        </p:nvGraphicFramePr>
        <p:xfrm>
          <a:off x="813816" y="1737360"/>
          <a:ext cx="10552176" cy="284378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KPI3.1 Heures travaillées par jour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Pointages tech et admin → Date, StartTime, BreakTime, ResumeTime, EndTime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6,50 h tech, 5,99 h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KPI3.2 Taux de retard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StartTime (seuil 8h30)</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seuil à valider, 49 % partout</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OM3 · OBI5</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KPI3.3 Taux de présence pointée (contrôle)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Date comparée aux jours ouvrés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non informatif, aucune absence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Contrôle, sans 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OM3 · OBI6</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KPI3.4 Taux de jours en heures sup (&gt; 8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Heures travaillées calculées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2,1 % tech, 19,6 % admin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OM3 · OBI6</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KPI3.5 Régularité des horaires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Heures travaillées calculées (écart-type, jours &lt; 4 h ou &gt; 10 h)</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17 · </a:t>
            </a:r>
            <a:r>
              <a:rPr sz="1200" b="0">
                <a:solidFill>
                  <a:srgbClr val="2F5DA8"/>
                </a:solidFill>
                <a:latin typeface="IBM Plex Sans"/>
              </a:rPr>
              <a:t>Code : colonnes des fichiers sources · cellules [1] à [7]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3/4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OM4 : sources, colonnes et faisabilité</a:t>
            </a:r>
          </a:p>
        </p:txBody>
      </p:sp>
      <p:graphicFrame>
        <p:nvGraphicFramePr>
          <p:cNvPr id="4" name="Table"/>
          <p:cNvGraphicFramePr>
            <a:graphicFrameLocks noGrp="1"/>
          </p:cNvGraphicFramePr>
          <p:nvPr/>
        </p:nvGraphicFramePr>
        <p:xfrm>
          <a:off x="813816" y="1737360"/>
          <a:ext cx="10552176" cy="284378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KPI4.1 Taux de couverture formation</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ID_TRAINING</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techniques 99 % ; admin sans donnée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 95 % techniques ; admin à définir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KPI4.2 Formations par employé (médiane)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ID_TRAINING (liste à éclater)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sans date, médiane de 13</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OM4 · OBI7</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KPI4.3 Taux d’utilisation du catalogue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ID_TRAINING ↔ Coursera_trainings → course_id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à calculer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OM4 · OBI8</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KPI4.4 Répartition par niveau de difficulté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Coursera_trainings → Difficulty Level</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41 % débutant, 28 % avancé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OM4 · OBI8</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KPI4.5 Alignement formations et technologies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emp_data → TECHNOLOGIES, ACTIVITY · catalogue → Skills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table de correspondance à construire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18 · </a:t>
            </a:r>
            <a:r>
              <a:rPr sz="1200" b="0">
                <a:solidFill>
                  <a:srgbClr val="2F5DA8"/>
                </a:solidFill>
                <a:latin typeface="IBM Plex Sans"/>
              </a:rPr>
              <a:t>Code : colonnes des fichiers sources · cellules [1] à [7]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ANNEXE · MATRICE DÉTAILLÉE 4/4</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OM5 et OM6 : sources, colonnes et faisabilité</a:t>
            </a:r>
          </a:p>
        </p:txBody>
      </p:sp>
      <p:graphicFrame>
        <p:nvGraphicFramePr>
          <p:cNvPr id="4" name="Table"/>
          <p:cNvGraphicFramePr>
            <a:graphicFrameLocks noGrp="1"/>
          </p:cNvGraphicFramePr>
          <p:nvPr/>
        </p:nvGraphicFramePr>
        <p:xfrm>
          <a:off x="813816" y="1737360"/>
          <a:ext cx="10552176" cy="3346704"/>
        </p:xfrm>
        <a:graphic>
          <a:graphicData uri="http://schemas.openxmlformats.org/drawingml/2006/table">
            <a:tbl>
              <a:tblPr/>
              <a:tblGrid>
                <a:gridCol w="1005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1773936">
                  <a:extLst>
                    <a:ext uri="{9D8B030D-6E8A-4147-A177-3AD203B41FA5}">
                      <a16:colId xmlns:a16="http://schemas.microsoft.com/office/drawing/2014/main" val="20004"/>
                    </a:ext>
                  </a:extLst>
                </a:gridCol>
              </a:tblGrid>
              <a:tr h="329184">
                <a:tc>
                  <a:txBody>
                    <a:bodyPr/>
                    <a:lstStyle/>
                    <a:p>
                      <a:pPr>
                        <a:lnSpc>
                          <a:spcPts val="1300"/>
                        </a:lnSpc>
                      </a:pPr>
                      <a:r>
                        <a:rPr sz="1000" b="1">
                          <a:solidFill>
                            <a:srgbClr val="14213D"/>
                          </a:solidFill>
                          <a:latin typeface="IBM Plex Sans"/>
                        </a:rPr>
                        <a:t>OM · OBI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KPI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Fichiers → colonnes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Faisabilité</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300"/>
                        </a:lnSpc>
                      </a:pPr>
                      <a:r>
                        <a:rPr sz="1000" b="1">
                          <a:solidFill>
                            <a:srgbClr val="14213D"/>
                          </a:solidFill>
                          <a:latin typeface="IBM Plex Sans"/>
                        </a:rPr>
                        <a:t>Cible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02920">
                <a:tc>
                  <a:txBody>
                    <a:bodyPr/>
                    <a:lstStyle/>
                    <a:p>
                      <a:pPr>
                        <a:lnSpc>
                          <a:spcPts val="1300"/>
                        </a:lnSpc>
                      </a:pPr>
                      <a:r>
                        <a:rPr sz="1000" b="1">
                          <a:solidFill>
                            <a:srgbClr val="14213D"/>
                          </a:solidFill>
                          <a:latin typeface="IBM Plex Sans"/>
                        </a:rPr>
                        <a:t>OM5 · OBI9</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KPI5.1 Taux de consommation des congés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LEAVE_CONSUMED, LEAVE_BALANCE (les deux fiches)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instantané, environ 50 %</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02920">
                <a:tc>
                  <a:txBody>
                    <a:bodyPr/>
                    <a:lstStyle/>
                    <a:p>
                      <a:pPr>
                        <a:lnSpc>
                          <a:spcPts val="1300"/>
                        </a:lnSpc>
                      </a:pPr>
                      <a:r>
                        <a:rPr sz="1000" b="1">
                          <a:solidFill>
                            <a:srgbClr val="14213D"/>
                          </a:solidFill>
                          <a:latin typeface="IBM Plex Sans"/>
                        </a:rPr>
                        <a:t>OM5 · OBI9</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KPI5.2 Solde moyen et part des soldes élevés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LEAVE_BALANCE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14,8 j en moyenne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02920">
                <a:tc>
                  <a:txBody>
                    <a:bodyPr/>
                    <a:lstStyle/>
                    <a:p>
                      <a:pPr>
                        <a:lnSpc>
                          <a:spcPts val="1300"/>
                        </a:lnSpc>
                      </a:pPr>
                      <a:r>
                        <a:rPr sz="1000" b="1">
                          <a:solidFill>
                            <a:srgbClr val="14213D"/>
                          </a:solidFill>
                          <a:latin typeface="IBM Plex Sans"/>
                        </a:rPr>
                        <a:t>OM5 · OBI10</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KPI5.3 Types de congé, dont maladie (proxy d’absentéisme)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LEAVE_TYPE (emp_data) · LAST_LEAVE_TYPE (administration_data)</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dernier congé seulement, sans date ni durée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02920">
                <a:tc>
                  <a:txBody>
                    <a:bodyPr/>
                    <a:lstStyle/>
                    <a:p>
                      <a:pPr>
                        <a:lnSpc>
                          <a:spcPts val="1300"/>
                        </a:lnSpc>
                      </a:pPr>
                      <a:r>
                        <a:rPr sz="1000" b="1">
                          <a:solidFill>
                            <a:srgbClr val="14213D"/>
                          </a:solidFill>
                          <a:latin typeface="IBM Plex Sans"/>
                        </a:rPr>
                        <a:t>OM6 · OBI11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KPI6.1 Échéances de contrat à 30, 90 et 180 jours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CONTRACT_END, TYPE_CONTRACT, DEP_ID</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B4531A"/>
                          </a:solidFill>
                          <a:latin typeface="IBM Plex Sans"/>
                        </a:rPr>
                        <a:t>Partielle</a:t>
                      </a:r>
                      <a:r>
                        <a:rPr sz="1000" b="0">
                          <a:solidFill>
                            <a:srgbClr val="3E4A5C"/>
                          </a:solidFill>
                          <a:latin typeface="IBM Plex Sans"/>
                        </a:rPr>
                        <a:t> · 350 en 2023, fiables après nettoyage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02920">
                <a:tc>
                  <a:txBody>
                    <a:bodyPr/>
                    <a:lstStyle/>
                    <a:p>
                      <a:pPr>
                        <a:lnSpc>
                          <a:spcPts val="1300"/>
                        </a:lnSpc>
                      </a:pPr>
                      <a:r>
                        <a:rPr sz="1000" b="1">
                          <a:solidFill>
                            <a:srgbClr val="14213D"/>
                          </a:solidFill>
                          <a:latin typeface="IBM Plex Sans"/>
                        </a:rPr>
                        <a:t>OM6 · OBI11</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KPI6.2 Taux de rotation (turnover)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aucune colonne disponible</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9B2226"/>
                          </a:solidFill>
                          <a:latin typeface="IBM Plex Sans"/>
                        </a:rPr>
                        <a:t>Non</a:t>
                      </a:r>
                      <a:r>
                        <a:rPr sz="1000" b="0">
                          <a:solidFill>
                            <a:srgbClr val="3E4A5C"/>
                          </a:solidFill>
                          <a:latin typeface="IBM Plex Sans"/>
                        </a:rPr>
                        <a:t> · pas d’historique de sorties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À définir et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02920">
                <a:tc>
                  <a:txBody>
                    <a:bodyPr/>
                    <a:lstStyle/>
                    <a:p>
                      <a:pPr>
                        <a:lnSpc>
                          <a:spcPts val="1300"/>
                        </a:lnSpc>
                      </a:pPr>
                      <a:r>
                        <a:rPr sz="1000" b="1">
                          <a:solidFill>
                            <a:srgbClr val="14213D"/>
                          </a:solidFill>
                          <a:latin typeface="IBM Plex Sans"/>
                        </a:rPr>
                        <a:t>OM6 · OBI12</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KPI6.3 Taux d’anomalies contractuelles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TYPE_CONTRACT, CONTRACT_END, POSITION, pointages</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1">
                          <a:solidFill>
                            <a:srgbClr val="2F5DA8"/>
                          </a:solidFill>
                          <a:latin typeface="IBM Plex Sans"/>
                        </a:rPr>
                        <a:t>Oui</a:t>
                      </a:r>
                      <a:r>
                        <a:rPr sz="1000" b="0">
                          <a:solidFill>
                            <a:srgbClr val="3E4A5C"/>
                          </a:solidFill>
                          <a:latin typeface="IBM Plex Sans"/>
                        </a:rPr>
                        <a:t> · 468 CDI datés, 663 échus pointés, 221 vacataires en CDI</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300"/>
                        </a:lnSpc>
                      </a:pPr>
                      <a:r>
                        <a:rPr sz="1000" b="0">
                          <a:solidFill>
                            <a:srgbClr val="3E4A5C"/>
                          </a:solidFill>
                          <a:latin typeface="IBM Plex Sans"/>
                        </a:rPr>
                        <a:t>0 anomalie ; horizon à valider</a:t>
                      </a:r>
                    </a:p>
                  </a:txBody>
                  <a:tcPr marL="53340" marR="53340" marT="32000" marB="3200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bl>
          </a:graphicData>
        </a:graphic>
      </p:graphicFrame>
      <p:sp>
        <p:nvSpPr>
          <p:cNvPr id="5" name="Legend"/>
          <p:cNvSpPr txBox="1"/>
          <p:nvPr/>
        </p:nvSpPr>
        <p:spPr>
          <a:xfrm>
            <a:off x="813816" y="5925312"/>
            <a:ext cx="10515600" cy="237744"/>
          </a:xfrm>
          <a:prstGeom prst="rect">
            <a:avLst/>
          </a:prstGeom>
          <a:noFill/>
        </p:spPr>
        <p:txBody>
          <a:bodyPr wrap="square" lIns="0" tIns="0" rIns="0" bIns="0">
            <a:spAutoFit/>
          </a:bodyPr>
          <a:lstStyle/>
          <a:p>
            <a:pPr>
              <a:lnSpc>
                <a:spcPts val="1500"/>
              </a:lnSpc>
            </a:pPr>
            <a:r>
              <a:rPr sz="1100" b="0">
                <a:solidFill>
                  <a:srgbClr val="6B7280"/>
                </a:solidFill>
                <a:latin typeface="IBM Plex Sans"/>
              </a:rPr>
              <a:t>Faisabilité : Oui = mesurable · Partielle = mesurable avec réserves · Non = impossible aujourd’hui.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19 · </a:t>
            </a:r>
            <a:r>
              <a:rPr sz="1200" b="0">
                <a:solidFill>
                  <a:srgbClr val="2F5DA8"/>
                </a:solidFill>
                <a:latin typeface="IBM Plex Sans"/>
              </a:rPr>
              <a:t>Code : colonnes des fichiers sources · cellules [1] à [7]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CONSOMMATEURS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Sept acteurs consomment les indicateurs</a:t>
            </a:r>
          </a:p>
        </p:txBody>
      </p:sp>
      <p:graphicFrame>
        <p:nvGraphicFramePr>
          <p:cNvPr id="4" name="Table"/>
          <p:cNvGraphicFramePr>
            <a:graphicFrameLocks noGrp="1"/>
          </p:cNvGraphicFramePr>
          <p:nvPr/>
        </p:nvGraphicFramePr>
        <p:xfrm>
          <a:off x="813816" y="1783080"/>
          <a:ext cx="10552176" cy="3273552"/>
        </p:xfrm>
        <a:graphic>
          <a:graphicData uri="http://schemas.openxmlformats.org/drawingml/2006/table">
            <a:tbl>
              <a:tblPr/>
              <a:tblGrid>
                <a:gridCol w="320040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gridCol w="658368">
                  <a:extLst>
                    <a:ext uri="{9D8B030D-6E8A-4147-A177-3AD203B41FA5}">
                      <a16:colId xmlns:a16="http://schemas.microsoft.com/office/drawing/2014/main" val="20004"/>
                    </a:ext>
                  </a:extLst>
                </a:gridCol>
                <a:gridCol w="658368">
                  <a:extLst>
                    <a:ext uri="{9D8B030D-6E8A-4147-A177-3AD203B41FA5}">
                      <a16:colId xmlns:a16="http://schemas.microsoft.com/office/drawing/2014/main" val="20005"/>
                    </a:ext>
                  </a:extLst>
                </a:gridCol>
                <a:gridCol w="658368">
                  <a:extLst>
                    <a:ext uri="{9D8B030D-6E8A-4147-A177-3AD203B41FA5}">
                      <a16:colId xmlns:a16="http://schemas.microsoft.com/office/drawing/2014/main" val="20006"/>
                    </a:ext>
                  </a:extLst>
                </a:gridCol>
                <a:gridCol w="3401568">
                  <a:extLst>
                    <a:ext uri="{9D8B030D-6E8A-4147-A177-3AD203B41FA5}">
                      <a16:colId xmlns:a16="http://schemas.microsoft.com/office/drawing/2014/main" val="20007"/>
                    </a:ext>
                  </a:extLst>
                </a:gridCol>
              </a:tblGrid>
              <a:tr h="329184">
                <a:tc>
                  <a:txBody>
                    <a:bodyPr/>
                    <a:lstStyle/>
                    <a:p>
                      <a:pPr>
                        <a:lnSpc>
                          <a:spcPts val="1600"/>
                        </a:lnSpc>
                      </a:pPr>
                      <a:r>
                        <a:rPr sz="1200" b="1">
                          <a:solidFill>
                            <a:srgbClr val="14213D"/>
                          </a:solidFill>
                          <a:latin typeface="IBM Plex Sans"/>
                        </a:rPr>
                        <a:t>Acteur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OM1</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OM2</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OM3</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OM4</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OM5</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gn="ctr">
                        <a:lnSpc>
                          <a:spcPts val="1600"/>
                        </a:lnSpc>
                      </a:pPr>
                      <a:r>
                        <a:rPr sz="1200" b="1">
                          <a:solidFill>
                            <a:srgbClr val="14213D"/>
                          </a:solidFill>
                          <a:latin typeface="IBM Plex Sans"/>
                        </a:rPr>
                        <a:t>OM6</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600"/>
                        </a:lnSpc>
                      </a:pPr>
                      <a:r>
                        <a:rPr sz="1200" b="1">
                          <a:solidFill>
                            <a:srgbClr val="14213D"/>
                          </a:solidFill>
                          <a:latin typeface="IBM Plex Sans"/>
                        </a:rPr>
                        <a:t>Vue du tableau de bord</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420624">
                <a:tc>
                  <a:txBody>
                    <a:bodyPr/>
                    <a:lstStyle/>
                    <a:p>
                      <a:pPr>
                        <a:lnSpc>
                          <a:spcPts val="1600"/>
                        </a:lnSpc>
                      </a:pPr>
                      <a:r>
                        <a:rPr sz="1200" b="1">
                          <a:solidFill>
                            <a:srgbClr val="14213D"/>
                          </a:solidFill>
                          <a:latin typeface="IBM Plex Sans"/>
                        </a:rPr>
                        <a:t>Direction générale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Vue consolidée, tous départements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420624">
                <a:tc>
                  <a:txBody>
                    <a:bodyPr/>
                    <a:lstStyle/>
                    <a:p>
                      <a:pPr>
                        <a:lnSpc>
                          <a:spcPts val="1600"/>
                        </a:lnSpc>
                      </a:pPr>
                      <a:r>
                        <a:rPr sz="1200" b="1">
                          <a:solidFill>
                            <a:srgbClr val="14213D"/>
                          </a:solidFill>
                          <a:latin typeface="IBM Plex Sans"/>
                        </a:rPr>
                        <a:t>DRH</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420624">
                <a:tc>
                  <a:txBody>
                    <a:bodyPr/>
                    <a:lstStyle/>
                    <a:p>
                      <a:pPr>
                        <a:lnSpc>
                          <a:spcPts val="1600"/>
                        </a:lnSpc>
                      </a:pPr>
                      <a:r>
                        <a:rPr sz="1200" b="1">
                          <a:solidFill>
                            <a:srgbClr val="14213D"/>
                          </a:solidFill>
                          <a:latin typeface="IBM Plex Sans"/>
                        </a:rPr>
                        <a:t>Contrôle de gestion et paie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 sur OM2 et OM3</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420624">
                <a:tc>
                  <a:txBody>
                    <a:bodyPr/>
                    <a:lstStyle/>
                    <a:p>
                      <a:pPr>
                        <a:lnSpc>
                          <a:spcPts val="1600"/>
                        </a:lnSpc>
                      </a:pPr>
                      <a:r>
                        <a:rPr sz="1200" b="1">
                          <a:solidFill>
                            <a:srgbClr val="14213D"/>
                          </a:solidFill>
                          <a:latin typeface="IBM Plex Sans"/>
                        </a:rPr>
                        <a:t>Resp. administration du personnel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Détail par employé</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420624">
                <a:tc>
                  <a:txBody>
                    <a:bodyPr/>
                    <a:lstStyle/>
                    <a:p>
                      <a:pPr>
                        <a:lnSpc>
                          <a:spcPts val="1600"/>
                        </a:lnSpc>
                      </a:pPr>
                      <a:r>
                        <a:rPr sz="1200" b="1">
                          <a:solidFill>
                            <a:srgbClr val="14213D"/>
                          </a:solidFill>
                          <a:latin typeface="IBM Plex Sans"/>
                        </a:rPr>
                        <a:t>Resp. formation</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Complète sur OM4</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420624">
                <a:tc>
                  <a:txBody>
                    <a:bodyPr/>
                    <a:lstStyle/>
                    <a:p>
                      <a:pPr>
                        <a:lnSpc>
                          <a:spcPts val="1600"/>
                        </a:lnSpc>
                      </a:pPr>
                      <a:r>
                        <a:rPr sz="1200" b="1">
                          <a:solidFill>
                            <a:srgbClr val="14213D"/>
                          </a:solidFill>
                          <a:latin typeface="IBM Plex Sans"/>
                        </a:rPr>
                        <a:t>Resp.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Agrégée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420624">
                <a:tc>
                  <a:txBody>
                    <a:bodyPr/>
                    <a:lstStyle/>
                    <a:p>
                      <a:pPr>
                        <a:lnSpc>
                          <a:spcPts val="1600"/>
                        </a:lnSpc>
                      </a:pPr>
                      <a:r>
                        <a:rPr sz="1200" b="1">
                          <a:solidFill>
                            <a:srgbClr val="14213D"/>
                          </a:solidFill>
                          <a:latin typeface="IBM Plex Sans"/>
                        </a:rPr>
                        <a:t>Managers de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endParaRP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gn="ctr">
                        <a:lnSpc>
                          <a:spcPts val="1600"/>
                        </a:lnSpc>
                      </a:pPr>
                      <a:r>
                        <a:rPr sz="1200" b="1">
                          <a:solidFill>
                            <a:srgbClr val="2F5DA8"/>
                          </a:solidFill>
                          <a:latin typeface="IBM Plex Sans"/>
                        </a:rPr>
                        <a:t>●</a:t>
                      </a:r>
                    </a:p>
                  </a:txBody>
                  <a:tcPr marL="53340" marR="53340" marT="53340" marB="53340" anchor="ctr">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600"/>
                        </a:lnSpc>
                      </a:pPr>
                      <a:r>
                        <a:rPr sz="1200" b="0">
                          <a:solidFill>
                            <a:srgbClr val="3E4A5C"/>
                          </a:solidFill>
                          <a:latin typeface="IBM Plex Sans"/>
                        </a:rPr>
                        <a:t>Limitée à leur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bl>
          </a:graphicData>
        </a:graphic>
      </p:graphicFrame>
      <p:sp>
        <p:nvSpPr>
          <p:cNvPr id="5" name="TextBox 4"/>
          <p:cNvSpPr txBox="1"/>
          <p:nvPr/>
        </p:nvSpPr>
        <p:spPr>
          <a:xfrm>
            <a:off x="813816" y="5257800"/>
            <a:ext cx="10515600" cy="640080"/>
          </a:xfrm>
          <a:prstGeom prst="rect">
            <a:avLst/>
          </a:prstGeom>
          <a:noFill/>
        </p:spPr>
        <p:txBody>
          <a:bodyPr wrap="square" lIns="0" tIns="0" rIns="0" bIns="0">
            <a:spAutoFit/>
          </a:bodyPr>
          <a:lstStyle/>
          <a:p>
            <a:pPr>
              <a:lnSpc>
                <a:spcPts val="1700"/>
              </a:lnSpc>
            </a:pPr>
            <a:r>
              <a:rPr sz="1200" b="0">
                <a:solidFill>
                  <a:srgbClr val="3E4A5C"/>
                </a:solidFill>
                <a:latin typeface="IBM Plex Sans"/>
              </a:rPr>
              <a:t>● usage principal. Les managers sont ceux de l’Informatique, du Télécom, de la Communication et de l’Administration. Seuls les acteurs consommateurs sont retenus : les producteurs de données (DSI, équipe BI) ne sont pas décrits ici.</a:t>
            </a:r>
          </a:p>
        </p:txBody>
      </p:sp>
      <p:sp>
        <p:nvSpPr>
          <p:cNvPr id="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20 · </a:t>
            </a:r>
            <a:r>
              <a:rPr sz="1200" b="0">
                <a:solidFill>
                  <a:srgbClr val="2F5DA8"/>
                </a:solidFill>
                <a:latin typeface="IBM Plex Sans"/>
              </a:rPr>
              <a:t>Code : aucun (analyse des acteurs consommateurs)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LIMITES</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Décisions possibles et limites par acteur</a:t>
            </a:r>
          </a:p>
        </p:txBody>
      </p:sp>
      <p:graphicFrame>
        <p:nvGraphicFramePr>
          <p:cNvPr id="4" name="Table"/>
          <p:cNvGraphicFramePr>
            <a:graphicFrameLocks noGrp="1"/>
          </p:cNvGraphicFramePr>
          <p:nvPr/>
        </p:nvGraphicFramePr>
        <p:xfrm>
          <a:off x="813816" y="1783080"/>
          <a:ext cx="10552176" cy="4041648"/>
        </p:xfrm>
        <a:graphic>
          <a:graphicData uri="http://schemas.openxmlformats.org/drawingml/2006/table">
            <a:tbl>
              <a:tblPr/>
              <a:tblGrid>
                <a:gridCol w="23317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385816">
                  <a:extLst>
                    <a:ext uri="{9D8B030D-6E8A-4147-A177-3AD203B41FA5}">
                      <a16:colId xmlns:a16="http://schemas.microsoft.com/office/drawing/2014/main" val="20002"/>
                    </a:ext>
                  </a:extLst>
                </a:gridCol>
              </a:tblGrid>
              <a:tr h="329184">
                <a:tc>
                  <a:txBody>
                    <a:bodyPr/>
                    <a:lstStyle/>
                    <a:p>
                      <a:pPr>
                        <a:lnSpc>
                          <a:spcPts val="1400"/>
                        </a:lnSpc>
                      </a:pPr>
                      <a:r>
                        <a:rPr sz="1100" b="1">
                          <a:solidFill>
                            <a:srgbClr val="14213D"/>
                          </a:solidFill>
                          <a:latin typeface="IBM Plex Sans"/>
                        </a:rPr>
                        <a:t>Acteur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Il peut décider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tc>
                  <a:txBody>
                    <a:bodyPr/>
                    <a:lstStyle/>
                    <a:p>
                      <a:pPr>
                        <a:lnSpc>
                          <a:spcPts val="1400"/>
                        </a:lnSpc>
                      </a:pPr>
                      <a:r>
                        <a:rPr sz="1100" b="1">
                          <a:solidFill>
                            <a:srgbClr val="14213D"/>
                          </a:solidFill>
                          <a:latin typeface="IBM Plex Sans"/>
                        </a:rPr>
                        <a:t>Ses limites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solidFill>
                      <a:srgbClr val="DDDFE4"/>
                    </a:solidFill>
                  </a:tcPr>
                </a:tc>
                <a:extLst>
                  <a:ext uri="{0D108BD9-81ED-4DB2-BD59-A6C34878D82A}">
                    <a16:rowId xmlns:a16="http://schemas.microsoft.com/office/drawing/2014/main" val="10000"/>
                  </a:ext>
                </a:extLst>
              </a:tr>
              <a:tr h="530352">
                <a:tc>
                  <a:txBody>
                    <a:bodyPr/>
                    <a:lstStyle/>
                    <a:p>
                      <a:pPr>
                        <a:lnSpc>
                          <a:spcPts val="1400"/>
                        </a:lnSpc>
                      </a:pPr>
                      <a:r>
                        <a:rPr sz="1100" b="1">
                          <a:solidFill>
                            <a:srgbClr val="14213D"/>
                          </a:solidFill>
                          <a:latin typeface="IBM Plex Sans"/>
                        </a:rPr>
                        <a:t>Direction générale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Arbitrer budget et capacités entre départements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Chiffres indicatifs : ni budget ni cible, capacité de l’Administration douteuse (640 %), aucune mesure de performance.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1"/>
                  </a:ext>
                </a:extLst>
              </a:tr>
              <a:tr h="530352">
                <a:tc>
                  <a:txBody>
                    <a:bodyPr/>
                    <a:lstStyle/>
                    <a:p>
                      <a:pPr>
                        <a:lnSpc>
                          <a:spcPts val="1400"/>
                        </a:lnSpc>
                      </a:pPr>
                      <a:r>
                        <a:rPr sz="1100" b="1">
                          <a:solidFill>
                            <a:srgbClr val="14213D"/>
                          </a:solidFill>
                          <a:latin typeface="IBM Plex Sans"/>
                        </a:rPr>
                        <a:t>DRH</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Fixer les priorités RH sur les six objectifs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Une seule photo, donc pas de tendance ; turnover non mesurable ; données synthétiques : écarts structurels seulement.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2"/>
                  </a:ext>
                </a:extLst>
              </a:tr>
              <a:tr h="530352">
                <a:tc>
                  <a:txBody>
                    <a:bodyPr/>
                    <a:lstStyle/>
                    <a:p>
                      <a:pPr>
                        <a:lnSpc>
                          <a:spcPts val="1400"/>
                        </a:lnSpc>
                      </a:pPr>
                      <a:r>
                        <a:rPr sz="1100" b="1">
                          <a:solidFill>
                            <a:srgbClr val="14213D"/>
                          </a:solidFill>
                          <a:latin typeface="IBM Plex Sans"/>
                        </a:rPr>
                        <a:t>Contrôle de gestion et paie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Suivre la masse salariale et les heures sup</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Coût estimé sous hypothèses (période, devise) ; heures sup techniques non chiffrées ; charges et primes absentes.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3"/>
                  </a:ext>
                </a:extLst>
              </a:tr>
              <a:tr h="530352">
                <a:tc>
                  <a:txBody>
                    <a:bodyPr/>
                    <a:lstStyle/>
                    <a:p>
                      <a:pPr>
                        <a:lnSpc>
                          <a:spcPts val="1400"/>
                        </a:lnSpc>
                      </a:pPr>
                      <a:r>
                        <a:rPr sz="1100" b="1">
                          <a:solidFill>
                            <a:srgbClr val="14213D"/>
                          </a:solidFill>
                          <a:latin typeface="IBM Plex Sans"/>
                        </a:rPr>
                        <a:t>Resp. administration du personnel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Corriger les contrats, suivre échéances et congés</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Dates de fin peu fiables (663 contrats échus, 468 CDI datés) ; congés connus par le dernier congé seulement.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4"/>
                  </a:ext>
                </a:extLst>
              </a:tr>
              <a:tr h="530352">
                <a:tc>
                  <a:txBody>
                    <a:bodyPr/>
                    <a:lstStyle/>
                    <a:p>
                      <a:pPr>
                        <a:lnSpc>
                          <a:spcPts val="1400"/>
                        </a:lnSpc>
                      </a:pPr>
                      <a:r>
                        <a:rPr sz="1100" b="1">
                          <a:solidFill>
                            <a:srgbClr val="14213D"/>
                          </a:solidFill>
                          <a:latin typeface="IBM Plex Sans"/>
                        </a:rPr>
                        <a:t>Resp. formation</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Orienter les parcours par métier</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Ni date, ni coût, ni réussite des formations ; administratifs non couverts ; table de correspondance compétences à construire.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5"/>
                  </a:ext>
                </a:extLst>
              </a:tr>
              <a:tr h="530352">
                <a:tc>
                  <a:txBody>
                    <a:bodyPr/>
                    <a:lstStyle/>
                    <a:p>
                      <a:pPr>
                        <a:lnSpc>
                          <a:spcPts val="1400"/>
                        </a:lnSpc>
                      </a:pPr>
                      <a:r>
                        <a:rPr sz="1100" b="1">
                          <a:solidFill>
                            <a:srgbClr val="14213D"/>
                          </a:solidFill>
                          <a:latin typeface="IBM Plex Sans"/>
                        </a:rPr>
                        <a:t>Resp.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Choisir les canaux de recrutement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Entrées seules, sans sorties ; ni coût ni qualité par canal.</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6"/>
                  </a:ext>
                </a:extLst>
              </a:tr>
              <a:tr h="530352">
                <a:tc>
                  <a:txBody>
                    <a:bodyPr/>
                    <a:lstStyle/>
                    <a:p>
                      <a:pPr>
                        <a:lnSpc>
                          <a:spcPts val="1400"/>
                        </a:lnSpc>
                      </a:pPr>
                      <a:r>
                        <a:rPr sz="1100" b="1">
                          <a:solidFill>
                            <a:srgbClr val="14213D"/>
                          </a:solidFill>
                          <a:latin typeface="IBM Plex Sans"/>
                        </a:rPr>
                        <a:t>Managers de département</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Piloter charge, assiduité, congés et échéances de leur équipe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tc>
                  <a:txBody>
                    <a:bodyPr/>
                    <a:lstStyle/>
                    <a:p>
                      <a:pPr>
                        <a:lnSpc>
                          <a:spcPts val="1400"/>
                        </a:lnSpc>
                      </a:pPr>
                      <a:r>
                        <a:rPr sz="1100" b="0">
                          <a:solidFill>
                            <a:srgbClr val="3E4A5C"/>
                          </a:solidFill>
                          <a:latin typeface="IBM Plex Sans"/>
                        </a:rPr>
                        <a:t>Accès limité à leur département ; pointages admin sur 3 mois ; seuil de retard (8h30) non validé ; aucun motif d’absence.</a:t>
                      </a:r>
                    </a:p>
                  </a:txBody>
                  <a:tcPr marL="53340" marR="53340" marT="53340" marB="53340">
                    <a:lnL w="12700" cap="flat" cmpd="sng" algn="ctr">
                      <a:solidFill>
                        <a:srgbClr val="BEC0C4"/>
                      </a:solidFill>
                      <a:prstDash val="solid"/>
                    </a:lnL>
                    <a:lnR w="12700" cap="flat" cmpd="sng" algn="ctr">
                      <a:solidFill>
                        <a:srgbClr val="BEC0C4"/>
                      </a:solidFill>
                      <a:prstDash val="solid"/>
                    </a:lnR>
                    <a:lnT w="12700" cap="flat" cmpd="sng" algn="ctr">
                      <a:solidFill>
                        <a:srgbClr val="BEC0C4"/>
                      </a:solidFill>
                      <a:prstDash val="solid"/>
                    </a:lnT>
                    <a:lnB w="12700" cap="flat" cmpd="sng" algn="ctr">
                      <a:solidFill>
                        <a:srgbClr val="BEC0C4"/>
                      </a:solidFill>
                      <a:prstDash val="solid"/>
                    </a:lnB>
                  </a:tcPr>
                </a:tc>
                <a:extLst>
                  <a:ext uri="{0D108BD9-81ED-4DB2-BD59-A6C34878D82A}">
                    <a16:rowId xmlns:a16="http://schemas.microsoft.com/office/drawing/2014/main" val="10007"/>
                  </a:ext>
                </a:extLst>
              </a:tr>
            </a:tbl>
          </a:graphicData>
        </a:graphic>
      </p:graphicFrame>
      <p:sp>
        <p:nvSpPr>
          <p:cNvPr id="5"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21 · </a:t>
            </a:r>
            <a:r>
              <a:rPr sz="1200" b="0">
                <a:solidFill>
                  <a:srgbClr val="2F5DA8"/>
                </a:solidFill>
                <a:latin typeface="IBM Plex Sans"/>
              </a:rPr>
              <a:t>Code : aucun (analyse des acteurs consommateurs)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1F6"/>
        </a:solidFill>
        <a:effectLst/>
      </p:bgPr>
    </p:bg>
    <p:spTree>
      <p:nvGrpSpPr>
        <p:cNvPr id="1" name=""/>
        <p:cNvGrpSpPr/>
        <p:nvPr/>
      </p:nvGrpSpPr>
      <p:grpSpPr>
        <a:xfrm>
          <a:off x="0" y="0"/>
          <a:ext cx="0" cy="0"/>
          <a:chOff x="0" y="0"/>
          <a:chExt cx="0" cy="0"/>
        </a:xfrm>
      </p:grpSpPr>
      <p:sp>
        <p:nvSpPr>
          <p:cNvPr id="2" name="Kicker"/>
          <p:cNvSpPr txBox="1"/>
          <p:nvPr/>
        </p:nvSpPr>
        <p:spPr>
          <a:xfrm>
            <a:off x="813816" y="813816"/>
            <a:ext cx="10881360" cy="237744"/>
          </a:xfrm>
          <a:prstGeom prst="rect">
            <a:avLst/>
          </a:prstGeom>
          <a:noFill/>
        </p:spPr>
        <p:txBody>
          <a:bodyPr wrap="square" lIns="0" tIns="0" rIns="0" bIns="0">
            <a:spAutoFit/>
          </a:bodyPr>
          <a:lstStyle/>
          <a:p>
            <a:pPr>
              <a:lnSpc>
                <a:spcPts val="1700"/>
              </a:lnSpc>
            </a:pPr>
            <a:r>
              <a:rPr sz="1200" b="1" spc="100">
                <a:solidFill>
                  <a:srgbClr val="B4531A"/>
                </a:solidFill>
                <a:latin typeface="IBM Plex Sans"/>
              </a:rPr>
              <a:t>ACTEURS · CONDITIONS D’USAGE</a:t>
            </a:r>
          </a:p>
        </p:txBody>
      </p:sp>
      <p:sp>
        <p:nvSpPr>
          <p:cNvPr id="3" name="Title"/>
          <p:cNvSpPr txBox="1"/>
          <p:nvPr/>
        </p:nvSpPr>
        <p:spPr>
          <a:xfrm>
            <a:off x="813816" y="1106424"/>
            <a:ext cx="10881360" cy="475488"/>
          </a:xfrm>
          <a:prstGeom prst="rect">
            <a:avLst/>
          </a:prstGeom>
          <a:noFill/>
        </p:spPr>
        <p:txBody>
          <a:bodyPr wrap="square" lIns="0" tIns="0" rIns="0" bIns="0">
            <a:spAutoFit/>
          </a:bodyPr>
          <a:lstStyle/>
          <a:p>
            <a:pPr>
              <a:lnSpc>
                <a:spcPts val="3500"/>
              </a:lnSpc>
            </a:pPr>
            <a:r>
              <a:rPr sz="3200" b="1">
                <a:solidFill>
                  <a:srgbClr val="14213D"/>
                </a:solidFill>
                <a:latin typeface="Space Grotesk"/>
              </a:rPr>
              <a:t>Trois conditions de lecture des indicateurs</a:t>
            </a:r>
          </a:p>
        </p:txBody>
      </p:sp>
      <p:sp>
        <p:nvSpPr>
          <p:cNvPr id="4" name="Rounded Rectangle 3"/>
          <p:cNvSpPr/>
          <p:nvPr/>
        </p:nvSpPr>
        <p:spPr>
          <a:xfrm>
            <a:off x="813816"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5" name="TextBox 4"/>
          <p:cNvSpPr txBox="1"/>
          <p:nvPr/>
        </p:nvSpPr>
        <p:spPr>
          <a:xfrm>
            <a:off x="1024128"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01</a:t>
            </a:r>
          </a:p>
        </p:txBody>
      </p:sp>
      <p:sp>
        <p:nvSpPr>
          <p:cNvPr id="6" name="TextBox 5"/>
          <p:cNvSpPr txBox="1"/>
          <p:nvPr/>
        </p:nvSpPr>
        <p:spPr>
          <a:xfrm>
            <a:off x="1024128"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Accès par département</a:t>
            </a:r>
          </a:p>
        </p:txBody>
      </p:sp>
      <p:sp>
        <p:nvSpPr>
          <p:cNvPr id="7" name="TextBox 6"/>
          <p:cNvSpPr txBox="1"/>
          <p:nvPr/>
        </p:nvSpPr>
        <p:spPr>
          <a:xfrm>
            <a:off x="1024128"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Managers : leur département seulement (sécurité par ligne)</a:t>
            </a:r>
          </a:p>
          <a:p>
            <a:pPr marL="171450" indent="-171450">
              <a:lnSpc>
                <a:spcPts val="1700"/>
              </a:lnSpc>
              <a:spcAft>
                <a:spcPts val="600"/>
              </a:spcAft>
              <a:buChar char="•"/>
            </a:pPr>
            <a:r>
              <a:rPr sz="1200" b="0">
                <a:solidFill>
                  <a:srgbClr val="3E4A5C"/>
                </a:solidFill>
                <a:latin typeface="IBM Plex Sans"/>
              </a:rPr>
              <a:t>DRH : vue complète</a:t>
            </a:r>
          </a:p>
          <a:p>
            <a:pPr marL="171450" indent="-171450">
              <a:lnSpc>
                <a:spcPts val="1700"/>
              </a:lnSpc>
              <a:spcAft>
                <a:spcPts val="600"/>
              </a:spcAft>
              <a:buChar char="•"/>
            </a:pPr>
            <a:r>
              <a:rPr sz="1200" b="0">
                <a:solidFill>
                  <a:srgbClr val="3E4A5C"/>
                </a:solidFill>
                <a:latin typeface="IBM Plex Sans"/>
              </a:rPr>
              <a:t>Autres acteurs : vue agrégée ou limitée à leur objectif</a:t>
            </a:r>
          </a:p>
          <a:p>
            <a:pPr marL="171450" indent="-171450">
              <a:lnSpc>
                <a:spcPts val="1700"/>
              </a:lnSpc>
              <a:spcAft>
                <a:spcPts val="600"/>
              </a:spcAft>
              <a:buChar char="•"/>
            </a:pPr>
            <a:r>
              <a:rPr sz="1200" b="0">
                <a:solidFill>
                  <a:srgbClr val="3E4A5C"/>
                </a:solidFill>
                <a:latin typeface="IBM Plex Sans"/>
              </a:rPr>
              <a:t>Nom, e-mail et adresse exclus de l’analyse</a:t>
            </a:r>
          </a:p>
        </p:txBody>
      </p:sp>
      <p:sp>
        <p:nvSpPr>
          <p:cNvPr id="8" name="Rounded Rectangle 7"/>
          <p:cNvSpPr/>
          <p:nvPr/>
        </p:nvSpPr>
        <p:spPr>
          <a:xfrm>
            <a:off x="4389120"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9" name="TextBox 8"/>
          <p:cNvSpPr txBox="1"/>
          <p:nvPr/>
        </p:nvSpPr>
        <p:spPr>
          <a:xfrm>
            <a:off x="4599432"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02</a:t>
            </a:r>
          </a:p>
        </p:txBody>
      </p:sp>
      <p:sp>
        <p:nvSpPr>
          <p:cNvPr id="10" name="TextBox 9"/>
          <p:cNvSpPr txBox="1"/>
          <p:nvPr/>
        </p:nvSpPr>
        <p:spPr>
          <a:xfrm>
            <a:off x="4599432"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Lecture prudente</a:t>
            </a:r>
          </a:p>
        </p:txBody>
      </p:sp>
      <p:sp>
        <p:nvSpPr>
          <p:cNvPr id="11" name="TextBox 10"/>
          <p:cNvSpPr txBox="1"/>
          <p:nvPr/>
        </p:nvSpPr>
        <p:spPr>
          <a:xfrm>
            <a:off x="4599432"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Données synthétiques : retenir les écarts structurels, pas les signaux faibles</a:t>
            </a:r>
          </a:p>
          <a:p>
            <a:pPr marL="171450" indent="-171450">
              <a:lnSpc>
                <a:spcPts val="1700"/>
              </a:lnSpc>
              <a:spcAft>
                <a:spcPts val="600"/>
              </a:spcAft>
              <a:buChar char="•"/>
            </a:pPr>
            <a:r>
              <a:rPr sz="1200" b="0">
                <a:solidFill>
                  <a:srgbClr val="3E4A5C"/>
                </a:solidFill>
                <a:latin typeface="IBM Plex Sans"/>
              </a:rPr>
              <a:t>Une seule photo RH : pas de tendance</a:t>
            </a:r>
          </a:p>
          <a:p>
            <a:pPr marL="171450" indent="-171450">
              <a:lnSpc>
                <a:spcPts val="1700"/>
              </a:lnSpc>
              <a:spcAft>
                <a:spcPts val="600"/>
              </a:spcAft>
              <a:buChar char="•"/>
            </a:pPr>
            <a:r>
              <a:rPr sz="1200" b="0">
                <a:solidFill>
                  <a:srgbClr val="3E4A5C"/>
                </a:solidFill>
                <a:latin typeface="IBM Plex Sans"/>
              </a:rPr>
              <a:t>Pointages admin sur 3 mois, techniques sur 6 : comparer sur janvier–mars</a:t>
            </a:r>
          </a:p>
          <a:p>
            <a:pPr marL="171450" indent="-171450">
              <a:lnSpc>
                <a:spcPts val="1700"/>
              </a:lnSpc>
              <a:spcAft>
                <a:spcPts val="600"/>
              </a:spcAft>
              <a:buChar char="•"/>
            </a:pPr>
            <a:r>
              <a:rPr sz="1200" b="0">
                <a:solidFill>
                  <a:srgbClr val="3E4A5C"/>
                </a:solidFill>
                <a:latin typeface="IBM Plex Sans"/>
              </a:rPr>
              <a:t>Seuil de retard à valider</a:t>
            </a:r>
          </a:p>
        </p:txBody>
      </p:sp>
      <p:sp>
        <p:nvSpPr>
          <p:cNvPr id="12" name="Rounded Rectangle 11"/>
          <p:cNvSpPr/>
          <p:nvPr/>
        </p:nvSpPr>
        <p:spPr>
          <a:xfrm>
            <a:off x="7964424" y="1856232"/>
            <a:ext cx="3392424" cy="3154680"/>
          </a:xfrm>
          <a:prstGeom prst="roundRect">
            <a:avLst>
              <a:gd name="adj" fmla="val 4960"/>
            </a:avLst>
          </a:prstGeom>
          <a:solidFill>
            <a:srgbClr val="FDFCFA"/>
          </a:solidFill>
          <a:ln w="6350">
            <a:solidFill>
              <a:srgbClr val="DAD6CC"/>
            </a:solidFill>
          </a:ln>
        </p:spPr>
        <p:txBody>
          <a:bodyPr rtlCol="0" anchor="ctr"/>
          <a:lstStyle/>
          <a:p>
            <a:pPr algn="ctr"/>
            <a:endParaRPr/>
          </a:p>
        </p:txBody>
      </p:sp>
      <p:sp>
        <p:nvSpPr>
          <p:cNvPr id="13" name="TextBox 12"/>
          <p:cNvSpPr txBox="1"/>
          <p:nvPr/>
        </p:nvSpPr>
        <p:spPr>
          <a:xfrm>
            <a:off x="8174736" y="2057400"/>
            <a:ext cx="2926080" cy="384048"/>
          </a:xfrm>
          <a:prstGeom prst="rect">
            <a:avLst/>
          </a:prstGeom>
          <a:noFill/>
        </p:spPr>
        <p:txBody>
          <a:bodyPr wrap="square" lIns="0" tIns="0" rIns="0" bIns="0">
            <a:spAutoFit/>
          </a:bodyPr>
          <a:lstStyle/>
          <a:p>
            <a:pPr>
              <a:lnSpc>
                <a:spcPts val="2200"/>
              </a:lnSpc>
            </a:pPr>
            <a:r>
              <a:rPr sz="2000" b="1">
                <a:solidFill>
                  <a:srgbClr val="B4531A"/>
                </a:solidFill>
                <a:latin typeface="Space Grotesk"/>
              </a:rPr>
              <a:t>03</a:t>
            </a:r>
          </a:p>
        </p:txBody>
      </p:sp>
      <p:sp>
        <p:nvSpPr>
          <p:cNvPr id="14" name="TextBox 13"/>
          <p:cNvSpPr txBox="1"/>
          <p:nvPr/>
        </p:nvSpPr>
        <p:spPr>
          <a:xfrm>
            <a:off x="8174736" y="2514600"/>
            <a:ext cx="2971800" cy="292608"/>
          </a:xfrm>
          <a:prstGeom prst="rect">
            <a:avLst/>
          </a:prstGeom>
          <a:noFill/>
        </p:spPr>
        <p:txBody>
          <a:bodyPr wrap="square" lIns="0" tIns="0" rIns="0" bIns="0">
            <a:spAutoFit/>
          </a:bodyPr>
          <a:lstStyle/>
          <a:p>
            <a:pPr>
              <a:lnSpc>
                <a:spcPts val="1600"/>
              </a:lnSpc>
            </a:pPr>
            <a:r>
              <a:rPr sz="1500" b="1">
                <a:solidFill>
                  <a:srgbClr val="14213D"/>
                </a:solidFill>
                <a:latin typeface="Space Grotesk"/>
              </a:rPr>
              <a:t>Données à obtenir</a:t>
            </a:r>
          </a:p>
        </p:txBody>
      </p:sp>
      <p:sp>
        <p:nvSpPr>
          <p:cNvPr id="15" name="TextBox 14"/>
          <p:cNvSpPr txBox="1"/>
          <p:nvPr/>
        </p:nvSpPr>
        <p:spPr>
          <a:xfrm>
            <a:off x="8174736" y="2926080"/>
            <a:ext cx="2971800" cy="2468880"/>
          </a:xfrm>
          <a:prstGeom prst="rect">
            <a:avLst/>
          </a:prstGeom>
          <a:noFill/>
        </p:spPr>
        <p:txBody>
          <a:bodyPr wrap="square" lIns="0" tIns="0" rIns="0" bIns="0">
            <a:spAutoFit/>
          </a:bodyPr>
          <a:lstStyle/>
          <a:p>
            <a:pPr marL="171450" indent="-171450">
              <a:lnSpc>
                <a:spcPts val="1700"/>
              </a:lnSpc>
              <a:spcAft>
                <a:spcPts val="600"/>
              </a:spcAft>
              <a:buChar char="•"/>
            </a:pPr>
            <a:r>
              <a:rPr sz="1200" b="0">
                <a:solidFill>
                  <a:srgbClr val="3E4A5C"/>
                </a:solidFill>
                <a:latin typeface="IBM Plex Sans"/>
              </a:rPr>
              <a:t>Capacités validées par département</a:t>
            </a:r>
          </a:p>
          <a:p>
            <a:pPr marL="171450" indent="-171450">
              <a:lnSpc>
                <a:spcPts val="1700"/>
              </a:lnSpc>
              <a:spcAft>
                <a:spcPts val="600"/>
              </a:spcAft>
              <a:buChar char="•"/>
            </a:pPr>
            <a:r>
              <a:rPr sz="1200" b="0">
                <a:solidFill>
                  <a:srgbClr val="3E4A5C"/>
                </a:solidFill>
                <a:latin typeface="IBM Plex Sans"/>
              </a:rPr>
              <a:t>Devise et période de HOURS et extra_hour</a:t>
            </a:r>
          </a:p>
          <a:p>
            <a:pPr marL="171450" indent="-171450">
              <a:lnSpc>
                <a:spcPts val="1700"/>
              </a:lnSpc>
              <a:spcAft>
                <a:spcPts val="600"/>
              </a:spcAft>
              <a:buChar char="•"/>
            </a:pPr>
            <a:r>
              <a:rPr sz="1200" b="0">
                <a:solidFill>
                  <a:srgbClr val="3E4A5C"/>
                </a:solidFill>
                <a:latin typeface="IBM Plex Sans"/>
              </a:rPr>
              <a:t>Horaire contractuel et jours fériés</a:t>
            </a:r>
          </a:p>
          <a:p>
            <a:pPr marL="171450" indent="-171450">
              <a:lnSpc>
                <a:spcPts val="1700"/>
              </a:lnSpc>
              <a:spcAft>
                <a:spcPts val="600"/>
              </a:spcAft>
              <a:buChar char="•"/>
            </a:pPr>
            <a:r>
              <a:rPr sz="1200" b="0">
                <a:solidFill>
                  <a:srgbClr val="3E4A5C"/>
                </a:solidFill>
                <a:latin typeface="IBM Plex Sans"/>
              </a:rPr>
              <a:t>Journal des congés (début, fin, type)</a:t>
            </a:r>
          </a:p>
          <a:p>
            <a:pPr marL="171450" indent="-171450">
              <a:lnSpc>
                <a:spcPts val="1700"/>
              </a:lnSpc>
              <a:spcAft>
                <a:spcPts val="600"/>
              </a:spcAft>
              <a:buChar char="•"/>
            </a:pPr>
            <a:r>
              <a:rPr sz="1200" b="0">
                <a:solidFill>
                  <a:srgbClr val="3E4A5C"/>
                </a:solidFill>
                <a:latin typeface="IBM Plex Sans"/>
              </a:rPr>
              <a:t>Dates et coûts de formation, historique des sorties</a:t>
            </a:r>
          </a:p>
        </p:txBody>
      </p:sp>
      <p:sp>
        <p:nvSpPr>
          <p:cNvPr id="16" name="Footer"/>
          <p:cNvSpPr txBox="1"/>
          <p:nvPr/>
        </p:nvSpPr>
        <p:spPr>
          <a:xfrm>
            <a:off x="813816" y="6236208"/>
            <a:ext cx="10881360" cy="237744"/>
          </a:xfrm>
          <a:prstGeom prst="rect">
            <a:avLst/>
          </a:prstGeom>
          <a:noFill/>
        </p:spPr>
        <p:txBody>
          <a:bodyPr wrap="square" lIns="0" tIns="0" rIns="0" bIns="0">
            <a:spAutoFit/>
          </a:bodyPr>
          <a:lstStyle/>
          <a:p>
            <a:pPr>
              <a:lnSpc>
                <a:spcPts val="1700"/>
              </a:lnSpc>
            </a:pPr>
            <a:r>
              <a:rPr sz="1200" b="0">
                <a:solidFill>
                  <a:srgbClr val="6B7280"/>
                </a:solidFill>
                <a:latin typeface="IBM Plex Sans"/>
              </a:rPr>
              <a:t>Pilotage RH par la donnée · 22 · </a:t>
            </a:r>
            <a:r>
              <a:rPr sz="1200" b="0">
                <a:solidFill>
                  <a:srgbClr val="2F5DA8"/>
                </a:solidFill>
                <a:latin typeface="IBM Plex Sans"/>
              </a:rPr>
              <a:t>Code : aucun (analyse des acteurs consommateurs)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RECOMMANDATIONS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Cinq recommandations</a:t>
            </a:r>
            <a:endParaRPr lang="en-US" sz="3200" dirty="0"/>
          </a:p>
        </p:txBody>
      </p:sp>
      <p:sp>
        <p:nvSpPr>
          <p:cNvPr id="4" name="Text 2"/>
          <p:cNvSpPr/>
          <p:nvPr/>
        </p:nvSpPr>
        <p:spPr>
          <a:xfrm>
            <a:off x="812800" y="18541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1</a:t>
            </a:r>
            <a:endParaRPr lang="en-US" sz="2000" dirty="0"/>
          </a:p>
        </p:txBody>
      </p:sp>
      <p:sp>
        <p:nvSpPr>
          <p:cNvPr id="5" name="Text 3"/>
          <p:cNvSpPr/>
          <p:nvPr/>
        </p:nvSpPr>
        <p:spPr>
          <a:xfrm>
            <a:off x="1422400" y="1854101"/>
            <a:ext cx="1025550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Rééquilibrer la charge.</a:t>
            </a:r>
            <a:r>
              <a:rPr lang="en-US" sz="1500" dirty="0">
                <a:solidFill>
                  <a:srgbClr val="14213D"/>
                </a:solidFill>
                <a:latin typeface="IBM Plex Sans" pitchFamily="34" charset="0"/>
                <a:ea typeface="IBM Plex Sans" pitchFamily="34" charset="-122"/>
                <a:cs typeface="IBM Plex Sans" pitchFamily="34" charset="-120"/>
              </a:rPr>
              <a:t> Télécom à 147 % de sa capacité, Communication à 40 % ; réviser le référentiel de l'Administration (640 %).</a:t>
            </a:r>
            <a:endParaRPr lang="en-US" sz="1500" dirty="0"/>
          </a:p>
        </p:txBody>
      </p:sp>
      <p:sp>
        <p:nvSpPr>
          <p:cNvPr id="6" name="Text 4"/>
          <p:cNvSpPr/>
          <p:nvPr/>
        </p:nvSpPr>
        <p:spPr>
          <a:xfrm>
            <a:off x="812800" y="25653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2</a:t>
            </a:r>
            <a:endParaRPr lang="en-US" sz="2000" dirty="0"/>
          </a:p>
        </p:txBody>
      </p:sp>
      <p:sp>
        <p:nvSpPr>
          <p:cNvPr id="7" name="Text 5"/>
          <p:cNvSpPr/>
          <p:nvPr/>
        </p:nvSpPr>
        <p:spPr>
          <a:xfrm>
            <a:off x="1422400" y="2565301"/>
            <a:ext cx="10255504"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Fiabiliser les contrats.</a:t>
            </a:r>
            <a:r>
              <a:rPr lang="en-US" sz="1500" dirty="0">
                <a:solidFill>
                  <a:srgbClr val="14213D"/>
                </a:solidFill>
                <a:latin typeface="IBM Plex Sans" pitchFamily="34" charset="0"/>
                <a:ea typeface="IBM Plex Sans" pitchFamily="34" charset="-122"/>
                <a:cs typeface="IBM Plex Sans" pitchFamily="34" charset="-120"/>
              </a:rPr>
              <a:t> Corriger 468 CDI datés, 663 contrats échus et 221 vacataires en CDI avant de piloter les départs.</a:t>
            </a:r>
            <a:endParaRPr lang="en-US" sz="1500" dirty="0"/>
          </a:p>
        </p:txBody>
      </p:sp>
      <p:sp>
        <p:nvSpPr>
          <p:cNvPr id="8" name="Text 6"/>
          <p:cNvSpPr/>
          <p:nvPr/>
        </p:nvSpPr>
        <p:spPr>
          <a:xfrm>
            <a:off x="812800" y="32765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3</a:t>
            </a:r>
            <a:endParaRPr lang="en-US" sz="2000" dirty="0"/>
          </a:p>
        </p:txBody>
      </p:sp>
      <p:sp>
        <p:nvSpPr>
          <p:cNvPr id="9" name="Text 7"/>
          <p:cNvSpPr/>
          <p:nvPr/>
        </p:nvSpPr>
        <p:spPr>
          <a:xfrm>
            <a:off x="1422400" y="32765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Suivre l'Administration.</a:t>
            </a:r>
            <a:r>
              <a:rPr lang="en-US" sz="1500" dirty="0">
                <a:solidFill>
                  <a:srgbClr val="14213D"/>
                </a:solidFill>
                <a:latin typeface="IBM Plex Sans" pitchFamily="34" charset="0"/>
                <a:ea typeface="IBM Plex Sans" pitchFamily="34" charset="-122"/>
                <a:cs typeface="IBM Plex Sans" pitchFamily="34" charset="-120"/>
              </a:rPr>
              <a:t> 19,6 % de jours au-delà de 8 h et des horaires très dispersés.</a:t>
            </a:r>
            <a:endParaRPr lang="en-US" sz="1500" dirty="0"/>
          </a:p>
        </p:txBody>
      </p:sp>
      <p:sp>
        <p:nvSpPr>
          <p:cNvPr id="10" name="Text 8"/>
          <p:cNvSpPr/>
          <p:nvPr/>
        </p:nvSpPr>
        <p:spPr>
          <a:xfrm>
            <a:off x="812800" y="38099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4</a:t>
            </a:r>
            <a:endParaRPr lang="en-US" sz="2000" dirty="0"/>
          </a:p>
        </p:txBody>
      </p:sp>
      <p:sp>
        <p:nvSpPr>
          <p:cNvPr id="11" name="Text 9"/>
          <p:cNvSpPr/>
          <p:nvPr/>
        </p:nvSpPr>
        <p:spPr>
          <a:xfrm>
            <a:off x="1422400" y="38099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Structurer la formation.</a:t>
            </a:r>
            <a:r>
              <a:rPr lang="en-US" sz="1500" dirty="0">
                <a:solidFill>
                  <a:srgbClr val="14213D"/>
                </a:solidFill>
                <a:latin typeface="IBM Plex Sans" pitchFamily="34" charset="0"/>
                <a:ea typeface="IBM Plex Sans" pitchFamily="34" charset="-122"/>
                <a:cs typeface="IBM Plex Sans" pitchFamily="34" charset="-120"/>
              </a:rPr>
              <a:t> 13 cours par employé sans fil conducteur : bâtir des parcours par métier.</a:t>
            </a:r>
            <a:endParaRPr lang="en-US" sz="1500" dirty="0"/>
          </a:p>
        </p:txBody>
      </p:sp>
      <p:sp>
        <p:nvSpPr>
          <p:cNvPr id="12" name="Text 10"/>
          <p:cNvSpPr/>
          <p:nvPr/>
        </p:nvSpPr>
        <p:spPr>
          <a:xfrm>
            <a:off x="812800" y="4343301"/>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4531A"/>
                </a:solidFill>
                <a:latin typeface="Space Grotesk" pitchFamily="34" charset="0"/>
                <a:ea typeface="Space Grotesk" pitchFamily="34" charset="-122"/>
                <a:cs typeface="Space Grotesk" pitchFamily="34" charset="-120"/>
              </a:rPr>
              <a:t>5</a:t>
            </a:r>
            <a:endParaRPr lang="en-US" sz="2000" dirty="0"/>
          </a:p>
        </p:txBody>
      </p:sp>
      <p:sp>
        <p:nvSpPr>
          <p:cNvPr id="13" name="Text 11"/>
          <p:cNvSpPr/>
          <p:nvPr/>
        </p:nvSpPr>
        <p:spPr>
          <a:xfrm>
            <a:off x="1422400" y="4343301"/>
            <a:ext cx="102555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Écrire les règles manquantes.</a:t>
            </a:r>
            <a:r>
              <a:rPr lang="en-US" sz="1500" dirty="0">
                <a:solidFill>
                  <a:srgbClr val="14213D"/>
                </a:solidFill>
                <a:latin typeface="IBM Plex Sans" pitchFamily="34" charset="0"/>
                <a:ea typeface="IBM Plex Sans" pitchFamily="34" charset="-122"/>
                <a:cs typeface="IBM Plex Sans" pitchFamily="34" charset="-120"/>
              </a:rPr>
              <a:t> Devise, période des heures, horaire de référence.</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23 · </a:t>
            </a:r>
            <a:r>
              <a:rPr lang="en-US" sz="1200" dirty="0">
                <a:solidFill>
                  <a:srgbClr val="2F5DA8"/>
                </a:solidFill>
                <a:latin typeface="IBM Plex Sans" pitchFamily="34" charset="0"/>
                <a:ea typeface="IBM Plex Sans" pitchFamily="34" charset="-122"/>
                <a:cs typeface="IBM Plex Sans" pitchFamily="34" charset="-120"/>
              </a:rPr>
              <a:t>Code : cellule [8], section 7 (« RECOMMANDATIONS »)</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31A"/>
                </a:solidFill>
                <a:latin typeface="IBM Plex Sans" pitchFamily="34" charset="0"/>
                <a:ea typeface="IBM Plex Sans" pitchFamily="34" charset="-122"/>
                <a:cs typeface="IBM Plex Sans" pitchFamily="34" charset="-120"/>
              </a:rPr>
              <a:t>CONCLUSION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Limites et perspectives</a:t>
            </a:r>
            <a:endParaRPr lang="en-US" sz="3200" dirty="0"/>
          </a:p>
        </p:txBody>
      </p:sp>
      <p:sp>
        <p:nvSpPr>
          <p:cNvPr id="4" name="Shape 2"/>
          <p:cNvSpPr/>
          <p:nvPr/>
        </p:nvSpPr>
        <p:spPr>
          <a:xfrm>
            <a:off x="815975" y="1857276"/>
            <a:ext cx="5175250" cy="1733550"/>
          </a:xfrm>
          <a:prstGeom prst="roundRect">
            <a:avLst>
              <a:gd name="adj" fmla="val 5678"/>
            </a:avLst>
          </a:prstGeom>
          <a:solidFill>
            <a:srgbClr val="FDFCFA"/>
          </a:solidFill>
          <a:ln w="6350">
            <a:solidFill>
              <a:srgbClr val="DAD6CC"/>
            </a:solidFill>
            <a:prstDash val="solid"/>
          </a:ln>
        </p:spPr>
        <p:txBody>
          <a:bodyPr/>
          <a:lstStyle/>
          <a:p>
            <a:endParaRPr/>
          </a:p>
        </p:txBody>
      </p:sp>
      <p:sp>
        <p:nvSpPr>
          <p:cNvPr id="5" name="Text 3"/>
          <p:cNvSpPr/>
          <p:nvPr/>
        </p:nvSpPr>
        <p:spPr>
          <a:xfrm>
            <a:off x="1022350" y="206365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Limites</a:t>
            </a:r>
            <a:endParaRPr lang="en-US" sz="1500" dirty="0"/>
          </a:p>
        </p:txBody>
      </p:sp>
      <p:sp>
        <p:nvSpPr>
          <p:cNvPr id="6" name="Text 4"/>
          <p:cNvSpPr/>
          <p:nvPr/>
        </p:nvSpPr>
        <p:spPr>
          <a:xfrm>
            <a:off x="1022350" y="2393851"/>
            <a:ext cx="4905375" cy="1016000"/>
          </a:xfrm>
          <a:prstGeom prst="rect">
            <a:avLst/>
          </a:prstGeom>
          <a:noFill/>
          <a:ln/>
        </p:spPr>
        <p:txBody>
          <a:bodyPr wrap="square" lIns="0" tIns="0" rIns="0" bIns="0" rtlCol="0" anchor="t">
            <a:normAutofit/>
          </a:bodyPr>
          <a:lstStyle/>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synthétiques, peu de signal réel</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Une seule photo de la situation RH</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Formations sans date de suivi</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Pointages admin limités à trois mois</a:t>
            </a:r>
            <a:endParaRPr lang="en-US" sz="1300" dirty="0"/>
          </a:p>
        </p:txBody>
      </p:sp>
      <p:sp>
        <p:nvSpPr>
          <p:cNvPr id="7" name="Shape 5"/>
          <p:cNvSpPr/>
          <p:nvPr/>
        </p:nvSpPr>
        <p:spPr>
          <a:xfrm>
            <a:off x="6200775" y="1857276"/>
            <a:ext cx="5175250" cy="1733550"/>
          </a:xfrm>
          <a:prstGeom prst="roundRect">
            <a:avLst>
              <a:gd name="adj" fmla="val 5678"/>
            </a:avLst>
          </a:prstGeom>
          <a:solidFill>
            <a:srgbClr val="FDFCFA"/>
          </a:solidFill>
          <a:ln w="6350">
            <a:solidFill>
              <a:srgbClr val="DAD6CC"/>
            </a:solidFill>
            <a:prstDash val="solid"/>
          </a:ln>
        </p:spPr>
        <p:txBody>
          <a:bodyPr/>
          <a:lstStyle/>
          <a:p>
            <a:endParaRPr/>
          </a:p>
        </p:txBody>
      </p:sp>
      <p:sp>
        <p:nvSpPr>
          <p:cNvPr id="8" name="Text 6"/>
          <p:cNvSpPr/>
          <p:nvPr/>
        </p:nvSpPr>
        <p:spPr>
          <a:xfrm>
            <a:off x="6407150" y="2063651"/>
            <a:ext cx="4905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Perspectives</a:t>
            </a:r>
            <a:endParaRPr lang="en-US" sz="1500" dirty="0"/>
          </a:p>
        </p:txBody>
      </p:sp>
      <p:sp>
        <p:nvSpPr>
          <p:cNvPr id="9" name="Text 7"/>
          <p:cNvSpPr/>
          <p:nvPr/>
        </p:nvSpPr>
        <p:spPr>
          <a:xfrm>
            <a:off x="6407150" y="2393851"/>
            <a:ext cx="4905375" cy="1016000"/>
          </a:xfrm>
          <a:prstGeom prst="rect">
            <a:avLst/>
          </a:prstGeom>
          <a:noFill/>
          <a:ln/>
        </p:spPr>
        <p:txBody>
          <a:bodyPr wrap="square" lIns="0" tIns="0" rIns="0" bIns="0" rtlCol="0" anchor="t">
            <a:normAutofit fontScale="92500"/>
          </a:bodyPr>
          <a:lstStyle/>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Photos mensuelles pour suivre les tendances</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réelles de départ, puis modèle de prédiction</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Données manquantes : congés datés, sorties, formations datées</a:t>
            </a:r>
            <a:endParaRPr lang="en-US" sz="1300" dirty="0"/>
          </a:p>
          <a:p>
            <a:pPr marL="198120" indent="-168656" algn="l">
              <a:lnSpc>
                <a:spcPts val="1950"/>
              </a:lnSpc>
              <a:buSzPct val="100000"/>
              <a:buChar char="•"/>
            </a:pPr>
            <a:r>
              <a:rPr lang="en-US" sz="1300" dirty="0">
                <a:solidFill>
                  <a:srgbClr val="3E4A5C"/>
                </a:solidFill>
                <a:latin typeface="IBM Plex Sans" pitchFamily="34" charset="0"/>
                <a:ea typeface="IBM Plex Sans" pitchFamily="34" charset="-122"/>
                <a:cs typeface="IBM Plex Sans" pitchFamily="34" charset="-120"/>
              </a:rPr>
              <a:t>Alertes automatiques sur les KPI</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Pilotage RH par la donnée · 24 · </a:t>
            </a:r>
            <a:r>
              <a:rPr lang="en-US" sz="1200" dirty="0">
                <a:solidFill>
                  <a:srgbClr val="2F5DA8"/>
                </a:solidFill>
                <a:latin typeface="IBM Plex Sans" pitchFamily="34" charset="0"/>
                <a:ea typeface="IBM Plex Sans" pitchFamily="34" charset="-122"/>
                <a:cs typeface="IBM Plex Sans" pitchFamily="34" charset="-120"/>
              </a:rPr>
              <a:t>Code : aucun (conclusion)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5146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dirty="0">
                <a:solidFill>
                  <a:srgbClr val="F7F6F2"/>
                </a:solidFill>
                <a:latin typeface="Space Grotesk" pitchFamily="34" charset="0"/>
                <a:ea typeface="Space Grotesk" pitchFamily="34" charset="-122"/>
                <a:cs typeface="Space Grotesk" pitchFamily="34" charset="-120"/>
              </a:rPr>
              <a:t>Merci</a:t>
            </a:r>
            <a:endParaRPr lang="en-US" sz="6000" dirty="0"/>
          </a:p>
        </p:txBody>
      </p:sp>
      <p:sp>
        <p:nvSpPr>
          <p:cNvPr id="3" name="Text 1"/>
          <p:cNvSpPr/>
          <p:nvPr/>
        </p:nvSpPr>
        <p:spPr>
          <a:xfrm>
            <a:off x="812800" y="35179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0A060"/>
                </a:solidFill>
                <a:latin typeface="IBM Plex Sans" pitchFamily="34" charset="0"/>
                <a:ea typeface="IBM Plex Sans" pitchFamily="34" charset="-122"/>
                <a:cs typeface="IBM Plex Sans" pitchFamily="34" charset="-120"/>
              </a:rPr>
              <a:t>Questions et échanges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5577</Words>
  <Application>Microsoft Office PowerPoint</Application>
  <PresentationFormat>Widescreen</PresentationFormat>
  <Paragraphs>633</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IBM Plex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EDA &amp; BI RH</dc:title>
  <dc:subject>PptxGenJS Presentation</dc:subject>
  <dc:creator>PptxGenJS</dc:creator>
  <cp:lastModifiedBy/>
  <cp:revision>3</cp:revision>
  <dcterms:created xsi:type="dcterms:W3CDTF">2026-09-26T15:37:33Z</dcterms:created>
  <dcterms:modified xsi:type="dcterms:W3CDTF">2026-10-08T09:29:21Z</dcterms:modified>
</cp:coreProperties>
</file>